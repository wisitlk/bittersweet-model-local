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[0:00–0:20] สวัสดีครับ/ค่ะ วันนี้เราจะนำโครงการ BitterSweet จากวิชา BIS608 มาเป็นกรณีศึกษา เพื่อวิเคราะห์หัวข้อ Agentic AI chatbot บน LINE OA ที่ใช้ LLMs ทำงานขายและ CRM อัตโนมัติ โดยใช้หลัก digital marketing จาก BIS609 ทั้งสามบท ใช้เวลาประมาณ 15 นาทีครับ/ค่ะ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[0:20–1:10 · 50 วินาที] BitterSweet เป็นแบรนด์น้ำหอม niche ของไทยที่ใช้ชาเป็นวัตถุดิบเดียว มีสามกลิ่นคือ Fresh Leaf, Cilantro และ Last Sip ทุกกลิ่นใช้โครงเดียวกันคือเริ่มจากกลิ่นเขียว ผ่านความฝาดของชา แล้วจบอุ่น ๆ ราคาขวด 10 ml อยู่ที่ 450 บาท และมี discovery set 350 บาทที่หักคืนได้เมื่อซื้อขวดเต็ม กลุ่มเป้าหมายคือคนเมืองอายุ 24 ถึง 30 ปีที่ซื้อน้ำหอมให้ตัวเอง ขายผ่าน Instagram และบูธ craft fair ทีมมีเจ็ดคนที่ทำงาน part-time ใช้ทุนผู้ก่อตั้งหนึ่งล้านบาท ค่านิยมที่สำคัญที่สุดสำหรับการวิเคราะห์วันนี้คือ Honesty ซึ่งจะกลับมาเป็นแกนของการออกแบบ AI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[1:10–2:05 · 55 วินาที] เราไม่ได้เริ่มจากคำถามว่า AI ทำอะไรได้ แต่เริ่มจากปัญหาที่รายงาน BIS608 เขียนไว้เอง ในหัวข้อ 7S alignment ทีมยอมรับว่ากลยุทธ์เป็น digital-first แต่ยังไม่มี customer list ทำให้ช่องทางขายไม่รู้เลยว่าใครเคยดมกลิ่นไหน และน้ำหอมก็มีข้อจำกัดเฉพาะตัว รายงานอ้างว่าผู้ซื้อ 46.7% ต้องดมหลายครั้งก่อนตัดสินใจ และ 68% ของผู้ซื้อออนไลน์ต้องการ sample ก่อน รูปถ่ายส่งกลิ่นไม่ได้ ข้อสรุปแรกของเราจึงเป็นว่า agent ไม่ได้มาแทนการดมกลิ่น แต่มาเป็นความทรงจำของประสบการณ์การดม เพื่อเปลี่ยนคนที่ดมแล้วให้กลายเป็นลูกค้า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[2:05–3:15 · 70 วินาที] เครื่องมือสี่ตัวใน BIS608 ชี้ไปที่ช่องว่างเดียวกัน หนึ่ง 7S บอกว่าระบบที่ยังขาดคือ customer list สอง VRIO ประเมินกลุ่มลูกค้าที่เคยดมกลิ่นแล้วว่ามีค่า แต่ด้าน Organization ยังได้ Not yet จึงยังไม่นับเป็นทรัพยากร agent กับ CRM คือตัวที่จะทำให้ผ่านเกณฑ์ O สาม value chain บอกว่าบริการของแบรนด์คือการให้คำแนะนำก่อนขาย และกล้าบอกตรง ๆ เมื่อกลิ่นไม่เหมาะกับลูกค้า สี่ activity system map มีสามกิจกรรมที่ agent ทำแทนได้ในช่องทางเดียว ข้อสังเกตสำคัญคือ VRIO ของทีมเองบอกว่า CRM และ quiz เป็นแค่ parity ดังนั้นสิ่งที่ทำให้แตกต่างคือข้อมูลและ brand voice ที่ใส่ลงไป ไม่ใช่ตัว software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[3:15–4:10 · 55 วินาที] คำถามต่อมาคือ agent เข้ากับกลยุทธ์ของ BitterSweet หรือไม่ นโยบายเทคโนโลยีใน BIS608 เขียนไว้ชัดว่าให้สร้างเองเฉพาะสิ่งที่เป็นจุดแตกต่างจริง ซื้อ software ที่เป็น commodity และยืม platform ที่มีผู้ใช้อยู่แล้ว และสำหรับ AI ระบุว่าไม่สร้าง proprietary AI เอง เมื่อนำมาแยกองค์ประกอบของ agent จะได้ว่า ยืม LINE OA ซื้อ LLM และ CRM ส่วนที่สร้างเองมีแค่ความรู้เรื่องกลิ่น brand voice และข้อมูลลูกค้า เมื่อประเมินตาม strategic fit สามมิติของ L06 internal fit ผ่านแบบมีเงื่อนไขเพราะทีมทำงาน part-time ส่วน external fit และ future fit ผ่าน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[4:10–5:05 · 55 วินาที] ในขั้น Situation เราทำ SWOT เฉพาะเรื่องการใช้ agent จุดแข็งที่น่าสนใจคือการเป็นแบรนด์เล็ก มีแค่สามกลิ่นในโครงเดียว knowledge base จึงเล็กและควบคุมคุณภาพคำตอบได้ง่าย ต่างจาก MITH ที่มี 127 กลิ่น จุดอ่อนคือทีมทำงาน part-time และปริมาณแชตยังต่ำ ความเสี่ยงที่ต้องระวังที่สุดคือด้านกฎหมาย น้ำหอมจัดเป็นเครื่องสำอาง ต้องจดแจ้ง อย. ก่อนขาย ดังนั้น agent ต้องไม่รับออร์เดอร์จนกว่าจะได้เลขจดแจ้ง และต้องไม่ทำให้แบรนด์ที่ขายความเป็นงานฝีมือดูเหมือนคุยกับบอท</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[5:05–5:55 · 50 วินาที] ขั้น Objectives เราไม่สร้าง KPI ชุดใหม่แยกต่างหาก แต่ผูกกับ Balanced Scorecard ที่ทีมตั้งไว้แล้ว เพื่อรักษา vertical alignment ตาม L06 ตัวหลักคือ C2 การเปลี่ยนคนที่ซื้อ discovery set ให้ซื้อขวดเต็ม เป้าคืออย่างน้อย 10% และถ้าต่ำกว่า 8% จะเข้าสู่ scenario Affordable Ritual ตัวที่สองคือ F2 ซื้อซ้ำภายใน 90 วันอย่างน้อย 20% ซึ่งเป็นสัญญาณให้ขยายธุรกิจ เราเพิ่ม KPI ของ agent สองตัว คือลูกค้า 80% ต้องมี scent profile พร้อม consent และต้องตอบแชตช่วงค่ำได้ภายในหนึ่งนาที ทั้งหมดต้องอยู่ภายใต้เงื่อนไขว่าต้นทุนของ agent ต้องน้อยกว่า contribution ที่ได้เพิ่ม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[5:55–6:45 · 50 วินาที] ในขั้น Strategy BitterSweet กำหนด where we play ไว้แล้ว คือคนอายุ 24 ถึง 30 ปีที่ซื้อให้ตัวเอง และไม่ขายกลุ่มที่ซื้อเป็นของขวัญหรือนักสะสม agent จึงไม่ต้องหา segment ใหม่ แต่แบ่งกลุ่มตามพฤติกรรมภายในฐานเพื่อน LINE OA ซึ่ง L07 บอกว่าเป็นวิธีที่ซับซ้อนที่สุด แต่ agent ทำได้อัตโนมัติ เช่น คนที่ดมที่บูธแต่ยังไม่ซื้อ คนที่ซื้อ set แล้ว คนที่ชอบ Cilantro มาก และคนที่ยังลังเลกับกลิ่นเขียว แต่ละกลุ่มได้ข้อความต่างกัน กรณีที่น่าสนใจคือคนที่ถามหาของขวัญ agent ต้องตอบตรงตาม positioning ของแบรนด์ persona ของเราคือภูมิ อายุ 27 ปี ดม Cilantro ที่บูธแล้วชอบแต่ยังลังเล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[6:45–7:40 · 55 วินาที] เราวาง positioning ของ agent ว่าเป็น Scent Concierge ที่พูดความจริง คือผู้ช่วยที่จำได้ว่าคุณดมกลิ่นไหน ช่วยให้คุณเลือกกลิ่นของตัวเอง และกล้าบอกถ้ากลิ่นนั้นไม่ใช่คุณ ซึ่งตรงกับ brand line You wear it for you first และค่านิยม Honesty ตาม Value Proposition Canvas ของ L07 ความกังวลของลูกค้าคือดมแล้วลืม ไม่แน่ใจว่าจะใส่ทุกวันได้ และกลัวถูกตื๊อขาย agent แก้ด้วยการจำกลิ่นให้ แนะนำให้ลองบนผิวสามเช้า และตอบตรงเมื่อกลิ่นไม่เหมาะ ข้อควรระวังจาก L07 สไลด์ 32 คือ positioning กับ perception ต้องตรงกัน แบรนด์ที่ขายงานฝีมือไม่ควรให้ลูกค้ารู้สึกว่ากำลังคุยกับบอท</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[7:40–8:55 · 75 วินาที · สไลด์หลัก] นี่คือ customer journey ที่เราออกแบบ Day 0 ลูกค้าดมกลิ่นที่บูธ แล้วสแกน QR เพิ่มเพื่อน LINE OA agent แท็กไว้ว่าชอบกลิ่นไหน Day 1 ถึง 2 agent ทักไปถามว่ากลิ่นไหนยังติดอยู่ในความรู้สึก แล้วสร้าง scent profile Day 2 ถึง 5 ถ้าลูกค้ายังลังเล agent แนะนำ discovery set และให้จ่ายผ่าน PromptPay ในแชตได้ทันที Day 7 ถึง 10 agent ถามผลการลอง ตอบตรง ๆ ถ้ากลิ่นไม่เหมาะ และส่ง voucher หัก 350 บาท ซึ่งขับ KPI C2 จากนั้นลูกค้าซื้อขวด แล้วในวันที่ 60 ถึง 90 agent เตือนก่อนน้ำหอมหมดและส่ง referral code ซึ่งขับ F2 และ C3 ทุกขั้นบันทึกลง CRM ซึ่งคือสิ่งที่ BIS608 บอกว่ายังขาด ตาม 4Cs ของ L07 promotion กลายเป็นการสื่อสารสองทาง และลูกค้าซื้อซ้ำได้โดยไม่ต้องรองานบูธครั้งหน้า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[8:55–9:45 · 50 วินาที] L08 สอนเครื่องมือจิตวิทยาการตลาดหลายตัว แต่ BitterSweet มีกติกาจริยธรรมที่เข้มกว่ากฎหมาย เราจึงแยกให้ชัดว่า agent ใช้อะไรได้และอะไรห้ามใช้ Rule of 3 ใช้ได้เพราะแบรนด์มีสามกลิ่นอยู่แล้ว Anchoring ใช้ได้เฉพาะราคาจริงคือ set 350 บาทที่หักคืนจากขวด 450 บาท Decoy ไม่ใช้เพราะขัดกับค่านิยม FOMO ใช้ได้เฉพาะเมื่อเป็นข้อเท็จจริง เช่นจำนวนขวดใน batch ส่วน fear appeal และการอ้างผลด้าน wellness ห้ามเด็ดขาด เพราะแบรนด์ที่บอกว่า you wear it for you first จะขายความไม่มั่นใจไม่ได้ ซึ่งตรงกับข้อสรุปของ L08 ว่าการเน้นคุณค่าสร้างลูกค้าที่ดีกว่าในระยะยาว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[9:45–10:40 · 55 วินาที] นี่คือตัวอย่างบทสนทนาที่เราออกแบบ agent ทักลูกค้าหลังบูธโดยจำได้ว่าเขาชอบ Cilantro ลูกค้ากังวลว่ากลิ่นจะเขียวเกินไป agent ไม่เชียร์ขาย แต่บอกตรง ๆ ว่ากลิ่นนี้บางคนรักบางคนไม่ชอบ แล้วเสนอให้ลอง set บนผิวจริงก่อน ผ่านไปเจ็ดวัน ลูกค้าบอกว่า Cilantro แรงไป agent ไม่ฝืนขาย แต่แนะนำ Last Sip ซึ่งอุ่นกว่า และบอกว่า voucher ใช้ได้กับทุกกลิ่น นี่คือ Honesty ที่กลายเป็นยอดขาย หลักการออกแบบมีสี่ข้อ คือจำสิ่งที่ลูกค้าดม ถามความรู้สึก บอกตรงเมื่อกลิ่นไม่เหมาะ และส่งคำถามเรื่องผิวแพ้ให้ perfumer ตอบเอง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[10:40–11:35 · 55 วินาที] BIS608 มี scenario matrix 2 คูณ 2 และผูก backup plan กับ trigger ใน BSC ไว้แล้ว ข้อดีของ agent คือปรับตาม scenario ได้ด้วยการเปลี่ยน prompt และ flow โดยไม่ต้องเปลี่ยนระบบ ถ้าเป็น Green Boom ซึ่งความต้องการล้น agent จะจัดคิว pre-order แบบ numbered batch และไม่สัญญาเกินกำลังผสมมือ ถ้าเป็น Affordable Ritual ซึ่ง conversion ต่ำ agent จะเน้นขาย discovery set และติดตาม voucher ถ้าเป็น Slow Education agent จะชวนลูกค้าเข้า workshop และนำด้วย Last Sip ก่อน Cilantro ถ้าเป็น Market Drift ก็ลด agent เหลือระดับพื้นฐาน เพื่อคุมต้นทุนและดูแลลูกค้าเดิม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[11:35–12:25 · 50 วินาที] Roadmap ของเราวางให้ตรงกับไทม์ไลน์จริงของ BitterSweet ช่วงแรกตั้งแต่ตอนนี้ถึงไตรมาสแรกปี 2027 ทำ LINE OA ระบบ consent และ customer list ตามที่ BIS608 เสนอไว้เอง และยังไม่ขายจนกว่าจะได้เลขจดแจ้ง อย. พอเปิดขายในเดือนพฤษภาคม 2027 ก็เริ่ม pilot ด้วย QR ที่บูธ ข้อความ follow-up และ LLM ตอบ FAQ โดยมีคนตรวจทุกวัน หลังจบบูธฤดูแรกจึงเพิ่มความสามารถให้ agent ปิดการขายได้ และในปี 2028 ทำ CRM loop เต็มรูปแบบ แต่ละช่วงมี gate ที่ต้องผ่านก่อนไปต่อ ด้าน cross-functional ทุกฝ่ายในโครงสร้างของ BitterSweet มีหน้าที่ชัดเจน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[12:25–13:30 · 65 วินาที] คำถามสำคัญคือคุ้มหรือไม่ เราใช้ตัวเลขจริงจาก BIS608 คือ contribution ขวดละ 236 บาท ถ้าสมมติว่า agent มีต้นทุน 1,500 ถึง 4,000 บาทต่อเดือน ต้องขายขวดเพิ่ม 7 ถึง 17 ขวดต่อเดือน หรือประมาณ 2 ถึง 6 เปอร์เซ็นต์ของแผนปีแรก แหล่งที่จะได้เพิ่มคือ conversion จาก set เป็นขวดที่เพิ่มจาก 10 เป็น 15% และการซื้อซ้ำที่เพิ่มขึ้น 5 จุด รวมประมาณ 5,200 บาทต่อเดือน ซึ่งคุ้มทุนแต่ส่วนต่างไม่มาก ยังมีมูลค่าแฝงอีกประมาณ 30 ชั่วโมงต่อเดือนที่ทีม part-time ไม่ต้องตอบแชตเอง ด้าน CLV ต่อ CAC ได้ประมาณ 3.7 เท่า ผ่านเกณฑ์สามเท่าของ L08 แบบเฉียด ข้อสรุปคือการซื้อซ้ำเป็นคันโยกที่สำคัญที่สุด ตัวเลขต้นทุนและ uplift เป็นสมมติฐาน ต้องตรวจสอบกับข้อมูลจริงหลังบูธฤดูแรก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[13:30–14:20 · 50 วินาที แล้วเปิดถามตอบ] สรุปคือกรณี BitterSweet แสดงให้เห็นว่า Agentic AI บน LINE OA สำหรับธุรกิจไทยขนาดเล็ก ควรออกแบบจากช่องว่างเชิงกลยุทธ์ที่องค์กรมีอยู่จริง ไม่ใช่จากความสามารถของเทคโนโลยี ตาม L06 มันช่วยปิดช่องว่างใน 7S ตาม L07 ทำให้ segmentation และ 4Cs เกิดขึ้นได้จริง และตาม L08 มันทำงานครอบคลุม AIDA ตั้งแต่ Interest จนถึง Loyalty ข้อเสนอแนะมีหกข้อ หนึ่ง ทำ customer list ตั้งแต่วันนี้ สอง ติด QR ที่บูธทุกงาน สาม เขียน knowledge base ภาษาไทยก่อนเลือกเครื่องมือ สี่ เริ่มแบบง่ายแล้วขยายตาม gate ห้า ใช้ความซื่อตรงเป็นอาวุธ และหก ห้ามขายก่อนจดแจ้ง อย. ขอบคุณครับ/ค่ะ ยินดีรับคำถาม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4E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03920"/>
            <a:ext cx="10566400" cy="426707"/>
          </a:xfrm>
          <a:prstGeom prst="rect">
            <a:avLst/>
          </a:prstGeom>
          <a:noFill/>
          <a:ln/>
        </p:spPr>
        <p:txBody>
          <a:bodyPr wrap="square" lIns="0" tIns="0" rIns="0" bIns="0" rtlCol="0" anchor="t"/>
          <a:lstStyle>
            <a:lvl1pPr algn="l" indent="0" marL="0">
              <a:lnSpc>
                <a:spcPct val="115000"/>
              </a:lnSpc>
              <a:buNone/>
              <a:defRPr lang="en-US" sz="2800" dirty="0">
                <a:solidFill>
                  <a:srgbClr val="1F3D2B"/>
                </a:solidFill>
                <a:latin typeface="Noto Serif Thai" pitchFamily="34" charset="0"/>
                <a:ea typeface="Noto Serif Thai" pitchFamily="34" charset="-122"/>
                <a:cs typeface="Noto Serif Thai"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800" y="1935427"/>
            <a:ext cx="10566400" cy="4109773"/>
          </a:xfrm>
          <a:prstGeom prst="rect">
            <a:avLst/>
          </a:prstGeom>
          <a:noFill/>
          <a:ln/>
        </p:spPr>
        <p:txBody>
          <a:bodyPr wrap="square" lIns="0" tIns="0" rIns="0" bIns="0" rtlCol="0" anchor="t"/>
          <a:lstStyle>
            <a:lvl1pPr algn="l" indent="0" marL="0">
              <a:lnSpc>
                <a:spcPct val="140000"/>
              </a:lnSpc>
              <a:buNone/>
              <a:defRPr lang="en-US" sz="1600" dirty="0">
                <a:solidFill>
                  <a:srgbClr val="1F3D2B"/>
                </a:solidFill>
                <a:latin typeface="IBM Plex Sans Thai" pitchFamily="34" charset="0"/>
                <a:ea typeface="IBM Plex Sans Thai" pitchFamily="34" charset="-122"/>
                <a:cs typeface="IBM Plex Sans Thai"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4E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03920"/>
            <a:ext cx="10566400" cy="426707"/>
          </a:xfrm>
          <a:prstGeom prst="rect">
            <a:avLst/>
          </a:prstGeom>
          <a:noFill/>
          <a:ln/>
        </p:spPr>
        <p:txBody>
          <a:bodyPr wrap="square" lIns="0" tIns="0" rIns="0" bIns="0" rtlCol="0" anchor="t"/>
          <a:lstStyle>
            <a:lvl1pPr algn="l" indent="0" marL="0">
              <a:lnSpc>
                <a:spcPct val="115000"/>
              </a:lnSpc>
              <a:buNone/>
              <a:defRPr lang="en-US" sz="2800" dirty="0">
                <a:solidFill>
                  <a:srgbClr val="1F3D2B"/>
                </a:solidFill>
                <a:latin typeface="Noto Serif Thai" pitchFamily="34" charset="0"/>
                <a:ea typeface="Noto Serif Thai" pitchFamily="34" charset="-122"/>
                <a:cs typeface="Noto Serif Thai"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800" y="1935427"/>
            <a:ext cx="10566400" cy="4109773"/>
          </a:xfrm>
          <a:prstGeom prst="rect">
            <a:avLst/>
          </a:prstGeom>
          <a:noFill/>
          <a:ln/>
        </p:spPr>
        <p:txBody>
          <a:bodyPr wrap="square" lIns="0" tIns="0" rIns="0" bIns="0" rtlCol="0" anchor="t"/>
          <a:lstStyle>
            <a:lvl1pPr algn="l" indent="0" marL="0">
              <a:lnSpc>
                <a:spcPct val="140000"/>
              </a:lnSpc>
              <a:buNone/>
              <a:defRPr lang="en-US" sz="1600" dirty="0">
                <a:solidFill>
                  <a:srgbClr val="1F3D2B"/>
                </a:solidFill>
                <a:latin typeface="IBM Plex Sans Thai" pitchFamily="34" charset="0"/>
                <a:ea typeface="IBM Plex Sans Thai" pitchFamily="34" charset="-122"/>
                <a:cs typeface="IBM Plex Sans Thai"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D2B"/>
        </a:solidFill>
      </p:bgPr>
    </p:bg>
    <p:spTree>
      <p:nvGrpSpPr>
        <p:cNvPr id="1" name=""/>
        <p:cNvGrpSpPr/>
        <p:nvPr/>
      </p:nvGrpSpPr>
      <p:grpSpPr>
        <a:xfrm>
          <a:off x="0" y="0"/>
          <a:ext cx="0" cy="0"/>
          <a:chOff x="0" y="0"/>
          <a:chExt cx="0" cy="0"/>
        </a:xfrm>
      </p:grpSpPr>
      <p:sp>
        <p:nvSpPr>
          <p:cNvPr id="2" name="Shape 0"/>
          <p:cNvSpPr/>
          <p:nvPr/>
        </p:nvSpPr>
        <p:spPr>
          <a:xfrm>
            <a:off x="7493000" y="508000"/>
            <a:ext cx="4572000" cy="4572000"/>
          </a:xfrm>
          <a:prstGeom prst="rect">
            <a:avLst/>
          </a:prstGeom>
          <a:gradFill rotWithShape="1">
            <a:gsLst>
              <a:gs pos="0">
                <a:srgbClr val="E8A07A">
                  <a:alpha val="55000"/>
                </a:srgbClr>
              </a:gs>
              <a:gs pos="70000">
                <a:srgbClr val="E8A07A">
                  <a:alpha val="0"/>
                </a:srgbClr>
              </a:gs>
            </a:gsLst>
            <a:path path="circle">
              <a:fillToRect l="50000" t="50000" r="50000" b="50000"/>
            </a:path>
          </a:gradFill>
          <a:ln/>
        </p:spPr>
      </p:sp>
      <p:sp>
        <p:nvSpPr>
          <p:cNvPr id="3" name="Shape 1"/>
          <p:cNvSpPr/>
          <p:nvPr/>
        </p:nvSpPr>
        <p:spPr>
          <a:xfrm>
            <a:off x="8763000" y="2286000"/>
            <a:ext cx="3429000" cy="3429000"/>
          </a:xfrm>
          <a:prstGeom prst="rect">
            <a:avLst/>
          </a:prstGeom>
          <a:gradFill rotWithShape="1">
            <a:gsLst>
              <a:gs pos="0">
                <a:srgbClr val="8FB39A">
                  <a:alpha val="55000"/>
                </a:srgbClr>
              </a:gs>
              <a:gs pos="70000">
                <a:srgbClr val="8FB39A">
                  <a:alpha val="0"/>
                </a:srgbClr>
              </a:gs>
            </a:gsLst>
            <a:path path="circle">
              <a:fillToRect l="50000" t="50000" r="50000" b="50000"/>
            </a:path>
          </a:gradFill>
          <a:ln/>
        </p:spPr>
      </p:sp>
      <p:sp>
        <p:nvSpPr>
          <p:cNvPr id="4" name="Text 2"/>
          <p:cNvSpPr/>
          <p:nvPr/>
        </p:nvSpPr>
        <p:spPr>
          <a:xfrm>
            <a:off x="812800" y="1675209"/>
            <a:ext cx="10883392" cy="274307"/>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E8A07A"/>
                </a:solidFill>
                <a:latin typeface="IBM Plex Sans Thai" pitchFamily="34" charset="0"/>
                <a:ea typeface="IBM Plex Sans Thai" pitchFamily="34" charset="-122"/>
                <a:cs typeface="IBM Plex Sans Thai" pitchFamily="34" charset="-120"/>
              </a:rPr>
              <a:t>BIS609 · CASE STUDY FROM BIS608</a:t>
            </a:r>
            <a:endParaRPr lang="en-US" sz="1400" dirty="0"/>
          </a:p>
        </p:txBody>
      </p:sp>
      <p:sp>
        <p:nvSpPr>
          <p:cNvPr id="5" name="Text 3"/>
          <p:cNvSpPr/>
          <p:nvPr>
            <p:ph type="title"/>
          </p:nvPr>
        </p:nvSpPr>
        <p:spPr>
          <a:xfrm>
            <a:off x="812800" y="2152716"/>
            <a:ext cx="10883392" cy="1544241"/>
          </a:xfrm>
          <a:prstGeom prst="rect">
            <a:avLst/>
          </a:prstGeom>
          <a:noFill/>
          <a:ln/>
        </p:spPr>
        <p:txBody>
          <a:bodyPr wrap="square" lIns="0" tIns="0" rIns="0" bIns="0" rtlCol="0" anchor="t">
            <a:normAutofit/>
          </a:bodyPr>
          <a:lstStyle/>
          <a:p>
            <a:pPr algn="l" indent="0" marL="0">
              <a:lnSpc>
                <a:spcPts val="5980"/>
              </a:lnSpc>
              <a:buNone/>
            </a:pPr>
            <a:r>
              <a:rPr lang="en-US" sz="5200" b="1" i="0" dirty="0">
                <a:solidFill>
                  <a:srgbClr val="F7F4EC"/>
                </a:solidFill>
                <a:latin typeface="Noto Serif Thai" pitchFamily="18" charset="0"/>
                <a:ea typeface="Noto Serif Thai" pitchFamily="18" charset="-122"/>
                <a:cs typeface="Noto Serif Thai" pitchFamily="18" charset="-120"/>
              </a:rPr>
              <a:t>BitterSweet ×</a:t>
            </a:r>
            <a:endParaRPr lang="en-US" sz="5200" dirty="0"/>
          </a:p>
          <a:p>
            <a:pPr algn="l" indent="0" marL="0">
              <a:lnSpc>
                <a:spcPts val="5980"/>
              </a:lnSpc>
              <a:buNone/>
            </a:pPr>
            <a:r>
              <a:rPr lang="en-US" sz="5200" b="1" i="0" dirty="0">
                <a:solidFill>
                  <a:srgbClr val="F7F4EC"/>
                </a:solidFill>
                <a:latin typeface="Noto Serif Thai" pitchFamily="18" charset="0"/>
                <a:ea typeface="Noto Serif Thai" pitchFamily="18" charset="-122"/>
                <a:cs typeface="Noto Serif Thai" pitchFamily="18" charset="-120"/>
              </a:rPr>
              <a:t>Agentic AI on LINE OA</a:t>
            </a:r>
            <a:endParaRPr lang="en-US" sz="5200" dirty="0"/>
          </a:p>
        </p:txBody>
      </p:sp>
      <p:sp>
        <p:nvSpPr>
          <p:cNvPr id="6" name="Text 4"/>
          <p:cNvSpPr/>
          <p:nvPr/>
        </p:nvSpPr>
        <p:spPr>
          <a:xfrm>
            <a:off x="812800" y="3900157"/>
            <a:ext cx="10883392" cy="416520"/>
          </a:xfrm>
          <a:prstGeom prst="rect">
            <a:avLst/>
          </a:prstGeom>
          <a:noFill/>
          <a:ln/>
        </p:spPr>
        <p:txBody>
          <a:bodyPr wrap="square" lIns="0" tIns="0" rIns="0" bIns="0" rtlCol="0" anchor="t">
            <a:normAutofit/>
          </a:bodyPr>
          <a:lstStyle/>
          <a:p>
            <a:pPr algn="l" indent="0" marL="0">
              <a:lnSpc>
                <a:spcPts val="3080"/>
              </a:lnSpc>
              <a:buNone/>
            </a:pPr>
            <a:r>
              <a:rPr lang="en-US" sz="2200" i="1" dirty="0">
                <a:solidFill>
                  <a:srgbClr val="E8A07A"/>
                </a:solidFill>
                <a:latin typeface="Noto Serif Thai" pitchFamily="18" charset="0"/>
                <a:ea typeface="Noto Serif Thai" pitchFamily="18" charset="-122"/>
                <a:cs typeface="Noto Serif Thai" pitchFamily="18" charset="-120"/>
              </a:rPr>
              <a:t>"You wear it for you first."</a:t>
            </a:r>
            <a:endParaRPr lang="en-US" sz="2200" dirty="0"/>
          </a:p>
        </p:txBody>
      </p:sp>
      <p:sp>
        <p:nvSpPr>
          <p:cNvPr id="7" name="Text 5"/>
          <p:cNvSpPr/>
          <p:nvPr/>
        </p:nvSpPr>
        <p:spPr>
          <a:xfrm>
            <a:off x="812800" y="4519877"/>
            <a:ext cx="9156700" cy="688314"/>
          </a:xfrm>
          <a:prstGeom prst="rect">
            <a:avLst/>
          </a:prstGeom>
          <a:noFill/>
          <a:ln/>
        </p:spPr>
        <p:txBody>
          <a:bodyPr wrap="square" lIns="0" tIns="0" rIns="0" bIns="0" rtlCol="0" anchor="t">
            <a:normAutofit/>
          </a:bodyPr>
          <a:lstStyle/>
          <a:p>
            <a:pPr algn="l" indent="0" marL="0">
              <a:lnSpc>
                <a:spcPts val="2610"/>
              </a:lnSpc>
              <a:buNone/>
            </a:pPr>
            <a:r>
              <a:rPr lang="en-US" sz="1800" dirty="0">
                <a:solidFill>
                  <a:srgbClr val="D9E3DA"/>
                </a:solidFill>
                <a:latin typeface="IBM Plex Sans Thai" pitchFamily="34" charset="0"/>
                <a:ea typeface="IBM Plex Sans Thai" pitchFamily="34" charset="-122"/>
                <a:cs typeface="IBM Plex Sans Thai" pitchFamily="34" charset="-120"/>
              </a:rPr>
              <a:t>การใช้ Agentic AI Chatbot และ LLMs เพื่อ Automate Sales และ CRM ให้แบรนด์น้ำหอม niche ไทย</a:t>
            </a:r>
            <a:endParaRPr lang="en-US" sz="1800" dirty="0"/>
          </a:p>
        </p:txBody>
      </p:sp>
      <p:sp>
        <p:nvSpPr>
          <p:cNvPr id="8" name="Text 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FC2B3"/>
                </a:solidFill>
                <a:latin typeface="IBM Plex Sans Thai" pitchFamily="34" charset="0"/>
                <a:ea typeface="IBM Plex Sans Thai" pitchFamily="34" charset="-122"/>
                <a:cs typeface="IBM Plex Sans Thai" pitchFamily="34" charset="-120"/>
              </a:rPr>
              <a:t>วิเคราะห์ตาม L06 Functional Strategies · L07 Marketing · L08 Digital Marketing · ตุลาคม 2569</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4532E"/>
                </a:solidFill>
                <a:latin typeface="IBM Plex Sans Thai" pitchFamily="34" charset="0"/>
                <a:ea typeface="IBM Plex Sans Thai" pitchFamily="34" charset="-122"/>
                <a:cs typeface="IBM Plex Sans Thai" pitchFamily="34" charset="-120"/>
              </a:rPr>
              <a:t>กรณีศึกษา · BITTERSWEET (BIS608)</a:t>
            </a:r>
            <a:endParaRPr lang="en-US" sz="1200" dirty="0"/>
          </a:p>
        </p:txBody>
      </p:sp>
      <p:sp>
        <p:nvSpPr>
          <p:cNvPr id="3" name="Text 1"/>
          <p:cNvSpPr/>
          <p:nvPr>
            <p:ph type="title"/>
          </p:nvPr>
        </p:nvSpPr>
        <p:spPr>
          <a:xfrm>
            <a:off x="812800" y="1229320"/>
            <a:ext cx="10883392" cy="452107"/>
          </a:xfrm>
          <a:prstGeom prst="rect">
            <a:avLst/>
          </a:prstGeom>
          <a:noFill/>
          <a:ln/>
        </p:spPr>
        <p:txBody>
          <a:bodyPr wrap="square" lIns="0" tIns="0" rIns="0" bIns="0" rtlCol="0" anchor="t">
            <a:normAutofit/>
          </a:bodyPr>
          <a:lstStyle/>
          <a:p>
            <a:pPr algn="l" indent="0" marL="0">
              <a:lnSpc>
                <a:spcPts val="3360"/>
              </a:lnSpc>
              <a:buNone/>
            </a:pPr>
            <a:r>
              <a:rPr lang="en-US" sz="2800" b="1" i="0" dirty="0">
                <a:solidFill>
                  <a:srgbClr val="1F3D2B"/>
                </a:solidFill>
                <a:latin typeface="Noto Serif Thai" pitchFamily="18" charset="0"/>
                <a:ea typeface="Noto Serif Thai" pitchFamily="18" charset="-122"/>
                <a:cs typeface="Noto Serif Thai" pitchFamily="18" charset="-120"/>
              </a:rPr>
              <a:t>Thai niche perfume house ที่สร้างจากวัตถุดิบเดียว: ชา</a:t>
            </a:r>
            <a:endParaRPr lang="en-US" sz="2800" dirty="0"/>
          </a:p>
        </p:txBody>
      </p:sp>
      <p:sp>
        <p:nvSpPr>
          <p:cNvPr id="4" name="Shape 2"/>
          <p:cNvSpPr/>
          <p:nvPr/>
        </p:nvSpPr>
        <p:spPr>
          <a:xfrm>
            <a:off x="819150" y="1865578"/>
            <a:ext cx="3424767" cy="1287595"/>
          </a:xfrm>
          <a:prstGeom prst="roundRect">
            <a:avLst>
              <a:gd name="adj" fmla="val 8384"/>
            </a:avLst>
          </a:prstGeom>
          <a:solidFill>
            <a:srgbClr val="FFFDF8"/>
          </a:solidFill>
          <a:ln w="12700">
            <a:solidFill>
              <a:srgbClr val="E4DED2"/>
            </a:solidFill>
            <a:prstDash val="solid"/>
          </a:ln>
        </p:spPr>
      </p:sp>
      <p:sp>
        <p:nvSpPr>
          <p:cNvPr id="5" name="Text 3"/>
          <p:cNvSpPr/>
          <p:nvPr/>
        </p:nvSpPr>
        <p:spPr>
          <a:xfrm>
            <a:off x="1016000" y="2037028"/>
            <a:ext cx="3121999"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F5D43"/>
                </a:solidFill>
                <a:latin typeface="IBM Plex Sans Thai" pitchFamily="34" charset="0"/>
                <a:ea typeface="IBM Plex Sans Thai" pitchFamily="34" charset="-122"/>
                <a:cs typeface="IBM Plex Sans Thai" pitchFamily="34" charset="-120"/>
              </a:rPr>
              <a:t>สินค้า</a:t>
            </a:r>
            <a:endParaRPr lang="en-US" sz="1300" dirty="0"/>
          </a:p>
        </p:txBody>
      </p:sp>
      <p:sp>
        <p:nvSpPr>
          <p:cNvPr id="6" name="Text 4"/>
          <p:cNvSpPr/>
          <p:nvPr/>
        </p:nvSpPr>
        <p:spPr>
          <a:xfrm>
            <a:off x="1016000" y="2318941"/>
            <a:ext cx="3121999" cy="467254"/>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3D4A42"/>
                </a:solidFill>
                <a:latin typeface="IBM Plex Sans Thai" pitchFamily="34" charset="0"/>
                <a:ea typeface="IBM Plex Sans Thai" pitchFamily="34" charset="-122"/>
                <a:cs typeface="IBM Plex Sans Thai" pitchFamily="34" charset="-120"/>
              </a:rPr>
              <a:t>3 กลิ่น: Fresh Leaf · Cilantro · Last Sip</a:t>
            </a:r>
            <a:endParaRPr lang="en-US" sz="1200" dirty="0"/>
          </a:p>
          <a:p>
            <a:pPr algn="l" indent="0" marL="0">
              <a:lnSpc>
                <a:spcPts val="1740"/>
              </a:lnSpc>
              <a:buNone/>
            </a:pPr>
            <a:r>
              <a:rPr lang="en-US" sz="1200" dirty="0">
                <a:solidFill>
                  <a:srgbClr val="3D4A42"/>
                </a:solidFill>
                <a:latin typeface="IBM Plex Sans Thai" pitchFamily="34" charset="0"/>
                <a:ea typeface="IBM Plex Sans Thai" pitchFamily="34" charset="-122"/>
                <a:cs typeface="IBM Plex Sans Thai" pitchFamily="34" charset="-120"/>
              </a:rPr>
              <a:t>โครงกลิ่น green → tea → warm ผสมด้วยมือ</a:t>
            </a:r>
            <a:endParaRPr lang="en-US" sz="1200" dirty="0"/>
          </a:p>
        </p:txBody>
      </p:sp>
      <p:sp>
        <p:nvSpPr>
          <p:cNvPr id="7" name="Shape 5"/>
          <p:cNvSpPr/>
          <p:nvPr/>
        </p:nvSpPr>
        <p:spPr>
          <a:xfrm>
            <a:off x="4383617" y="1865578"/>
            <a:ext cx="3424767" cy="1287595"/>
          </a:xfrm>
          <a:prstGeom prst="roundRect">
            <a:avLst>
              <a:gd name="adj" fmla="val 8384"/>
            </a:avLst>
          </a:prstGeom>
          <a:solidFill>
            <a:srgbClr val="FFFDF8"/>
          </a:solidFill>
          <a:ln w="12700">
            <a:solidFill>
              <a:srgbClr val="E4DED2"/>
            </a:solidFill>
            <a:prstDash val="solid"/>
          </a:ln>
        </p:spPr>
      </p:sp>
      <p:sp>
        <p:nvSpPr>
          <p:cNvPr id="8" name="Text 6"/>
          <p:cNvSpPr/>
          <p:nvPr/>
        </p:nvSpPr>
        <p:spPr>
          <a:xfrm>
            <a:off x="4580467" y="2037028"/>
            <a:ext cx="3121999"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F5D43"/>
                </a:solidFill>
                <a:latin typeface="IBM Plex Sans Thai" pitchFamily="34" charset="0"/>
                <a:ea typeface="IBM Plex Sans Thai" pitchFamily="34" charset="-122"/>
                <a:cs typeface="IBM Plex Sans Thai" pitchFamily="34" charset="-120"/>
              </a:rPr>
              <a:t>ราคา</a:t>
            </a:r>
            <a:endParaRPr lang="en-US" sz="1300" dirty="0"/>
          </a:p>
        </p:txBody>
      </p:sp>
      <p:sp>
        <p:nvSpPr>
          <p:cNvPr id="9" name="Text 7"/>
          <p:cNvSpPr/>
          <p:nvPr/>
        </p:nvSpPr>
        <p:spPr>
          <a:xfrm>
            <a:off x="4580467" y="2318941"/>
            <a:ext cx="3121999" cy="688181"/>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3D4A42"/>
                </a:solidFill>
                <a:latin typeface="IBM Plex Sans Thai" pitchFamily="34" charset="0"/>
                <a:ea typeface="IBM Plex Sans Thai" pitchFamily="34" charset="-122"/>
                <a:cs typeface="IBM Plex Sans Thai" pitchFamily="34" charset="-120"/>
              </a:rPr>
              <a:t>ขวด 10 ml 450 บาท</a:t>
            </a:r>
            <a:endParaRPr lang="en-US" sz="1200" dirty="0"/>
          </a:p>
          <a:p>
            <a:pPr algn="l" indent="0" marL="0">
              <a:lnSpc>
                <a:spcPts val="1740"/>
              </a:lnSpc>
              <a:buNone/>
            </a:pPr>
            <a:r>
              <a:rPr lang="en-US" sz="1200" dirty="0">
                <a:solidFill>
                  <a:srgbClr val="3D4A42"/>
                </a:solidFill>
                <a:latin typeface="IBM Plex Sans Thai" pitchFamily="34" charset="0"/>
                <a:ea typeface="IBM Plex Sans Thai" pitchFamily="34" charset="-122"/>
                <a:cs typeface="IBM Plex Sans Thai" pitchFamily="34" charset="-120"/>
              </a:rPr>
              <a:t>Discovery set 3×2 ml 350 บาท (หักคืนเมื่อซื้อขวด)</a:t>
            </a:r>
            <a:endParaRPr lang="en-US" sz="1200" dirty="0"/>
          </a:p>
        </p:txBody>
      </p:sp>
      <p:sp>
        <p:nvSpPr>
          <p:cNvPr id="10" name="Shape 8"/>
          <p:cNvSpPr/>
          <p:nvPr/>
        </p:nvSpPr>
        <p:spPr>
          <a:xfrm>
            <a:off x="7948084" y="1865578"/>
            <a:ext cx="3424767" cy="1287595"/>
          </a:xfrm>
          <a:prstGeom prst="roundRect">
            <a:avLst>
              <a:gd name="adj" fmla="val 8384"/>
            </a:avLst>
          </a:prstGeom>
          <a:solidFill>
            <a:srgbClr val="FFFDF8"/>
          </a:solidFill>
          <a:ln w="12700">
            <a:solidFill>
              <a:srgbClr val="E4DED2"/>
            </a:solidFill>
            <a:prstDash val="solid"/>
          </a:ln>
        </p:spPr>
      </p:sp>
      <p:sp>
        <p:nvSpPr>
          <p:cNvPr id="11" name="Text 9"/>
          <p:cNvSpPr/>
          <p:nvPr/>
        </p:nvSpPr>
        <p:spPr>
          <a:xfrm>
            <a:off x="8144934" y="2037028"/>
            <a:ext cx="3121999"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F5D43"/>
                </a:solidFill>
                <a:latin typeface="IBM Plex Sans Thai" pitchFamily="34" charset="0"/>
                <a:ea typeface="IBM Plex Sans Thai" pitchFamily="34" charset="-122"/>
                <a:cs typeface="IBM Plex Sans Thai" pitchFamily="34" charset="-120"/>
              </a:rPr>
              <a:t>กลุ่มเป้าหมาย</a:t>
            </a:r>
            <a:endParaRPr lang="en-US" sz="1300" dirty="0"/>
          </a:p>
        </p:txBody>
      </p:sp>
      <p:sp>
        <p:nvSpPr>
          <p:cNvPr id="12" name="Text 10"/>
          <p:cNvSpPr/>
          <p:nvPr/>
        </p:nvSpPr>
        <p:spPr>
          <a:xfrm>
            <a:off x="8144934" y="2318941"/>
            <a:ext cx="3121999" cy="467254"/>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3D4A42"/>
                </a:solidFill>
                <a:latin typeface="IBM Plex Sans Thai" pitchFamily="34" charset="0"/>
                <a:ea typeface="IBM Plex Sans Thai" pitchFamily="34" charset="-122"/>
                <a:cs typeface="IBM Plex Sans Thai" pitchFamily="34" charset="-120"/>
              </a:rPr>
              <a:t>คนเมืองอายุ 24–30 ปี ซื้อให้ตัวเอง</a:t>
            </a:r>
            <a:endParaRPr lang="en-US" sz="1200" dirty="0"/>
          </a:p>
          <a:p>
            <a:pPr algn="l" indent="0" marL="0">
              <a:lnSpc>
                <a:spcPts val="1740"/>
              </a:lnSpc>
              <a:buNone/>
            </a:pPr>
            <a:r>
              <a:rPr lang="en-US" sz="1200" dirty="0">
                <a:solidFill>
                  <a:srgbClr val="3D4A42"/>
                </a:solidFill>
                <a:latin typeface="IBM Plex Sans Thai" pitchFamily="34" charset="0"/>
                <a:ea typeface="IBM Plex Sans Thai" pitchFamily="34" charset="-122"/>
                <a:cs typeface="IBM Plex Sans Thai" pitchFamily="34" charset="-120"/>
              </a:rPr>
              <a:t>addressable 8,000–16,000 คน</a:t>
            </a:r>
            <a:endParaRPr lang="en-US" sz="1200" dirty="0"/>
          </a:p>
        </p:txBody>
      </p:sp>
      <p:sp>
        <p:nvSpPr>
          <p:cNvPr id="13" name="Shape 11"/>
          <p:cNvSpPr/>
          <p:nvPr/>
        </p:nvSpPr>
        <p:spPr>
          <a:xfrm>
            <a:off x="819150" y="3292872"/>
            <a:ext cx="3424767" cy="1066668"/>
          </a:xfrm>
          <a:prstGeom prst="roundRect">
            <a:avLst>
              <a:gd name="adj" fmla="val 10120"/>
            </a:avLst>
          </a:prstGeom>
          <a:solidFill>
            <a:srgbClr val="FFFDF8"/>
          </a:solidFill>
          <a:ln w="12700">
            <a:solidFill>
              <a:srgbClr val="E4DED2"/>
            </a:solidFill>
            <a:prstDash val="solid"/>
          </a:ln>
        </p:spPr>
      </p:sp>
      <p:sp>
        <p:nvSpPr>
          <p:cNvPr id="14" name="Text 12"/>
          <p:cNvSpPr/>
          <p:nvPr/>
        </p:nvSpPr>
        <p:spPr>
          <a:xfrm>
            <a:off x="1016000" y="3464322"/>
            <a:ext cx="3121999"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F5D43"/>
                </a:solidFill>
                <a:latin typeface="IBM Plex Sans Thai" pitchFamily="34" charset="0"/>
                <a:ea typeface="IBM Plex Sans Thai" pitchFamily="34" charset="-122"/>
                <a:cs typeface="IBM Plex Sans Thai" pitchFamily="34" charset="-120"/>
              </a:rPr>
              <a:t>ช่องทาง</a:t>
            </a:r>
            <a:endParaRPr lang="en-US" sz="1300" dirty="0"/>
          </a:p>
        </p:txBody>
      </p:sp>
      <p:sp>
        <p:nvSpPr>
          <p:cNvPr id="15" name="Text 13"/>
          <p:cNvSpPr/>
          <p:nvPr/>
        </p:nvSpPr>
        <p:spPr>
          <a:xfrm>
            <a:off x="1016000" y="3746236"/>
            <a:ext cx="3121999" cy="467254"/>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3D4A42"/>
                </a:solidFill>
                <a:latin typeface="IBM Plex Sans Thai" pitchFamily="34" charset="0"/>
                <a:ea typeface="IBM Plex Sans Thai" pitchFamily="34" charset="-122"/>
                <a:cs typeface="IBM Plex Sans Thai" pitchFamily="34" charset="-120"/>
              </a:rPr>
              <a:t>Instagram → บูธ craft fair ให้ดมจริง</a:t>
            </a:r>
            <a:endParaRPr lang="en-US" sz="1200" dirty="0"/>
          </a:p>
          <a:p>
            <a:pPr algn="l" indent="0" marL="0">
              <a:lnSpc>
                <a:spcPts val="1740"/>
              </a:lnSpc>
              <a:buNone/>
            </a:pPr>
            <a:r>
              <a:rPr lang="en-US" sz="1200" dirty="0">
                <a:solidFill>
                  <a:srgbClr val="3D4A42"/>
                </a:solidFill>
                <a:latin typeface="IBM Plex Sans Thai" pitchFamily="34" charset="0"/>
                <a:ea typeface="IBM Plex Sans Thai" pitchFamily="34" charset="-122"/>
                <a:cs typeface="IBM Plex Sans Thai" pitchFamily="34" charset="-120"/>
              </a:rPr>
              <a:t>มี LINE OA อยู่ในโปรไฟล์บริษัท</a:t>
            </a:r>
            <a:endParaRPr lang="en-US" sz="1200" dirty="0"/>
          </a:p>
        </p:txBody>
      </p:sp>
      <p:sp>
        <p:nvSpPr>
          <p:cNvPr id="16" name="Shape 14"/>
          <p:cNvSpPr/>
          <p:nvPr/>
        </p:nvSpPr>
        <p:spPr>
          <a:xfrm>
            <a:off x="4383617" y="3292872"/>
            <a:ext cx="3424767" cy="1066668"/>
          </a:xfrm>
          <a:prstGeom prst="roundRect">
            <a:avLst>
              <a:gd name="adj" fmla="val 10120"/>
            </a:avLst>
          </a:prstGeom>
          <a:solidFill>
            <a:srgbClr val="FFFDF8"/>
          </a:solidFill>
          <a:ln w="12700">
            <a:solidFill>
              <a:srgbClr val="E4DED2"/>
            </a:solidFill>
            <a:prstDash val="solid"/>
          </a:ln>
        </p:spPr>
      </p:sp>
      <p:sp>
        <p:nvSpPr>
          <p:cNvPr id="17" name="Text 15"/>
          <p:cNvSpPr/>
          <p:nvPr/>
        </p:nvSpPr>
        <p:spPr>
          <a:xfrm>
            <a:off x="4580467" y="3464322"/>
            <a:ext cx="3121999"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F5D43"/>
                </a:solidFill>
                <a:latin typeface="IBM Plex Sans Thai" pitchFamily="34" charset="0"/>
                <a:ea typeface="IBM Plex Sans Thai" pitchFamily="34" charset="-122"/>
                <a:cs typeface="IBM Plex Sans Thai" pitchFamily="34" charset="-120"/>
              </a:rPr>
              <a:t>ทีม</a:t>
            </a:r>
            <a:endParaRPr lang="en-US" sz="1300" dirty="0"/>
          </a:p>
        </p:txBody>
      </p:sp>
      <p:sp>
        <p:nvSpPr>
          <p:cNvPr id="18" name="Text 16"/>
          <p:cNvSpPr/>
          <p:nvPr/>
        </p:nvSpPr>
        <p:spPr>
          <a:xfrm>
            <a:off x="4580467" y="3746236"/>
            <a:ext cx="3121999" cy="467254"/>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3D4A42"/>
                </a:solidFill>
                <a:latin typeface="IBM Plex Sans Thai" pitchFamily="34" charset="0"/>
                <a:ea typeface="IBM Plex Sans Thai" pitchFamily="34" charset="-122"/>
                <a:cs typeface="IBM Plex Sans Thai" pitchFamily="34" charset="-120"/>
              </a:rPr>
              <a:t>7 คน part-time · 4 ฝ่าย</a:t>
            </a:r>
            <a:endParaRPr lang="en-US" sz="1200" dirty="0"/>
          </a:p>
          <a:p>
            <a:pPr algn="l" indent="0" marL="0">
              <a:lnSpc>
                <a:spcPts val="1740"/>
              </a:lnSpc>
              <a:buNone/>
            </a:pPr>
            <a:r>
              <a:rPr lang="en-US" sz="1200" dirty="0">
                <a:solidFill>
                  <a:srgbClr val="3D4A42"/>
                </a:solidFill>
                <a:latin typeface="IBM Plex Sans Thai" pitchFamily="34" charset="0"/>
                <a:ea typeface="IBM Plex Sans Thai" pitchFamily="34" charset="-122"/>
                <a:cs typeface="IBM Plex Sans Thai" pitchFamily="34" charset="-120"/>
              </a:rPr>
              <a:t>flat และ founder-led</a:t>
            </a:r>
            <a:endParaRPr lang="en-US" sz="1200" dirty="0"/>
          </a:p>
        </p:txBody>
      </p:sp>
      <p:sp>
        <p:nvSpPr>
          <p:cNvPr id="19" name="Shape 17"/>
          <p:cNvSpPr/>
          <p:nvPr/>
        </p:nvSpPr>
        <p:spPr>
          <a:xfrm>
            <a:off x="7948084" y="3292872"/>
            <a:ext cx="3424767" cy="1066668"/>
          </a:xfrm>
          <a:prstGeom prst="roundRect">
            <a:avLst>
              <a:gd name="adj" fmla="val 10120"/>
            </a:avLst>
          </a:prstGeom>
          <a:solidFill>
            <a:srgbClr val="FFFDF8"/>
          </a:solidFill>
          <a:ln w="12700">
            <a:solidFill>
              <a:srgbClr val="E4DED2"/>
            </a:solidFill>
            <a:prstDash val="solid"/>
          </a:ln>
        </p:spPr>
      </p:sp>
      <p:sp>
        <p:nvSpPr>
          <p:cNvPr id="20" name="Text 18"/>
          <p:cNvSpPr/>
          <p:nvPr/>
        </p:nvSpPr>
        <p:spPr>
          <a:xfrm>
            <a:off x="8144934" y="3464322"/>
            <a:ext cx="3121999"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F5D43"/>
                </a:solidFill>
                <a:latin typeface="IBM Plex Sans Thai" pitchFamily="34" charset="0"/>
                <a:ea typeface="IBM Plex Sans Thai" pitchFamily="34" charset="-122"/>
                <a:cs typeface="IBM Plex Sans Thai" pitchFamily="34" charset="-120"/>
              </a:rPr>
              <a:t>การเงิน</a:t>
            </a:r>
            <a:endParaRPr lang="en-US" sz="1300" dirty="0"/>
          </a:p>
        </p:txBody>
      </p:sp>
      <p:sp>
        <p:nvSpPr>
          <p:cNvPr id="21" name="Text 19"/>
          <p:cNvSpPr/>
          <p:nvPr/>
        </p:nvSpPr>
        <p:spPr>
          <a:xfrm>
            <a:off x="8144934" y="3746236"/>
            <a:ext cx="3121999" cy="467254"/>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3D4A42"/>
                </a:solidFill>
                <a:latin typeface="IBM Plex Sans Thai" pitchFamily="34" charset="0"/>
                <a:ea typeface="IBM Plex Sans Thai" pitchFamily="34" charset="-122"/>
                <a:cs typeface="IBM Plex Sans Thai" pitchFamily="34" charset="-120"/>
              </a:rPr>
              <a:t>ทุน 1,000,000 บาท · ขายแรก พ.ค. 2027</a:t>
            </a:r>
            <a:endParaRPr lang="en-US" sz="1200" dirty="0"/>
          </a:p>
          <a:p>
            <a:pPr algn="l" indent="0" marL="0">
              <a:lnSpc>
                <a:spcPts val="1740"/>
              </a:lnSpc>
              <a:buNone/>
            </a:pPr>
            <a:r>
              <a:rPr lang="en-US" sz="1200" dirty="0">
                <a:solidFill>
                  <a:srgbClr val="3D4A42"/>
                </a:solidFill>
                <a:latin typeface="IBM Plex Sans Thai" pitchFamily="34" charset="0"/>
                <a:ea typeface="IBM Plex Sans Thai" pitchFamily="34" charset="-122"/>
                <a:cs typeface="IBM Plex Sans Thai" pitchFamily="34" charset="-120"/>
              </a:rPr>
              <a:t>contribution 236 บาท/ขวด</a:t>
            </a:r>
            <a:endParaRPr lang="en-US" sz="1200" dirty="0"/>
          </a:p>
        </p:txBody>
      </p:sp>
      <p:sp>
        <p:nvSpPr>
          <p:cNvPr id="22" name="Text 20"/>
          <p:cNvSpPr/>
          <p:nvPr/>
        </p:nvSpPr>
        <p:spPr>
          <a:xfrm>
            <a:off x="812800" y="4569090"/>
            <a:ext cx="10566400" cy="553707"/>
          </a:xfrm>
          <a:prstGeom prst="roundRect">
            <a:avLst>
              <a:gd name="adj" fmla="val 18349"/>
            </a:avLst>
          </a:prstGeom>
          <a:solidFill>
            <a:srgbClr val="1F3D2B"/>
          </a:solidFill>
          <a:ln/>
        </p:spPr>
        <p:txBody>
          <a:bodyPr wrap="square" lIns="198842" tIns="122642" rIns="0" bIns="97242" rtlCol="0" anchor="t">
            <a:normAutofit/>
          </a:bodyPr>
          <a:lstStyle/>
          <a:p>
            <a:pPr algn="l" indent="0" marL="0">
              <a:lnSpc>
                <a:spcPts val="1960"/>
              </a:lnSpc>
              <a:buNone/>
            </a:pPr>
            <a:r>
              <a:rPr lang="en-US" sz="1400" dirty="0">
                <a:solidFill>
                  <a:srgbClr val="F7F4EC"/>
                </a:solidFill>
                <a:latin typeface="IBM Plex Sans Thai" pitchFamily="34" charset="0"/>
                <a:ea typeface="IBM Plex Sans Thai" pitchFamily="34" charset="-122"/>
                <a:cs typeface="IBM Plex Sans Thai" pitchFamily="34" charset="-120"/>
              </a:rPr>
              <a:t>Values: Craftsmanship · Signature discipline · Presence · </a:t>
            </a:r>
            <a:r>
              <a:rPr lang="en-US" sz="1400" b="1" dirty="0">
                <a:solidFill>
                  <a:srgbClr val="E8A07A"/>
                </a:solidFill>
                <a:latin typeface="IBM Plex Sans Thai" pitchFamily="34" charset="0"/>
                <a:ea typeface="IBM Plex Sans Thai" pitchFamily="34" charset="-122"/>
                <a:cs typeface="IBM Plex Sans Thai" pitchFamily="34" charset="-120"/>
              </a:rPr>
              <a:t>Honesty</a:t>
            </a:r>
            <a:r>
              <a:rPr lang="en-US" sz="1400" dirty="0">
                <a:solidFill>
                  <a:srgbClr val="F7F4EC"/>
                </a:solidFill>
                <a:latin typeface="IBM Plex Sans Thai" pitchFamily="34" charset="0"/>
                <a:ea typeface="IBM Plex Sans Thai" pitchFamily="34" charset="-122"/>
                <a:cs typeface="IBM Plex Sans Thai" pitchFamily="34" charset="-120"/>
              </a:rPr>
              <a:t> · Accessibility</a:t>
            </a:r>
            <a:endParaRPr lang="en-US" sz="1400" dirty="0"/>
          </a:p>
        </p:txBody>
      </p:sp>
      <p:sp>
        <p:nvSpPr>
          <p:cNvPr id="23" name="Text 21"/>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F68"/>
                </a:solidFill>
                <a:latin typeface="IBM Plex Sans Thai" pitchFamily="34" charset="0"/>
                <a:ea typeface="IBM Plex Sans Thai" pitchFamily="34" charset="-122"/>
                <a:cs typeface="IBM Plex Sans Thai" pitchFamily="34" charset="-120"/>
              </a:rPr>
              <a:t>BIS609 · BitterSweet × Agentic AI on LINE OA · ที่มา: BIS608 หน้า 3–12</a:t>
            </a:r>
            <a:endParaRPr lang="en-US" sz="1200" dirty="0"/>
          </a:p>
        </p:txBody>
      </p:sp>
      <p:sp>
        <p:nvSpPr>
          <p:cNvPr id="24" name="Text 22"/>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F68"/>
                </a:solidFill>
                <a:latin typeface="IBM Plex Sans Thai" pitchFamily="34" charset="0"/>
                <a:ea typeface="IBM Plex Sans Thai" pitchFamily="34" charset="-122"/>
                <a:cs typeface="IBM Plex Sans Thai" pitchFamily="34" charset="-120"/>
              </a:rPr>
              <a:t>02 / 16</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AF0E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4532E"/>
                </a:solidFill>
                <a:latin typeface="IBM Plex Sans Thai" pitchFamily="34" charset="0"/>
                <a:ea typeface="IBM Plex Sans Thai" pitchFamily="34" charset="-122"/>
                <a:cs typeface="IBM Plex Sans Thai" pitchFamily="34" charset="-120"/>
              </a:rPr>
              <a:t>ปัญหาหลัก · จากรายงาน BITTERSWEET เอง</a:t>
            </a:r>
            <a:endParaRPr lang="en-US" sz="1200" dirty="0"/>
          </a:p>
        </p:txBody>
      </p:sp>
      <p:sp>
        <p:nvSpPr>
          <p:cNvPr id="3" name="Text 1"/>
          <p:cNvSpPr/>
          <p:nvPr/>
        </p:nvSpPr>
        <p:spPr>
          <a:xfrm>
            <a:off x="812800" y="1280120"/>
            <a:ext cx="10464800" cy="1082014"/>
          </a:xfrm>
          <a:prstGeom prst="rect">
            <a:avLst/>
          </a:prstGeom>
          <a:noFill/>
          <a:ln/>
        </p:spPr>
        <p:txBody>
          <a:bodyPr wrap="square" lIns="0" tIns="0" rIns="0" bIns="0" rtlCol="0" anchor="t">
            <a:normAutofit/>
          </a:bodyPr>
          <a:lstStyle/>
          <a:p>
            <a:pPr algn="l" indent="0" marL="0">
              <a:lnSpc>
                <a:spcPts val="4160"/>
              </a:lnSpc>
              <a:buNone/>
            </a:pPr>
            <a:r>
              <a:rPr lang="en-US" sz="3200" b="1" dirty="0">
                <a:solidFill>
                  <a:srgbClr val="1F3D2B"/>
                </a:solidFill>
                <a:latin typeface="Noto Serif Thai" pitchFamily="18" charset="0"/>
                <a:ea typeface="Noto Serif Thai" pitchFamily="18" charset="-122"/>
                <a:cs typeface="Noto Serif Thai" pitchFamily="18" charset="-120"/>
              </a:rPr>
              <a:t>"…the channel that should carry the launch has no memory of who smelled what."</a:t>
            </a:r>
            <a:endParaRPr lang="en-US" sz="3200" dirty="0"/>
          </a:p>
        </p:txBody>
      </p:sp>
      <p:sp>
        <p:nvSpPr>
          <p:cNvPr id="4" name="Text 2"/>
          <p:cNvSpPr/>
          <p:nvPr/>
        </p:nvSpPr>
        <p:spPr>
          <a:xfrm>
            <a:off x="812800" y="2590735"/>
            <a:ext cx="10883392"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42"/>
                </a:solidFill>
                <a:latin typeface="IBM Plex Sans Thai" pitchFamily="34" charset="0"/>
                <a:ea typeface="IBM Plex Sans Thai" pitchFamily="34" charset="-122"/>
                <a:cs typeface="IBM Plex Sans Thai" pitchFamily="34" charset="-120"/>
              </a:rPr>
              <a:t>BIS608 หน้า 8 · 7S Alignment: กลยุทธ์เป็น digital-first แต่ยังไม่มี customer list</a:t>
            </a:r>
            <a:endParaRPr lang="en-US" sz="1400" dirty="0"/>
          </a:p>
        </p:txBody>
      </p:sp>
      <p:sp>
        <p:nvSpPr>
          <p:cNvPr id="5" name="Shape 3"/>
          <p:cNvSpPr/>
          <p:nvPr/>
        </p:nvSpPr>
        <p:spPr>
          <a:xfrm>
            <a:off x="812800" y="3093641"/>
            <a:ext cx="3131079" cy="1529027"/>
          </a:xfrm>
          <a:prstGeom prst="roundRect">
            <a:avLst>
              <a:gd name="adj" fmla="val 7475"/>
            </a:avLst>
          </a:prstGeom>
          <a:solidFill>
            <a:srgbClr val="FFFDF8"/>
          </a:solidFill>
          <a:ln/>
        </p:spPr>
      </p:sp>
      <p:sp>
        <p:nvSpPr>
          <p:cNvPr id="6" name="Text 4"/>
          <p:cNvSpPr/>
          <p:nvPr/>
        </p:nvSpPr>
        <p:spPr>
          <a:xfrm>
            <a:off x="1016000" y="3271441"/>
            <a:ext cx="2806420" cy="584200"/>
          </a:xfrm>
          <a:prstGeom prst="rect">
            <a:avLst/>
          </a:prstGeom>
          <a:noFill/>
          <a:ln/>
        </p:spPr>
        <p:txBody>
          <a:bodyPr wrap="square" lIns="0" tIns="0" rIns="0" bIns="0" rtlCol="0" anchor="t">
            <a:normAutofit/>
          </a:bodyPr>
          <a:lstStyle/>
          <a:p>
            <a:pPr algn="l" indent="0" marL="0">
              <a:lnSpc>
                <a:spcPts val="4400"/>
              </a:lnSpc>
              <a:buNone/>
            </a:pPr>
            <a:r>
              <a:rPr lang="en-US" sz="4000" b="1" dirty="0">
                <a:solidFill>
                  <a:srgbClr val="A4532E"/>
                </a:solidFill>
                <a:latin typeface="Noto Serif Thai" pitchFamily="18" charset="0"/>
                <a:ea typeface="Noto Serif Thai" pitchFamily="18" charset="-122"/>
                <a:cs typeface="Noto Serif Thai" pitchFamily="18" charset="-120"/>
              </a:rPr>
              <a:t>46.7%</a:t>
            </a:r>
            <a:endParaRPr lang="en-US" sz="4000" dirty="0"/>
          </a:p>
        </p:txBody>
      </p:sp>
      <p:sp>
        <p:nvSpPr>
          <p:cNvPr id="7" name="Text 5"/>
          <p:cNvSpPr/>
          <p:nvPr/>
        </p:nvSpPr>
        <p:spPr>
          <a:xfrm>
            <a:off x="1016000" y="3881041"/>
            <a:ext cx="280642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A24"/>
                </a:solidFill>
                <a:latin typeface="IBM Plex Sans Thai" pitchFamily="34" charset="0"/>
                <a:ea typeface="IBM Plex Sans Thai" pitchFamily="34" charset="-122"/>
                <a:cs typeface="IBM Plex Sans Thai" pitchFamily="34" charset="-120"/>
              </a:rPr>
              <a:t>ของผู้ซื้อต้องดมหลายครั้งก่อนตัดสินใจ</a:t>
            </a:r>
            <a:endParaRPr lang="en-US" sz="1300" dirty="0"/>
          </a:p>
        </p:txBody>
      </p:sp>
      <p:sp>
        <p:nvSpPr>
          <p:cNvPr id="8" name="Shape 6"/>
          <p:cNvSpPr/>
          <p:nvPr/>
        </p:nvSpPr>
        <p:spPr>
          <a:xfrm>
            <a:off x="4121679" y="3093641"/>
            <a:ext cx="3131145" cy="1529027"/>
          </a:xfrm>
          <a:prstGeom prst="roundRect">
            <a:avLst>
              <a:gd name="adj" fmla="val 7475"/>
            </a:avLst>
          </a:prstGeom>
          <a:solidFill>
            <a:srgbClr val="FFFDF8"/>
          </a:solidFill>
          <a:ln/>
        </p:spPr>
      </p:sp>
      <p:sp>
        <p:nvSpPr>
          <p:cNvPr id="9" name="Text 7"/>
          <p:cNvSpPr/>
          <p:nvPr/>
        </p:nvSpPr>
        <p:spPr>
          <a:xfrm>
            <a:off x="4324879" y="3271441"/>
            <a:ext cx="2806488" cy="584200"/>
          </a:xfrm>
          <a:prstGeom prst="rect">
            <a:avLst/>
          </a:prstGeom>
          <a:noFill/>
          <a:ln/>
        </p:spPr>
        <p:txBody>
          <a:bodyPr wrap="square" lIns="0" tIns="0" rIns="0" bIns="0" rtlCol="0" anchor="t">
            <a:normAutofit/>
          </a:bodyPr>
          <a:lstStyle/>
          <a:p>
            <a:pPr algn="l" indent="0" marL="0">
              <a:lnSpc>
                <a:spcPts val="4400"/>
              </a:lnSpc>
              <a:buNone/>
            </a:pPr>
            <a:r>
              <a:rPr lang="en-US" sz="4000" b="1" dirty="0">
                <a:solidFill>
                  <a:srgbClr val="A4532E"/>
                </a:solidFill>
                <a:latin typeface="Noto Serif Thai" pitchFamily="18" charset="0"/>
                <a:ea typeface="Noto Serif Thai" pitchFamily="18" charset="-122"/>
                <a:cs typeface="Noto Serif Thai" pitchFamily="18" charset="-120"/>
              </a:rPr>
              <a:t>68%</a:t>
            </a:r>
            <a:endParaRPr lang="en-US" sz="4000" dirty="0"/>
          </a:p>
        </p:txBody>
      </p:sp>
      <p:sp>
        <p:nvSpPr>
          <p:cNvPr id="10" name="Text 8"/>
          <p:cNvSpPr/>
          <p:nvPr/>
        </p:nvSpPr>
        <p:spPr>
          <a:xfrm>
            <a:off x="4324879" y="3881041"/>
            <a:ext cx="2806488"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A24"/>
                </a:solidFill>
                <a:latin typeface="IBM Plex Sans Thai" pitchFamily="34" charset="0"/>
                <a:ea typeface="IBM Plex Sans Thai" pitchFamily="34" charset="-122"/>
                <a:cs typeface="IBM Plex Sans Thai" pitchFamily="34" charset="-120"/>
              </a:rPr>
              <a:t>ของผู้ซื้อออนไลน์ต้องการ sample ก่อน</a:t>
            </a:r>
            <a:endParaRPr lang="en-US" sz="1300" dirty="0"/>
          </a:p>
        </p:txBody>
      </p:sp>
      <p:sp>
        <p:nvSpPr>
          <p:cNvPr id="11" name="Shape 9"/>
          <p:cNvSpPr/>
          <p:nvPr/>
        </p:nvSpPr>
        <p:spPr>
          <a:xfrm>
            <a:off x="7430625" y="3093641"/>
            <a:ext cx="3948576" cy="1529027"/>
          </a:xfrm>
          <a:prstGeom prst="roundRect">
            <a:avLst>
              <a:gd name="adj" fmla="val 7475"/>
            </a:avLst>
          </a:prstGeom>
          <a:solidFill>
            <a:srgbClr val="1F3D2B"/>
          </a:solidFill>
          <a:ln/>
        </p:spPr>
      </p:sp>
      <p:sp>
        <p:nvSpPr>
          <p:cNvPr id="12" name="Text 10"/>
          <p:cNvSpPr/>
          <p:nvPr/>
        </p:nvSpPr>
        <p:spPr>
          <a:xfrm>
            <a:off x="7633825" y="3271441"/>
            <a:ext cx="3648441" cy="6858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E8A07A"/>
                </a:solidFill>
                <a:latin typeface="Noto Serif Thai" pitchFamily="18" charset="0"/>
                <a:ea typeface="Noto Serif Thai" pitchFamily="18" charset="-122"/>
                <a:cs typeface="Noto Serif Thai" pitchFamily="18" charset="-120"/>
              </a:rPr>
              <a:t>"a photo cannot carry a smell"</a:t>
            </a:r>
            <a:endParaRPr lang="en-US" sz="2000" dirty="0"/>
          </a:p>
        </p:txBody>
      </p:sp>
      <p:sp>
        <p:nvSpPr>
          <p:cNvPr id="13" name="Text 11"/>
          <p:cNvSpPr/>
          <p:nvPr/>
        </p:nvSpPr>
        <p:spPr>
          <a:xfrm>
            <a:off x="7633825" y="3982641"/>
            <a:ext cx="3648441"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9E3DA"/>
                </a:solidFill>
                <a:latin typeface="IBM Plex Sans Thai" pitchFamily="34" charset="0"/>
                <a:ea typeface="IBM Plex Sans Thai" pitchFamily="34" charset="-122"/>
                <a:cs typeface="IBM Plex Sans Thai" pitchFamily="34" charset="-120"/>
              </a:rPr>
              <a:t>Agent จึงไม่ได้ขายแทนการดม แต่เป็น "ความทรงจำ" ของการดม</a:t>
            </a:r>
            <a:endParaRPr lang="en-US" sz="1300" dirty="0"/>
          </a:p>
        </p:txBody>
      </p:sp>
      <p:sp>
        <p:nvSpPr>
          <p:cNvPr id="14" name="Text 12"/>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F68"/>
                </a:solidFill>
                <a:latin typeface="IBM Plex Sans Thai" pitchFamily="34" charset="0"/>
                <a:ea typeface="IBM Plex Sans Thai" pitchFamily="34" charset="-122"/>
                <a:cs typeface="IBM Plex Sans Thai" pitchFamily="34" charset="-120"/>
              </a:rPr>
              <a:t>BIS609 · BitterSweet × Agentic AI on LINE OA · ตัวเลขจาก BIS608 หน้า 10</a:t>
            </a:r>
            <a:endParaRPr lang="en-US" sz="1200" dirty="0"/>
          </a:p>
        </p:txBody>
      </p:sp>
      <p:sp>
        <p:nvSpPr>
          <p:cNvPr id="15" name="Text 1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F68"/>
                </a:solidFill>
                <a:latin typeface="IBM Plex Sans Thai" pitchFamily="34" charset="0"/>
                <a:ea typeface="IBM Plex Sans Thai" pitchFamily="34" charset="-122"/>
                <a:cs typeface="IBM Plex Sans Thai" pitchFamily="34" charset="-120"/>
              </a:rPr>
              <a:t>03 / 16</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4532E"/>
                </a:solidFill>
                <a:latin typeface="IBM Plex Sans Thai" pitchFamily="34" charset="0"/>
                <a:ea typeface="IBM Plex Sans Thai" pitchFamily="34" charset="-122"/>
                <a:cs typeface="IBM Plex Sans Thai" pitchFamily="34" charset="-120"/>
              </a:rPr>
              <a:t>GAP ANALYSIS · หลักฐานจาก BIS608</a:t>
            </a:r>
            <a:endParaRPr lang="en-US" sz="1200" dirty="0"/>
          </a:p>
        </p:txBody>
      </p:sp>
      <p:sp>
        <p:nvSpPr>
          <p:cNvPr id="3" name="Text 1"/>
          <p:cNvSpPr/>
          <p:nvPr>
            <p:ph type="title"/>
          </p:nvPr>
        </p:nvSpPr>
        <p:spPr>
          <a:xfrm>
            <a:off x="812800" y="1229320"/>
            <a:ext cx="10883392" cy="452107"/>
          </a:xfrm>
          <a:prstGeom prst="rect">
            <a:avLst/>
          </a:prstGeom>
          <a:noFill/>
          <a:ln/>
        </p:spPr>
        <p:txBody>
          <a:bodyPr wrap="square" lIns="0" tIns="0" rIns="0" bIns="0" rtlCol="0" anchor="t">
            <a:normAutofit/>
          </a:bodyPr>
          <a:lstStyle/>
          <a:p>
            <a:pPr algn="l" indent="0" marL="0">
              <a:lnSpc>
                <a:spcPts val="3360"/>
              </a:lnSpc>
              <a:buNone/>
            </a:pPr>
            <a:r>
              <a:rPr lang="en-US" sz="2800" b="1" i="0" dirty="0">
                <a:solidFill>
                  <a:srgbClr val="1F3D2B"/>
                </a:solidFill>
                <a:latin typeface="Noto Serif Thai" pitchFamily="18" charset="0"/>
                <a:ea typeface="Noto Serif Thai" pitchFamily="18" charset="-122"/>
                <a:cs typeface="Noto Serif Thai" pitchFamily="18" charset="-120"/>
              </a:rPr>
              <a:t>เครื่องมือ 4 ตัวชี้ไปที่ช่องว่างเดียวกัน</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71928"/>
          <a:ext cx="10553700" cy="2397125"/>
        </p:xfrm>
        <a:graphic>
          <a:graphicData uri="http://schemas.openxmlformats.org/drawingml/2006/table">
            <a:tbl>
              <a:tblPr/>
              <a:tblGrid>
                <a:gridCol w="2321814"/>
                <a:gridCol w="4221480"/>
                <a:gridCol w="4010406"/>
              </a:tblGrid>
              <a:tr h="346075">
                <a:tc>
                  <a:txBody>
                    <a:bodyPr/>
                    <a:lstStyle/>
                    <a:p>
                      <a:pPr indent="0" marL="0">
                        <a:lnSpc>
                          <a:spcPts val="1750"/>
                        </a:lnSpc>
                        <a:buNone/>
                      </a:pPr>
                      <a:r>
                        <a:rPr lang="en-US" sz="1250" b="1" dirty="0">
                          <a:solidFill>
                            <a:srgbClr val="F7F4EC"/>
                          </a:solidFill>
                          <a:latin typeface="IBM Plex Sans Thai" pitchFamily="34" charset="0"/>
                          <a:ea typeface="IBM Plex Sans Thai" pitchFamily="34" charset="-122"/>
                          <a:cs typeface="IBM Plex Sans Thai" pitchFamily="34" charset="-120"/>
                        </a:rPr>
                        <a:t>เครื่องมือ (BIS608)</a:t>
                      </a:r>
                      <a:endParaRPr lang="en-US" sz="1250" dirty="0">
                        <a:latin typeface="IBM Plex Sans Thai" charset="0"/>
                        <a:ea typeface="IBM Plex Sans Thai" charset="0"/>
                        <a:cs typeface="IBM Plex Sans Thai" charset="0"/>
                      </a:endParaRPr>
                    </a:p>
                  </a:txBody>
                  <a:tcPr marL="55563" marR="55563" marT="55563" marB="55563" anchor="t">
                    <a:lnL w="12700" cap="flat" cmpd="sng" algn="ctr">
                      <a:solidFill>
                        <a:srgbClr val="C5C3BC"/>
                      </a:solidFill>
                      <a:prstDash val="solid"/>
                      <a:round/>
                      <a:headEnd type="none" w="med" len="med"/>
                      <a:tailEnd type="none" w="med" len="med"/>
                    </a:lnL>
                    <a:lnR w="12700" cap="flat" cmpd="sng" algn="ctr">
                      <a:solidFill>
                        <a:srgbClr val="1D3426"/>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1D3426"/>
                      </a:solidFill>
                      <a:prstDash val="solid"/>
                      <a:round/>
                      <a:headEnd type="none" w="med" len="med"/>
                      <a:tailEnd type="none" w="med" len="med"/>
                    </a:lnB>
                    <a:solidFill>
                      <a:srgbClr val="1F3D2B"/>
                    </a:solidFill>
                  </a:tcPr>
                </a:tc>
                <a:tc>
                  <a:txBody>
                    <a:bodyPr/>
                    <a:lstStyle/>
                    <a:p>
                      <a:pPr indent="0" marL="0">
                        <a:lnSpc>
                          <a:spcPts val="1750"/>
                        </a:lnSpc>
                        <a:buNone/>
                      </a:pPr>
                      <a:r>
                        <a:rPr lang="en-US" sz="1250" b="1" dirty="0">
                          <a:solidFill>
                            <a:srgbClr val="F7F4EC"/>
                          </a:solidFill>
                          <a:latin typeface="IBM Plex Sans Thai" pitchFamily="34" charset="0"/>
                          <a:ea typeface="IBM Plex Sans Thai" pitchFamily="34" charset="-122"/>
                          <a:cs typeface="IBM Plex Sans Thai" pitchFamily="34" charset="-120"/>
                        </a:rPr>
                        <a:t>สิ่งที่พบ</a:t>
                      </a:r>
                      <a:endParaRPr lang="en-US" sz="1250" dirty="0">
                        <a:latin typeface="IBM Plex Sans Thai" charset="0"/>
                        <a:ea typeface="IBM Plex Sans Thai" charset="0"/>
                        <a:cs typeface="IBM Plex Sans Thai" charset="0"/>
                      </a:endParaRPr>
                    </a:p>
                  </a:txBody>
                  <a:tcPr marL="55563" marR="55563" marT="55563" marB="55563" anchor="t">
                    <a:lnL w="12700" cap="flat" cmpd="sng" algn="ctr">
                      <a:solidFill>
                        <a:srgbClr val="1D3426"/>
                      </a:solidFill>
                      <a:prstDash val="solid"/>
                      <a:round/>
                      <a:headEnd type="none" w="med" len="med"/>
                      <a:tailEnd type="none" w="med" len="med"/>
                    </a:lnL>
                    <a:lnR w="12700" cap="flat" cmpd="sng" algn="ctr">
                      <a:solidFill>
                        <a:srgbClr val="1D3426"/>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1D3426"/>
                      </a:solidFill>
                      <a:prstDash val="solid"/>
                      <a:round/>
                      <a:headEnd type="none" w="med" len="med"/>
                      <a:tailEnd type="none" w="med" len="med"/>
                    </a:lnB>
                    <a:solidFill>
                      <a:srgbClr val="1F3D2B"/>
                    </a:solidFill>
                  </a:tcPr>
                </a:tc>
                <a:tc>
                  <a:txBody>
                    <a:bodyPr/>
                    <a:lstStyle/>
                    <a:p>
                      <a:pPr indent="0" marL="0">
                        <a:lnSpc>
                          <a:spcPts val="1750"/>
                        </a:lnSpc>
                        <a:buNone/>
                      </a:pPr>
                      <a:r>
                        <a:rPr lang="en-US" sz="1250" b="1" dirty="0">
                          <a:solidFill>
                            <a:srgbClr val="F7F4EC"/>
                          </a:solidFill>
                          <a:latin typeface="IBM Plex Sans Thai" pitchFamily="34" charset="0"/>
                          <a:ea typeface="IBM Plex Sans Thai" pitchFamily="34" charset="-122"/>
                          <a:cs typeface="IBM Plex Sans Thai" pitchFamily="34" charset="-120"/>
                        </a:rPr>
                        <a:t>บทบาทของ Agent บน LINE OA</a:t>
                      </a:r>
                      <a:endParaRPr lang="en-US" sz="1250" dirty="0">
                        <a:latin typeface="IBM Plex Sans Thai" charset="0"/>
                        <a:ea typeface="IBM Plex Sans Thai" charset="0"/>
                        <a:cs typeface="IBM Plex Sans Thai" charset="0"/>
                      </a:endParaRPr>
                    </a:p>
                  </a:txBody>
                  <a:tcPr marL="55563" marR="55563" marT="55563" marB="55563" anchor="t">
                    <a:lnL w="12700" cap="flat" cmpd="sng" algn="ctr">
                      <a:solidFill>
                        <a:srgbClr val="1D3426"/>
                      </a:solidFill>
                      <a:prstDash val="solid"/>
                      <a:round/>
                      <a:headEnd type="none" w="med" len="med"/>
                      <a:tailEnd type="none" w="med" len="med"/>
                    </a:lnL>
                    <a:lnR w="12700" cap="flat" cmpd="sng" algn="ctr">
                      <a:solidFill>
                        <a:srgbClr val="1D3426"/>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1D3426"/>
                      </a:solidFill>
                      <a:prstDash val="solid"/>
                      <a:round/>
                      <a:headEnd type="none" w="med" len="med"/>
                      <a:tailEnd type="none" w="med" len="med"/>
                    </a:lnB>
                    <a:solidFill>
                      <a:srgbClr val="1F3D2B"/>
                    </a:solidFill>
                  </a:tcPr>
                </a:tc>
              </a:tr>
              <a:tr h="346075">
                <a:tc>
                  <a:txBody>
                    <a:bodyPr/>
                    <a:lstStyle/>
                    <a:p>
                      <a:pPr indent="0" marL="0">
                        <a:lnSpc>
                          <a:spcPts val="1750"/>
                        </a:lnSpc>
                        <a:buNone/>
                      </a:pPr>
                      <a:r>
                        <a:rPr lang="en-US" sz="1250" dirty="0">
                          <a:solidFill>
                            <a:srgbClr val="1F2A24"/>
                          </a:solidFill>
                          <a:latin typeface="IBM Plex Sans Thai" pitchFamily="34" charset="0"/>
                          <a:ea typeface="IBM Plex Sans Thai" pitchFamily="34" charset="-122"/>
                          <a:cs typeface="IBM Plex Sans Thai" pitchFamily="34" charset="-120"/>
                        </a:rPr>
                        <a:t>7S – Systems (หน้า 7)</a:t>
                      </a:r>
                      <a:endParaRPr lang="en-US" sz="1250" dirty="0">
                        <a:latin typeface="IBM Plex Sans Thai" charset="0"/>
                        <a:ea typeface="IBM Plex Sans Thai" charset="0"/>
                        <a:cs typeface="IBM Plex Sans Thai" charset="0"/>
                      </a:endParaRPr>
                    </a:p>
                  </a:txBody>
                  <a:tcPr marL="55563" marR="55563" marT="55563" marB="55563" anchor="t">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1D3426"/>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indent="0" marL="0">
                        <a:lnSpc>
                          <a:spcPts val="1750"/>
                        </a:lnSpc>
                        <a:buNone/>
                      </a:pPr>
                      <a:r>
                        <a:rPr lang="en-US" sz="1250" dirty="0">
                          <a:solidFill>
                            <a:srgbClr val="1F2A24"/>
                          </a:solidFill>
                          <a:latin typeface="IBM Plex Sans Thai" pitchFamily="34" charset="0"/>
                          <a:ea typeface="IBM Plex Sans Thai" pitchFamily="34" charset="-122"/>
                          <a:cs typeface="IBM Plex Sans Thai" pitchFamily="34" charset="-120"/>
                        </a:rPr>
                        <a:t>ยังขาด FDA notification, customer list และ stock tracking</a:t>
                      </a:r>
                      <a:endParaRPr lang="en-US" sz="1250" dirty="0">
                        <a:latin typeface="IBM Plex Sans Thai" charset="0"/>
                        <a:ea typeface="IBM Plex Sans Thai" charset="0"/>
                        <a:cs typeface="IBM Plex Sans Thai" charset="0"/>
                      </a:endParaRPr>
                    </a:p>
                  </a:txBody>
                  <a:tcPr marL="55563" marR="55563" marT="55563" marB="55563" anchor="t">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1D3426"/>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indent="0" marL="0">
                        <a:lnSpc>
                          <a:spcPts val="1750"/>
                        </a:lnSpc>
                        <a:buNone/>
                      </a:pPr>
                      <a:r>
                        <a:rPr lang="en-US" sz="1250" dirty="0">
                          <a:solidFill>
                            <a:srgbClr val="1F2A24"/>
                          </a:solidFill>
                          <a:latin typeface="IBM Plex Sans Thai" pitchFamily="34" charset="0"/>
                          <a:ea typeface="IBM Plex Sans Thai" pitchFamily="34" charset="-122"/>
                          <a:cs typeface="IBM Plex Sans Thai" pitchFamily="34" charset="-120"/>
                        </a:rPr>
                        <a:t>LINE OA + CRM สร้าง customer list จากทุกบทสนทนา</a:t>
                      </a:r>
                      <a:endParaRPr lang="en-US" sz="1250" dirty="0">
                        <a:latin typeface="IBM Plex Sans Thai" charset="0"/>
                        <a:ea typeface="IBM Plex Sans Thai" charset="0"/>
                        <a:cs typeface="IBM Plex Sans Thai" charset="0"/>
                      </a:endParaRPr>
                    </a:p>
                  </a:txBody>
                  <a:tcPr marL="55563" marR="55563" marT="55563" marB="55563" anchor="t">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1D3426"/>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r>
              <a:tr h="568325">
                <a:tc>
                  <a:txBody>
                    <a:bodyPr/>
                    <a:lstStyle/>
                    <a:p>
                      <a:pPr indent="0" marL="0">
                        <a:lnSpc>
                          <a:spcPts val="1750"/>
                        </a:lnSpc>
                        <a:buNone/>
                      </a:pPr>
                      <a:r>
                        <a:rPr lang="en-US" sz="1250" dirty="0">
                          <a:solidFill>
                            <a:srgbClr val="1F2A24"/>
                          </a:solidFill>
                          <a:latin typeface="IBM Plex Sans Thai" pitchFamily="34" charset="0"/>
                          <a:ea typeface="IBM Plex Sans Thai" pitchFamily="34" charset="-122"/>
                          <a:cs typeface="IBM Plex Sans Thai" pitchFamily="34" charset="-120"/>
                        </a:rPr>
                        <a:t>VRIO (หน้า 14)</a:t>
                      </a:r>
                      <a:endParaRPr lang="en-US" sz="1250" dirty="0">
                        <a:latin typeface="IBM Plex Sans Thai" charset="0"/>
                        <a:ea typeface="IBM Plex Sans Thai" charset="0"/>
                        <a:cs typeface="IBM Plex Sans Thai" charset="0"/>
                      </a:endParaRPr>
                    </a:p>
                  </a:txBody>
                  <a:tcPr marL="55563" marR="55563" marT="55563" marB="55563" anchor="t">
                    <a:lnL w="12700" cap="flat" cmpd="sng" algn="ctr">
                      <a:solidFill>
                        <a:srgbClr val="C5C3BC"/>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1"/>
                    </a:solidFill>
                  </a:tcPr>
                </a:tc>
                <a:tc>
                  <a:txBody>
                    <a:bodyPr/>
                    <a:lstStyle/>
                    <a:p>
                      <a:pPr indent="0" marL="0">
                        <a:lnSpc>
                          <a:spcPts val="1750"/>
                        </a:lnSpc>
                        <a:buNone/>
                      </a:pPr>
                      <a:r>
                        <a:rPr lang="en-US" sz="1250" dirty="0">
                          <a:solidFill>
                            <a:srgbClr val="1F2A24"/>
                          </a:solidFill>
                          <a:latin typeface="IBM Plex Sans Thai" pitchFamily="34" charset="0"/>
                          <a:ea typeface="IBM Plex Sans Thai" pitchFamily="34" charset="-122"/>
                          <a:cs typeface="IBM Plex Sans Thai" pitchFamily="34" charset="-120"/>
                        </a:rPr>
                        <a:t>"กลุ่มลูกค้าที่ดมแล้ว" ได้ O = Not yet → "Not a resource yet"</a:t>
                      </a:r>
                      <a:endParaRPr lang="en-US" sz="1250" dirty="0">
                        <a:latin typeface="IBM Plex Sans Thai" charset="0"/>
                        <a:ea typeface="IBM Plex Sans Thai" charset="0"/>
                        <a:cs typeface="IBM Plex Sans Thai" charset="0"/>
                      </a:endParaRPr>
                    </a:p>
                  </a:txBody>
                  <a:tcPr marL="55563" marR="55563" marT="55563" marB="55563" anchor="t">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1"/>
                    </a:solidFill>
                  </a:tcPr>
                </a:tc>
                <a:tc>
                  <a:txBody>
                    <a:bodyPr/>
                    <a:lstStyle/>
                    <a:p>
                      <a:pPr indent="0" marL="0">
                        <a:lnSpc>
                          <a:spcPts val="1750"/>
                        </a:lnSpc>
                        <a:buNone/>
                      </a:pPr>
                      <a:r>
                        <a:rPr lang="en-US" sz="1250" dirty="0">
                          <a:solidFill>
                            <a:srgbClr val="1F2A24"/>
                          </a:solidFill>
                          <a:latin typeface="IBM Plex Sans Thai" pitchFamily="34" charset="0"/>
                          <a:ea typeface="IBM Plex Sans Thai" pitchFamily="34" charset="-122"/>
                          <a:cs typeface="IBM Plex Sans Thai" pitchFamily="34" charset="-120"/>
                        </a:rPr>
                        <a:t>Agent + CRM คือ Organization ที่ทำให้ผ่านเกณฑ์ O</a:t>
                      </a:r>
                      <a:endParaRPr lang="en-US" sz="1250" dirty="0">
                        <a:latin typeface="IBM Plex Sans Thai" charset="0"/>
                        <a:ea typeface="IBM Plex Sans Thai" charset="0"/>
                        <a:cs typeface="IBM Plex Sans Thai" charset="0"/>
                      </a:endParaRPr>
                    </a:p>
                  </a:txBody>
                  <a:tcPr marL="55563" marR="55563" marT="55563" marB="55563" anchor="t">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1"/>
                    </a:solidFill>
                  </a:tcPr>
                </a:tc>
              </a:tr>
              <a:tr h="568325">
                <a:tc>
                  <a:txBody>
                    <a:bodyPr/>
                    <a:lstStyle/>
                    <a:p>
                      <a:pPr indent="0" marL="0">
                        <a:lnSpc>
                          <a:spcPts val="1750"/>
                        </a:lnSpc>
                        <a:buNone/>
                      </a:pPr>
                      <a:r>
                        <a:rPr lang="en-US" sz="1250" dirty="0">
                          <a:solidFill>
                            <a:srgbClr val="1F2A24"/>
                          </a:solidFill>
                          <a:latin typeface="IBM Plex Sans Thai" pitchFamily="34" charset="0"/>
                          <a:ea typeface="IBM Plex Sans Thai" pitchFamily="34" charset="-122"/>
                          <a:cs typeface="IBM Plex Sans Thai" pitchFamily="34" charset="-120"/>
                        </a:rPr>
                        <a:t>Value Chain (หน้า 10)</a:t>
                      </a:r>
                      <a:endParaRPr lang="en-US" sz="1250" dirty="0">
                        <a:latin typeface="IBM Plex Sans Thai" charset="0"/>
                        <a:ea typeface="IBM Plex Sans Thai" charset="0"/>
                        <a:cs typeface="IBM Plex Sans Thai" charset="0"/>
                      </a:endParaRPr>
                    </a:p>
                  </a:txBody>
                  <a:tcPr marL="55563" marR="55563" marT="55563" marB="55563" anchor="t">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indent="0" marL="0">
                        <a:lnSpc>
                          <a:spcPts val="1750"/>
                        </a:lnSpc>
                        <a:buNone/>
                      </a:pPr>
                      <a:r>
                        <a:rPr lang="en-US" sz="1250" dirty="0">
                          <a:solidFill>
                            <a:srgbClr val="1F2A24"/>
                          </a:solidFill>
                          <a:latin typeface="IBM Plex Sans Thai" pitchFamily="34" charset="0"/>
                          <a:ea typeface="IBM Plex Sans Thai" pitchFamily="34" charset="-122"/>
                          <a:cs typeface="IBM Plex Sans Thai" pitchFamily="34" charset="-120"/>
                        </a:rPr>
                        <a:t>Service = "advice before the sale" และพูดตรงเมื่อกลิ่นไม่เหมาะ</a:t>
                      </a:r>
                      <a:endParaRPr lang="en-US" sz="1250" dirty="0">
                        <a:latin typeface="IBM Plex Sans Thai" charset="0"/>
                        <a:ea typeface="IBM Plex Sans Thai" charset="0"/>
                        <a:cs typeface="IBM Plex Sans Thai" charset="0"/>
                      </a:endParaRPr>
                    </a:p>
                  </a:txBody>
                  <a:tcPr marL="55563" marR="55563" marT="55563" marB="55563" anchor="t">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indent="0" marL="0">
                        <a:lnSpc>
                          <a:spcPts val="1750"/>
                        </a:lnSpc>
                        <a:buNone/>
                      </a:pPr>
                      <a:r>
                        <a:rPr lang="en-US" sz="1250" dirty="0">
                          <a:solidFill>
                            <a:srgbClr val="1F2A24"/>
                          </a:solidFill>
                          <a:latin typeface="IBM Plex Sans Thai" pitchFamily="34" charset="0"/>
                          <a:ea typeface="IBM Plex Sans Thai" pitchFamily="34" charset="-122"/>
                          <a:cs typeface="IBM Plex Sans Thai" pitchFamily="34" charset="-120"/>
                        </a:rPr>
                        <a:t>Pre-sale advisor 24/7 ที่ยึดหลัก Honesty</a:t>
                      </a:r>
                      <a:endParaRPr lang="en-US" sz="1250" dirty="0">
                        <a:latin typeface="IBM Plex Sans Thai" charset="0"/>
                        <a:ea typeface="IBM Plex Sans Thai" charset="0"/>
                        <a:cs typeface="IBM Plex Sans Thai" charset="0"/>
                      </a:endParaRPr>
                    </a:p>
                  </a:txBody>
                  <a:tcPr marL="55563" marR="55563" marT="55563" marB="55563" anchor="t">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r>
              <a:tr h="568325">
                <a:tc>
                  <a:txBody>
                    <a:bodyPr/>
                    <a:lstStyle/>
                    <a:p>
                      <a:pPr indent="0" marL="0">
                        <a:lnSpc>
                          <a:spcPts val="1750"/>
                        </a:lnSpc>
                        <a:buNone/>
                      </a:pPr>
                      <a:r>
                        <a:rPr lang="en-US" sz="1250" dirty="0">
                          <a:solidFill>
                            <a:srgbClr val="1F2A24"/>
                          </a:solidFill>
                          <a:latin typeface="IBM Plex Sans Thai" pitchFamily="34" charset="0"/>
                          <a:ea typeface="IBM Plex Sans Thai" pitchFamily="34" charset="-122"/>
                          <a:cs typeface="IBM Plex Sans Thai" pitchFamily="34" charset="-120"/>
                        </a:rPr>
                        <a:t>Activity Map (หน้า 13)</a:t>
                      </a:r>
                      <a:endParaRPr lang="en-US" sz="1250" dirty="0">
                        <a:latin typeface="IBM Plex Sans Thai" charset="0"/>
                        <a:ea typeface="IBM Plex Sans Thai" charset="0"/>
                        <a:cs typeface="IBM Plex Sans Thai" charset="0"/>
                      </a:endParaRPr>
                    </a:p>
                  </a:txBody>
                  <a:tcPr marL="55563" marR="55563" marT="55563" marB="55563" anchor="t">
                    <a:lnL w="12700" cap="flat" cmpd="sng" algn="ctr">
                      <a:solidFill>
                        <a:srgbClr val="C5C3BC"/>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1"/>
                    </a:solidFill>
                  </a:tcPr>
                </a:tc>
                <a:tc>
                  <a:txBody>
                    <a:bodyPr/>
                    <a:lstStyle/>
                    <a:p>
                      <a:pPr indent="0" marL="0">
                        <a:lnSpc>
                          <a:spcPts val="1750"/>
                        </a:lnSpc>
                        <a:buNone/>
                      </a:pPr>
                      <a:r>
                        <a:rPr lang="en-US" sz="1250" dirty="0">
                          <a:solidFill>
                            <a:srgbClr val="1F2A24"/>
                          </a:solidFill>
                          <a:latin typeface="IBM Plex Sans Thai" pitchFamily="34" charset="0"/>
                          <a:ea typeface="IBM Plex Sans Thai" pitchFamily="34" charset="-122"/>
                          <a:cs typeface="IBM Plex Sans Thai" pitchFamily="34" charset="-120"/>
                        </a:rPr>
                        <a:t>"Help customers choose", "Stay in touch with people who smelled it", "Collect real feedback"</a:t>
                      </a:r>
                      <a:endParaRPr lang="en-US" sz="1250" dirty="0">
                        <a:latin typeface="IBM Plex Sans Thai" charset="0"/>
                        <a:ea typeface="IBM Plex Sans Thai" charset="0"/>
                        <a:cs typeface="IBM Plex Sans Thai" charset="0"/>
                      </a:endParaRPr>
                    </a:p>
                  </a:txBody>
                  <a:tcPr marL="55563" marR="55563" marT="55563" marB="55563" anchor="t">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1"/>
                    </a:solidFill>
                  </a:tcPr>
                </a:tc>
                <a:tc>
                  <a:txBody>
                    <a:bodyPr/>
                    <a:lstStyle/>
                    <a:p>
                      <a:pPr indent="0" marL="0">
                        <a:lnSpc>
                          <a:spcPts val="1750"/>
                        </a:lnSpc>
                        <a:buNone/>
                      </a:pPr>
                      <a:r>
                        <a:rPr lang="en-US" sz="1250" dirty="0">
                          <a:solidFill>
                            <a:srgbClr val="1F2A24"/>
                          </a:solidFill>
                          <a:latin typeface="IBM Plex Sans Thai" pitchFamily="34" charset="0"/>
                          <a:ea typeface="IBM Plex Sans Thai" pitchFamily="34" charset="-122"/>
                          <a:cs typeface="IBM Plex Sans Thai" pitchFamily="34" charset="-120"/>
                        </a:rPr>
                        <a:t>ทำ 3 กิจกรรมนี้พร้อมกันในช่องทางเดียว</a:t>
                      </a:r>
                      <a:endParaRPr lang="en-US" sz="1250" dirty="0">
                        <a:latin typeface="IBM Plex Sans Thai" charset="0"/>
                        <a:ea typeface="IBM Plex Sans Thai" charset="0"/>
                        <a:cs typeface="IBM Plex Sans Thai" charset="0"/>
                      </a:endParaRPr>
                    </a:p>
                  </a:txBody>
                  <a:tcPr marL="55563" marR="55563" marT="55563" marB="55563" anchor="t">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1"/>
                    </a:solidFill>
                  </a:tcPr>
                </a:tc>
              </a:tr>
            </a:tbl>
          </a:graphicData>
        </a:graphic>
      </p:graphicFrame>
      <p:sp>
        <p:nvSpPr>
          <p:cNvPr id="5" name="Text 2"/>
          <p:cNvSpPr/>
          <p:nvPr/>
        </p:nvSpPr>
        <p:spPr>
          <a:xfrm>
            <a:off x="812800" y="4472253"/>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A4532E"/>
                </a:solidFill>
                <a:latin typeface="IBM Plex Sans Thai" pitchFamily="34" charset="0"/>
                <a:ea typeface="IBM Plex Sans Thai" pitchFamily="34" charset="-122"/>
                <a:cs typeface="IBM Plex Sans Thai" pitchFamily="34" charset="-120"/>
              </a:rPr>
              <a:t>ข้อสังเกต:</a:t>
            </a:r>
            <a:r>
              <a:rPr lang="en-US" sz="1300" dirty="0">
                <a:solidFill>
                  <a:srgbClr val="3D4A42"/>
                </a:solidFill>
                <a:latin typeface="IBM Plex Sans Thai" pitchFamily="34" charset="0"/>
                <a:ea typeface="IBM Plex Sans Thai" pitchFamily="34" charset="-122"/>
                <a:cs typeface="IBM Plex Sans Thai" pitchFamily="34" charset="-120"/>
              </a:rPr>
              <a:t> VRIO ประเมินว่า CRM และ quiz เป็น </a:t>
            </a:r>
            <a:r>
              <a:rPr lang="en-US" sz="1300" b="1" dirty="0">
                <a:solidFill>
                  <a:srgbClr val="3D4A42"/>
                </a:solidFill>
                <a:latin typeface="IBM Plex Sans Thai" pitchFamily="34" charset="0"/>
                <a:ea typeface="IBM Plex Sans Thai" pitchFamily="34" charset="-122"/>
                <a:cs typeface="IBM Plex Sans Thai" pitchFamily="34" charset="-120"/>
              </a:rPr>
              <a:t>Parity</a:t>
            </a:r>
            <a:r>
              <a:rPr lang="en-US" sz="1300" dirty="0">
                <a:solidFill>
                  <a:srgbClr val="3D4A42"/>
                </a:solidFill>
                <a:latin typeface="IBM Plex Sans Thai" pitchFamily="34" charset="0"/>
                <a:ea typeface="IBM Plex Sans Thai" pitchFamily="34" charset="-122"/>
                <a:cs typeface="IBM Plex Sans Thai" pitchFamily="34" charset="-120"/>
              </a:rPr>
              <a:t> ความแตกต่างจึงอยู่ที่ข้อมูลและ brand voice ไม่ได้อยู่ที่ software</a:t>
            </a:r>
            <a:endParaRPr lang="en-US" sz="1300" dirty="0"/>
          </a:p>
        </p:txBody>
      </p:sp>
      <p:sp>
        <p:nvSpPr>
          <p:cNvPr id="6" name="Text 3"/>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F68"/>
                </a:solidFill>
                <a:latin typeface="IBM Plex Sans Thai" pitchFamily="34" charset="0"/>
                <a:ea typeface="IBM Plex Sans Thai" pitchFamily="34" charset="-122"/>
                <a:cs typeface="IBM Plex Sans Thai" pitchFamily="34" charset="-120"/>
              </a:rPr>
              <a:t>BIS609 · BitterSweet × Agentic AI on LINE OA</a:t>
            </a:r>
            <a:endParaRPr lang="en-US" sz="1200" dirty="0"/>
          </a:p>
        </p:txBody>
      </p:sp>
      <p:sp>
        <p:nvSpPr>
          <p:cNvPr id="7" name="Text 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F68"/>
                </a:solidFill>
                <a:latin typeface="IBM Plex Sans Thai" pitchFamily="34" charset="0"/>
                <a:ea typeface="IBM Plex Sans Thai" pitchFamily="34" charset="-122"/>
                <a:cs typeface="IBM Plex Sans Thai" pitchFamily="34" charset="-120"/>
              </a:rPr>
              <a:t>04 / 16</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4532E"/>
                </a:solidFill>
                <a:latin typeface="IBM Plex Sans Thai" pitchFamily="34" charset="0"/>
                <a:ea typeface="IBM Plex Sans Thai" pitchFamily="34" charset="-122"/>
                <a:cs typeface="IBM Plex Sans Thai" pitchFamily="34" charset="-120"/>
              </a:rPr>
              <a:t>STRATEGIC FIT · L06 + DIGITAL TECHNOLOGY POLICY (BIS608 หน้า 29–30)</a:t>
            </a:r>
            <a:endParaRPr lang="en-US" sz="1200" dirty="0"/>
          </a:p>
        </p:txBody>
      </p:sp>
      <p:sp>
        <p:nvSpPr>
          <p:cNvPr id="3" name="Text 1"/>
          <p:cNvSpPr/>
          <p:nvPr>
            <p:ph type="title"/>
          </p:nvPr>
        </p:nvSpPr>
        <p:spPr>
          <a:xfrm>
            <a:off x="812800" y="1229320"/>
            <a:ext cx="10883392" cy="452107"/>
          </a:xfrm>
          <a:prstGeom prst="rect">
            <a:avLst/>
          </a:prstGeom>
          <a:noFill/>
          <a:ln/>
        </p:spPr>
        <p:txBody>
          <a:bodyPr wrap="square" lIns="0" tIns="0" rIns="0" bIns="0" rtlCol="0" anchor="t">
            <a:normAutofit/>
          </a:bodyPr>
          <a:lstStyle/>
          <a:p>
            <a:pPr algn="l" indent="0" marL="0">
              <a:lnSpc>
                <a:spcPts val="3360"/>
              </a:lnSpc>
              <a:buNone/>
            </a:pPr>
            <a:r>
              <a:rPr lang="en-US" sz="2800" b="1" i="0" dirty="0">
                <a:solidFill>
                  <a:srgbClr val="1F3D2B"/>
                </a:solidFill>
                <a:latin typeface="Noto Serif Thai" pitchFamily="18" charset="0"/>
                <a:ea typeface="Noto Serif Thai" pitchFamily="18" charset="-122"/>
                <a:cs typeface="Noto Serif Thai" pitchFamily="18" charset="-120"/>
              </a:rPr>
              <a:t>ซื้อสมอง ยืมช่องทาง สร้างความรู้และความสัมพันธ์เอง</a:t>
            </a:r>
            <a:endParaRPr lang="en-US" sz="2800" dirty="0"/>
          </a:p>
        </p:txBody>
      </p:sp>
      <p:sp>
        <p:nvSpPr>
          <p:cNvPr id="4" name="Shape 2"/>
          <p:cNvSpPr/>
          <p:nvPr/>
        </p:nvSpPr>
        <p:spPr>
          <a:xfrm>
            <a:off x="819150" y="1865579"/>
            <a:ext cx="3416300" cy="1490663"/>
          </a:xfrm>
          <a:prstGeom prst="roundRect">
            <a:avLst>
              <a:gd name="adj" fmla="val 7242"/>
            </a:avLst>
          </a:prstGeom>
          <a:solidFill>
            <a:srgbClr val="FFFDF8"/>
          </a:solidFill>
          <a:ln w="12700">
            <a:solidFill>
              <a:srgbClr val="E4DED2"/>
            </a:solidFill>
            <a:prstDash val="solid"/>
          </a:ln>
        </p:spPr>
      </p:sp>
      <p:sp>
        <p:nvSpPr>
          <p:cNvPr id="5" name="Text 3"/>
          <p:cNvSpPr/>
          <p:nvPr/>
        </p:nvSpPr>
        <p:spPr>
          <a:xfrm>
            <a:off x="1016000" y="2049729"/>
            <a:ext cx="3113278"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2F5D43"/>
                </a:solidFill>
                <a:latin typeface="Noto Serif Thai" pitchFamily="18" charset="0"/>
                <a:ea typeface="Noto Serif Thai" pitchFamily="18" charset="-122"/>
                <a:cs typeface="Noto Serif Thai" pitchFamily="18" charset="-120"/>
              </a:rPr>
              <a:t>Borrow</a:t>
            </a:r>
            <a:endParaRPr lang="en-US" sz="2000" dirty="0"/>
          </a:p>
        </p:txBody>
      </p:sp>
      <p:sp>
        <p:nvSpPr>
          <p:cNvPr id="6" name="Text 4"/>
          <p:cNvSpPr/>
          <p:nvPr/>
        </p:nvSpPr>
        <p:spPr>
          <a:xfrm>
            <a:off x="1016000" y="2481529"/>
            <a:ext cx="3113278" cy="715963"/>
          </a:xfrm>
          <a:prstGeom prst="rect">
            <a:avLst/>
          </a:prstGeom>
          <a:noFill/>
          <a:ln/>
        </p:spPr>
        <p:txBody>
          <a:bodyPr wrap="square" lIns="0" tIns="0" rIns="0" bIns="0" rtlCol="0" anchor="t">
            <a:normAutofit/>
          </a:bodyPr>
          <a:lstStyle/>
          <a:p>
            <a:pPr algn="l" indent="0" marL="0">
              <a:lnSpc>
                <a:spcPts val="1813"/>
              </a:lnSpc>
              <a:buNone/>
            </a:pPr>
            <a:r>
              <a:rPr lang="en-US" sz="1250" dirty="0">
                <a:solidFill>
                  <a:srgbClr val="3D4A42"/>
                </a:solidFill>
                <a:latin typeface="IBM Plex Sans Thai" pitchFamily="34" charset="0"/>
                <a:ea typeface="IBM Plex Sans Thai" pitchFamily="34" charset="-122"/>
                <a:cs typeface="IBM Plex Sans Thai" pitchFamily="34" charset="-120"/>
              </a:rPr>
              <a:t>LINE OA: Messaging API, Rich Menu</a:t>
            </a:r>
            <a:endParaRPr lang="en-US" sz="1250" dirty="0"/>
          </a:p>
          <a:p>
            <a:pPr algn="l" indent="0" marL="0">
              <a:lnSpc>
                <a:spcPts val="1813"/>
              </a:lnSpc>
              <a:buNone/>
            </a:pPr>
            <a:r>
              <a:rPr lang="en-US" sz="1250" dirty="0">
                <a:solidFill>
                  <a:srgbClr val="3D4A42"/>
                </a:solidFill>
                <a:latin typeface="IBM Plex Sans Thai" pitchFamily="34" charset="0"/>
                <a:ea typeface="IBM Plex Sans Thai" pitchFamily="34" charset="-122"/>
                <a:cs typeface="IBM Plex Sans Thai" pitchFamily="34" charset="-120"/>
              </a:rPr>
              <a:t>ลูกค้ามีแอปอยู่แล้ว ตรงกับ "No dedicated app at launch"</a:t>
            </a:r>
            <a:endParaRPr lang="en-US" sz="1250" dirty="0"/>
          </a:p>
        </p:txBody>
      </p:sp>
      <p:sp>
        <p:nvSpPr>
          <p:cNvPr id="7" name="Shape 5"/>
          <p:cNvSpPr/>
          <p:nvPr/>
        </p:nvSpPr>
        <p:spPr>
          <a:xfrm>
            <a:off x="4400550" y="1865579"/>
            <a:ext cx="3416300" cy="1490663"/>
          </a:xfrm>
          <a:prstGeom prst="roundRect">
            <a:avLst>
              <a:gd name="adj" fmla="val 7242"/>
            </a:avLst>
          </a:prstGeom>
          <a:solidFill>
            <a:srgbClr val="FFFDF8"/>
          </a:solidFill>
          <a:ln w="12700">
            <a:solidFill>
              <a:srgbClr val="E4DED2"/>
            </a:solidFill>
            <a:prstDash val="solid"/>
          </a:ln>
        </p:spPr>
      </p:sp>
      <p:sp>
        <p:nvSpPr>
          <p:cNvPr id="8" name="Text 6"/>
          <p:cNvSpPr/>
          <p:nvPr/>
        </p:nvSpPr>
        <p:spPr>
          <a:xfrm>
            <a:off x="4597400" y="2049729"/>
            <a:ext cx="3113278"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2F5D43"/>
                </a:solidFill>
                <a:latin typeface="Noto Serif Thai" pitchFamily="18" charset="0"/>
                <a:ea typeface="Noto Serif Thai" pitchFamily="18" charset="-122"/>
                <a:cs typeface="Noto Serif Thai" pitchFamily="18" charset="-120"/>
              </a:rPr>
              <a:t>Buy</a:t>
            </a:r>
            <a:endParaRPr lang="en-US" sz="2000" dirty="0"/>
          </a:p>
        </p:txBody>
      </p:sp>
      <p:sp>
        <p:nvSpPr>
          <p:cNvPr id="9" name="Text 7"/>
          <p:cNvSpPr/>
          <p:nvPr/>
        </p:nvSpPr>
        <p:spPr>
          <a:xfrm>
            <a:off x="4597400" y="2481529"/>
            <a:ext cx="3113278" cy="485775"/>
          </a:xfrm>
          <a:prstGeom prst="rect">
            <a:avLst/>
          </a:prstGeom>
          <a:noFill/>
          <a:ln/>
        </p:spPr>
        <p:txBody>
          <a:bodyPr wrap="square" lIns="0" tIns="0" rIns="0" bIns="0" rtlCol="0" anchor="t">
            <a:normAutofit/>
          </a:bodyPr>
          <a:lstStyle/>
          <a:p>
            <a:pPr algn="l" indent="0" marL="0">
              <a:lnSpc>
                <a:spcPts val="1813"/>
              </a:lnSpc>
              <a:buNone/>
            </a:pPr>
            <a:r>
              <a:rPr lang="en-US" sz="1250" dirty="0">
                <a:solidFill>
                  <a:srgbClr val="3D4A42"/>
                </a:solidFill>
                <a:latin typeface="IBM Plex Sans Thai" pitchFamily="34" charset="0"/>
                <a:ea typeface="IBM Plex Sans Thai" pitchFamily="34" charset="-122"/>
                <a:cs typeface="IBM Plex Sans Thai" pitchFamily="34" charset="-120"/>
              </a:rPr>
              <a:t>LLM API · chatbot platform · CRM</a:t>
            </a:r>
            <a:endParaRPr lang="en-US" sz="1250" dirty="0"/>
          </a:p>
          <a:p>
            <a:pPr algn="l" indent="0" marL="0">
              <a:lnSpc>
                <a:spcPts val="1813"/>
              </a:lnSpc>
              <a:buNone/>
            </a:pPr>
            <a:r>
              <a:rPr lang="en-US" sz="1250" dirty="0">
                <a:solidFill>
                  <a:srgbClr val="3D4A42"/>
                </a:solidFill>
                <a:latin typeface="IBM Plex Sans Thai" pitchFamily="34" charset="0"/>
                <a:ea typeface="IBM Plex Sans Thai" pitchFamily="34" charset="-122"/>
                <a:cs typeface="IBM Plex Sans Thai" pitchFamily="34" charset="-120"/>
              </a:rPr>
              <a:t>เป็น commodity ที่ VRIO ประเมินว่า Parity</a:t>
            </a:r>
            <a:endParaRPr lang="en-US" sz="1250" dirty="0"/>
          </a:p>
        </p:txBody>
      </p:sp>
      <p:sp>
        <p:nvSpPr>
          <p:cNvPr id="10" name="Shape 8"/>
          <p:cNvSpPr/>
          <p:nvPr/>
        </p:nvSpPr>
        <p:spPr>
          <a:xfrm>
            <a:off x="7975600" y="1859229"/>
            <a:ext cx="3403600" cy="1503363"/>
          </a:xfrm>
          <a:prstGeom prst="roundRect">
            <a:avLst>
              <a:gd name="adj" fmla="val 7603"/>
            </a:avLst>
          </a:prstGeom>
          <a:solidFill>
            <a:srgbClr val="1F3D2B"/>
          </a:solidFill>
          <a:ln/>
        </p:spPr>
      </p:sp>
      <p:sp>
        <p:nvSpPr>
          <p:cNvPr id="11" name="Text 9"/>
          <p:cNvSpPr/>
          <p:nvPr/>
        </p:nvSpPr>
        <p:spPr>
          <a:xfrm>
            <a:off x="8166100" y="2037029"/>
            <a:ext cx="3113278"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E8A07A"/>
                </a:solidFill>
                <a:latin typeface="Noto Serif Thai" pitchFamily="18" charset="0"/>
                <a:ea typeface="Noto Serif Thai" pitchFamily="18" charset="-122"/>
                <a:cs typeface="Noto Serif Thai" pitchFamily="18" charset="-120"/>
              </a:rPr>
              <a:t>Build</a:t>
            </a:r>
            <a:endParaRPr lang="en-US" sz="2000" dirty="0"/>
          </a:p>
        </p:txBody>
      </p:sp>
      <p:sp>
        <p:nvSpPr>
          <p:cNvPr id="12" name="Text 10"/>
          <p:cNvSpPr/>
          <p:nvPr/>
        </p:nvSpPr>
        <p:spPr>
          <a:xfrm>
            <a:off x="8166100" y="2468829"/>
            <a:ext cx="3113278" cy="485775"/>
          </a:xfrm>
          <a:prstGeom prst="rect">
            <a:avLst/>
          </a:prstGeom>
          <a:noFill/>
          <a:ln/>
        </p:spPr>
        <p:txBody>
          <a:bodyPr wrap="square" lIns="0" tIns="0" rIns="0" bIns="0" rtlCol="0" anchor="t">
            <a:normAutofit/>
          </a:bodyPr>
          <a:lstStyle/>
          <a:p>
            <a:pPr algn="l" indent="0" marL="0">
              <a:lnSpc>
                <a:spcPts val="1813"/>
              </a:lnSpc>
              <a:buNone/>
            </a:pPr>
            <a:r>
              <a:rPr lang="en-US" sz="1250" dirty="0">
                <a:solidFill>
                  <a:srgbClr val="D9E3DA"/>
                </a:solidFill>
                <a:latin typeface="IBM Plex Sans Thai" pitchFamily="34" charset="0"/>
                <a:ea typeface="IBM Plex Sans Thai" pitchFamily="34" charset="-122"/>
                <a:cs typeface="IBM Plex Sans Thai" pitchFamily="34" charset="-120"/>
              </a:rPr>
              <a:t>Knowledge base ของกลิ่น 2 ภาษา · Brand voice · ข้อมูล scent profile ของลูกค้า</a:t>
            </a:r>
            <a:endParaRPr lang="en-US" sz="12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825500" y="3578492"/>
          <a:ext cx="10553700" cy="1384300"/>
        </p:xfrm>
        <a:graphic>
          <a:graphicData uri="http://schemas.openxmlformats.org/drawingml/2006/table">
            <a:tbl>
              <a:tblPr/>
              <a:tblGrid>
                <a:gridCol w="1899666"/>
                <a:gridCol w="8654034"/>
              </a:tblGrid>
              <a:tr h="346075">
                <a:tc>
                  <a:txBody>
                    <a:bodyPr/>
                    <a:lstStyle/>
                    <a:p>
                      <a:pPr indent="0" marL="0">
                        <a:lnSpc>
                          <a:spcPts val="1750"/>
                        </a:lnSpc>
                        <a:buNone/>
                      </a:pPr>
                      <a:r>
                        <a:rPr lang="en-US" sz="1250" b="1" dirty="0">
                          <a:solidFill>
                            <a:srgbClr val="1F2A24"/>
                          </a:solidFill>
                          <a:latin typeface="IBM Plex Sans Thai" pitchFamily="34" charset="0"/>
                          <a:ea typeface="IBM Plex Sans Thai" pitchFamily="34" charset="-122"/>
                          <a:cs typeface="IBM Plex Sans Thai" pitchFamily="34" charset="-120"/>
                        </a:rPr>
                        <a:t>Strategic Fit</a:t>
                      </a:r>
                      <a:endParaRPr lang="en-US" sz="1250" dirty="0">
                        <a:latin typeface="IBM Plex Sans Thai" charset="0"/>
                        <a:ea typeface="IBM Plex Sans Thai" charset="0"/>
                        <a:cs typeface="IBM Plex Sans Thai" charset="0"/>
                      </a:endParaRPr>
                    </a:p>
                  </a:txBody>
                  <a:tcPr marL="55563" marR="55563" marT="55563" marB="55563" anchor="t">
                    <a:lnL w="12700" cap="flat" cmpd="sng" algn="ctr">
                      <a:solidFill>
                        <a:srgbClr val="C5C3BC"/>
                      </a:solidFill>
                      <a:prstDash val="solid"/>
                      <a:round/>
                      <a:headEnd type="none" w="med" len="med"/>
                      <a:tailEnd type="none" w="med" len="med"/>
                    </a:lnL>
                    <a:lnR w="12700" cap="flat" cmpd="sng" algn="ctr">
                      <a:solidFill>
                        <a:srgbClr val="BBC0B9"/>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BBC0B9"/>
                      </a:solidFill>
                      <a:prstDash val="solid"/>
                      <a:round/>
                      <a:headEnd type="none" w="med" len="med"/>
                      <a:tailEnd type="none" w="med" len="med"/>
                    </a:lnB>
                    <a:solidFill>
                      <a:srgbClr val="EAF0E8"/>
                    </a:solidFill>
                  </a:tcPr>
                </a:tc>
                <a:tc>
                  <a:txBody>
                    <a:bodyPr/>
                    <a:lstStyle/>
                    <a:p>
                      <a:pPr indent="0" marL="0">
                        <a:lnSpc>
                          <a:spcPts val="1750"/>
                        </a:lnSpc>
                        <a:buNone/>
                      </a:pPr>
                      <a:r>
                        <a:rPr lang="en-US" sz="1250" b="1" dirty="0">
                          <a:solidFill>
                            <a:srgbClr val="1F2A24"/>
                          </a:solidFill>
                          <a:latin typeface="IBM Plex Sans Thai" pitchFamily="34" charset="0"/>
                          <a:ea typeface="IBM Plex Sans Thai" pitchFamily="34" charset="-122"/>
                          <a:cs typeface="IBM Plex Sans Thai" pitchFamily="34" charset="-120"/>
                        </a:rPr>
                        <a:t>การประเมิน (L06 p.11)</a:t>
                      </a:r>
                      <a:endParaRPr lang="en-US" sz="1250" dirty="0">
                        <a:latin typeface="IBM Plex Sans Thai" charset="0"/>
                        <a:ea typeface="IBM Plex Sans Thai" charset="0"/>
                        <a:cs typeface="IBM Plex Sans Thai" charset="0"/>
                      </a:endParaRPr>
                    </a:p>
                  </a:txBody>
                  <a:tcPr marL="55563" marR="55563" marT="55563" marB="55563" anchor="t">
                    <a:lnL w="12700" cap="flat" cmpd="sng" algn="ctr">
                      <a:solidFill>
                        <a:srgbClr val="BBC0B9"/>
                      </a:solidFill>
                      <a:prstDash val="solid"/>
                      <a:round/>
                      <a:headEnd type="none" w="med" len="med"/>
                      <a:tailEnd type="none" w="med" len="med"/>
                    </a:lnL>
                    <a:lnR w="12700" cap="flat" cmpd="sng" algn="ctr">
                      <a:solidFill>
                        <a:srgbClr val="BBC0B9"/>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BBC0B9"/>
                      </a:solidFill>
                      <a:prstDash val="solid"/>
                      <a:round/>
                      <a:headEnd type="none" w="med" len="med"/>
                      <a:tailEnd type="none" w="med" len="med"/>
                    </a:lnB>
                    <a:solidFill>
                      <a:srgbClr val="EAF0E8"/>
                    </a:solidFill>
                  </a:tcPr>
                </a:tc>
              </a:tr>
              <a:tr h="346075">
                <a:tc>
                  <a:txBody>
                    <a:bodyPr/>
                    <a:lstStyle/>
                    <a:p>
                      <a:pPr indent="0" marL="0">
                        <a:lnSpc>
                          <a:spcPts val="1750"/>
                        </a:lnSpc>
                        <a:buNone/>
                      </a:pPr>
                      <a:r>
                        <a:rPr lang="en-US" sz="1250" dirty="0">
                          <a:solidFill>
                            <a:srgbClr val="1F2A24"/>
                          </a:solidFill>
                          <a:latin typeface="IBM Plex Sans Thai" pitchFamily="34" charset="0"/>
                          <a:ea typeface="IBM Plex Sans Thai" pitchFamily="34" charset="-122"/>
                          <a:cs typeface="IBM Plex Sans Thai" pitchFamily="34" charset="-120"/>
                        </a:rPr>
                        <a:t>Internal</a:t>
                      </a:r>
                      <a:endParaRPr lang="en-US" sz="1250" dirty="0">
                        <a:latin typeface="IBM Plex Sans Thai" charset="0"/>
                        <a:ea typeface="IBM Plex Sans Thai" charset="0"/>
                        <a:cs typeface="IBM Plex Sans Thai" charset="0"/>
                      </a:endParaRPr>
                    </a:p>
                  </a:txBody>
                  <a:tcPr marL="55563" marR="55563" marT="55563" marB="55563" anchor="t">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BBC0B9"/>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indent="0" marL="0">
                        <a:lnSpc>
                          <a:spcPts val="1750"/>
                        </a:lnSpc>
                        <a:buNone/>
                      </a:pPr>
                      <a:r>
                        <a:rPr lang="en-US" sz="1250" dirty="0">
                          <a:solidFill>
                            <a:srgbClr val="1F2A24"/>
                          </a:solidFill>
                          <a:latin typeface="IBM Plex Sans Thai" pitchFamily="34" charset="0"/>
                          <a:ea typeface="IBM Plex Sans Thai" pitchFamily="34" charset="-122"/>
                          <a:cs typeface="IBM Plex Sans Thai" pitchFamily="34" charset="-120"/>
                        </a:rPr>
                        <a:t>ผ่านแบบมีเงื่อนไข: ทีม part-time จึงต้องใช้ platform สำเร็จรูป และ agent ต้องไม่ตอบแทน perfumer</a:t>
                      </a:r>
                      <a:endParaRPr lang="en-US" sz="1250" dirty="0">
                        <a:latin typeface="IBM Plex Sans Thai" charset="0"/>
                        <a:ea typeface="IBM Plex Sans Thai" charset="0"/>
                        <a:cs typeface="IBM Plex Sans Thai" charset="0"/>
                      </a:endParaRPr>
                    </a:p>
                  </a:txBody>
                  <a:tcPr marL="55563" marR="55563" marT="55563" marB="55563" anchor="t">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BBC0B9"/>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r>
              <a:tr h="346075">
                <a:tc>
                  <a:txBody>
                    <a:bodyPr/>
                    <a:lstStyle/>
                    <a:p>
                      <a:pPr indent="0" marL="0">
                        <a:lnSpc>
                          <a:spcPts val="1750"/>
                        </a:lnSpc>
                        <a:buNone/>
                      </a:pPr>
                      <a:r>
                        <a:rPr lang="en-US" sz="1250" dirty="0">
                          <a:solidFill>
                            <a:srgbClr val="1F2A24"/>
                          </a:solidFill>
                          <a:latin typeface="IBM Plex Sans Thai" pitchFamily="34" charset="0"/>
                          <a:ea typeface="IBM Plex Sans Thai" pitchFamily="34" charset="-122"/>
                          <a:cs typeface="IBM Plex Sans Thai" pitchFamily="34" charset="-120"/>
                        </a:rPr>
                        <a:t>External</a:t>
                      </a:r>
                      <a:endParaRPr lang="en-US" sz="1250" dirty="0">
                        <a:latin typeface="IBM Plex Sans Thai" charset="0"/>
                        <a:ea typeface="IBM Plex Sans Thai" charset="0"/>
                        <a:cs typeface="IBM Plex Sans Thai" charset="0"/>
                      </a:endParaRPr>
                    </a:p>
                  </a:txBody>
                  <a:tcPr marL="55563" marR="55563" marT="55563" marB="55563" anchor="t">
                    <a:lnL w="12700" cap="flat" cmpd="sng" algn="ctr">
                      <a:solidFill>
                        <a:srgbClr val="C5C3BC"/>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1"/>
                    </a:solidFill>
                  </a:tcPr>
                </a:tc>
                <a:tc>
                  <a:txBody>
                    <a:bodyPr/>
                    <a:lstStyle/>
                    <a:p>
                      <a:pPr indent="0" marL="0">
                        <a:lnSpc>
                          <a:spcPts val="1750"/>
                        </a:lnSpc>
                        <a:buNone/>
                      </a:pPr>
                      <a:r>
                        <a:rPr lang="en-US" sz="1250" dirty="0">
                          <a:solidFill>
                            <a:srgbClr val="1F2A24"/>
                          </a:solidFill>
                          <a:latin typeface="IBM Plex Sans Thai" pitchFamily="34" charset="0"/>
                          <a:ea typeface="IBM Plex Sans Thai" pitchFamily="34" charset="-122"/>
                          <a:cs typeface="IBM Plex Sans Thai" pitchFamily="34" charset="-120"/>
                        </a:rPr>
                        <a:t>ผ่าน: LINE 92.8% (L08 p.26) และไทยเป็นตลาด social commerce ที่แข็งแรงมาก</a:t>
                      </a:r>
                      <a:endParaRPr lang="en-US" sz="1250" dirty="0">
                        <a:latin typeface="IBM Plex Sans Thai" charset="0"/>
                        <a:ea typeface="IBM Plex Sans Thai" charset="0"/>
                        <a:cs typeface="IBM Plex Sans Thai" charset="0"/>
                      </a:endParaRPr>
                    </a:p>
                  </a:txBody>
                  <a:tcPr marL="55563" marR="55563" marT="55563" marB="55563" anchor="t">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1"/>
                    </a:solidFill>
                  </a:tcPr>
                </a:tc>
              </a:tr>
              <a:tr h="346075">
                <a:tc>
                  <a:txBody>
                    <a:bodyPr/>
                    <a:lstStyle/>
                    <a:p>
                      <a:pPr indent="0" marL="0">
                        <a:lnSpc>
                          <a:spcPts val="1750"/>
                        </a:lnSpc>
                        <a:buNone/>
                      </a:pPr>
                      <a:r>
                        <a:rPr lang="en-US" sz="1250" dirty="0">
                          <a:solidFill>
                            <a:srgbClr val="1F2A24"/>
                          </a:solidFill>
                          <a:latin typeface="IBM Plex Sans Thai" pitchFamily="34" charset="0"/>
                          <a:ea typeface="IBM Plex Sans Thai" pitchFamily="34" charset="-122"/>
                          <a:cs typeface="IBM Plex Sans Thai" pitchFamily="34" charset="-120"/>
                        </a:rPr>
                        <a:t>Future</a:t>
                      </a:r>
                      <a:endParaRPr lang="en-US" sz="1250" dirty="0">
                        <a:latin typeface="IBM Plex Sans Thai" charset="0"/>
                        <a:ea typeface="IBM Plex Sans Thai" charset="0"/>
                        <a:cs typeface="IBM Plex Sans Thai" charset="0"/>
                      </a:endParaRPr>
                    </a:p>
                  </a:txBody>
                  <a:tcPr marL="55563" marR="55563" marT="55563" marB="55563" anchor="t">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indent="0" marL="0">
                        <a:lnSpc>
                          <a:spcPts val="1750"/>
                        </a:lnSpc>
                        <a:buNone/>
                      </a:pPr>
                      <a:r>
                        <a:rPr lang="en-US" sz="1250" dirty="0">
                          <a:solidFill>
                            <a:srgbClr val="1F2A24"/>
                          </a:solidFill>
                          <a:latin typeface="IBM Plex Sans Thai" pitchFamily="34" charset="0"/>
                          <a:ea typeface="IBM Plex Sans Thai" pitchFamily="34" charset="-122"/>
                          <a:cs typeface="IBM Plex Sans Thai" pitchFamily="34" charset="-120"/>
                        </a:rPr>
                        <a:t>ผ่าน: สอดคล้องกับ BSC ข้อ L3 (bilingual voice) และ P3 (content that carries a smell)</a:t>
                      </a:r>
                      <a:endParaRPr lang="en-US" sz="1250" dirty="0">
                        <a:latin typeface="IBM Plex Sans Thai" charset="0"/>
                        <a:ea typeface="IBM Plex Sans Thai" charset="0"/>
                        <a:cs typeface="IBM Plex Sans Thai" charset="0"/>
                      </a:endParaRPr>
                    </a:p>
                  </a:txBody>
                  <a:tcPr marL="55563" marR="55563" marT="55563" marB="55563" anchor="t">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r>
            </a:tbl>
          </a:graphicData>
        </a:graphic>
      </p:graphicFrame>
      <p:sp>
        <p:nvSpPr>
          <p:cNvPr id="14" name="Text 11"/>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F68"/>
                </a:solidFill>
                <a:latin typeface="IBM Plex Sans Thai" pitchFamily="34" charset="0"/>
                <a:ea typeface="IBM Plex Sans Thai" pitchFamily="34" charset="-122"/>
                <a:cs typeface="IBM Plex Sans Thai" pitchFamily="34" charset="-120"/>
              </a:rPr>
              <a:t>BIS609 · BitterSweet × Agentic AI on LINE OA</a:t>
            </a:r>
            <a:endParaRPr lang="en-US" sz="1200" dirty="0"/>
          </a:p>
        </p:txBody>
      </p:sp>
      <p:sp>
        <p:nvSpPr>
          <p:cNvPr id="15" name="Text 12"/>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F68"/>
                </a:solidFill>
                <a:latin typeface="IBM Plex Sans Thai" pitchFamily="34" charset="0"/>
                <a:ea typeface="IBM Plex Sans Thai" pitchFamily="34" charset="-122"/>
                <a:cs typeface="IBM Plex Sans Thai" pitchFamily="34" charset="-120"/>
              </a:rPr>
              <a:t>05 / 16</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4532E"/>
                </a:solidFill>
                <a:latin typeface="IBM Plex Sans Thai" pitchFamily="34" charset="0"/>
                <a:ea typeface="IBM Plex Sans Thai" pitchFamily="34" charset="-122"/>
                <a:cs typeface="IBM Plex Sans Thai" pitchFamily="34" charset="-120"/>
              </a:rPr>
              <a:t>S · SITUATION · SWOT ของการใช้ AGENT (L07)</a:t>
            </a:r>
            <a:endParaRPr lang="en-US" sz="1200" dirty="0"/>
          </a:p>
        </p:txBody>
      </p:sp>
      <p:sp>
        <p:nvSpPr>
          <p:cNvPr id="3" name="Text 1"/>
          <p:cNvSpPr/>
          <p:nvPr>
            <p:ph type="title"/>
          </p:nvPr>
        </p:nvSpPr>
        <p:spPr>
          <a:xfrm>
            <a:off x="812800" y="1203920"/>
            <a:ext cx="10883392" cy="452107"/>
          </a:xfrm>
          <a:prstGeom prst="rect">
            <a:avLst/>
          </a:prstGeom>
          <a:noFill/>
          <a:ln/>
        </p:spPr>
        <p:txBody>
          <a:bodyPr wrap="square" lIns="0" tIns="0" rIns="0" bIns="0" rtlCol="0" anchor="t">
            <a:normAutofit/>
          </a:bodyPr>
          <a:lstStyle/>
          <a:p>
            <a:pPr algn="l" indent="0" marL="0">
              <a:lnSpc>
                <a:spcPts val="3360"/>
              </a:lnSpc>
              <a:buNone/>
            </a:pPr>
            <a:r>
              <a:rPr lang="en-US" sz="2800" b="1" i="0" dirty="0">
                <a:solidFill>
                  <a:srgbClr val="1F3D2B"/>
                </a:solidFill>
                <a:latin typeface="Noto Serif Thai" pitchFamily="18" charset="0"/>
                <a:ea typeface="Noto Serif Thai" pitchFamily="18" charset="-122"/>
                <a:cs typeface="Noto Serif Thai" pitchFamily="18" charset="-120"/>
              </a:rPr>
              <a:t>ความเป็นแบรนด์เล็กคือข้อได้เปรียบของ agent</a:t>
            </a:r>
            <a:endParaRPr lang="en-US" sz="2800" dirty="0"/>
          </a:p>
        </p:txBody>
      </p:sp>
      <p:sp>
        <p:nvSpPr>
          <p:cNvPr id="4" name="Shape 2"/>
          <p:cNvSpPr/>
          <p:nvPr/>
        </p:nvSpPr>
        <p:spPr>
          <a:xfrm>
            <a:off x="812800" y="1808429"/>
            <a:ext cx="5232400" cy="999331"/>
          </a:xfrm>
          <a:prstGeom prst="roundRect">
            <a:avLst>
              <a:gd name="adj" fmla="val 10167"/>
            </a:avLst>
          </a:prstGeom>
          <a:solidFill>
            <a:srgbClr val="EAF0E8"/>
          </a:solidFill>
          <a:ln/>
        </p:spPr>
      </p:sp>
      <p:sp>
        <p:nvSpPr>
          <p:cNvPr id="5" name="Text 3"/>
          <p:cNvSpPr/>
          <p:nvPr/>
        </p:nvSpPr>
        <p:spPr>
          <a:xfrm>
            <a:off x="990600" y="1948129"/>
            <a:ext cx="5023104" cy="265377"/>
          </a:xfrm>
          <a:prstGeom prst="rect">
            <a:avLst/>
          </a:prstGeom>
          <a:noFill/>
          <a:ln/>
        </p:spPr>
        <p:txBody>
          <a:bodyPr wrap="square" lIns="0" tIns="0" rIns="0" bIns="0" rtlCol="0" anchor="t">
            <a:normAutofit/>
          </a:bodyPr>
          <a:lstStyle/>
          <a:p>
            <a:pPr algn="l" indent="0" marL="0">
              <a:lnSpc>
                <a:spcPts val="1890"/>
              </a:lnSpc>
              <a:buNone/>
            </a:pPr>
            <a:r>
              <a:rPr lang="en-US" sz="1350" b="1" dirty="0">
                <a:solidFill>
                  <a:srgbClr val="2F5D43"/>
                </a:solidFill>
                <a:latin typeface="IBM Plex Sans Thai" pitchFamily="34" charset="0"/>
                <a:ea typeface="IBM Plex Sans Thai" pitchFamily="34" charset="-122"/>
                <a:cs typeface="IBM Plex Sans Thai" pitchFamily="34" charset="-120"/>
              </a:rPr>
              <a:t>Strengths</a:t>
            </a:r>
            <a:endParaRPr lang="en-US" sz="1350" dirty="0"/>
          </a:p>
        </p:txBody>
      </p:sp>
      <p:sp>
        <p:nvSpPr>
          <p:cNvPr id="6" name="Text 4"/>
          <p:cNvSpPr/>
          <p:nvPr/>
        </p:nvSpPr>
        <p:spPr>
          <a:xfrm>
            <a:off x="990600" y="2226205"/>
            <a:ext cx="5023104" cy="467254"/>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F2A24"/>
                </a:solidFill>
                <a:latin typeface="IBM Plex Sans Thai" pitchFamily="34" charset="0"/>
                <a:ea typeface="IBM Plex Sans Thai" pitchFamily="34" charset="-122"/>
                <a:cs typeface="IBM Plex Sans Thai" pitchFamily="34" charset="-120"/>
              </a:rPr>
              <a:t>Knowledge base เล็กและชัด (3 กลิ่น โครงเดียว) · Honesty เป็นแนวคำตอบ · บูธให้ lead คุณภาพสูง</a:t>
            </a:r>
            <a:endParaRPr lang="en-US" sz="1200" dirty="0"/>
          </a:p>
        </p:txBody>
      </p:sp>
      <p:sp>
        <p:nvSpPr>
          <p:cNvPr id="7" name="Shape 5"/>
          <p:cNvSpPr/>
          <p:nvPr/>
        </p:nvSpPr>
        <p:spPr>
          <a:xfrm>
            <a:off x="6146800" y="1808429"/>
            <a:ext cx="5232400" cy="999331"/>
          </a:xfrm>
          <a:prstGeom prst="roundRect">
            <a:avLst>
              <a:gd name="adj" fmla="val 10167"/>
            </a:avLst>
          </a:prstGeom>
          <a:solidFill>
            <a:srgbClr val="F3DCCB"/>
          </a:solidFill>
          <a:ln/>
        </p:spPr>
      </p:sp>
      <p:sp>
        <p:nvSpPr>
          <p:cNvPr id="8" name="Text 6"/>
          <p:cNvSpPr/>
          <p:nvPr/>
        </p:nvSpPr>
        <p:spPr>
          <a:xfrm>
            <a:off x="6324600" y="1948129"/>
            <a:ext cx="5023104" cy="265377"/>
          </a:xfrm>
          <a:prstGeom prst="rect">
            <a:avLst/>
          </a:prstGeom>
          <a:noFill/>
          <a:ln/>
        </p:spPr>
        <p:txBody>
          <a:bodyPr wrap="square" lIns="0" tIns="0" rIns="0" bIns="0" rtlCol="0" anchor="t">
            <a:normAutofit/>
          </a:bodyPr>
          <a:lstStyle/>
          <a:p>
            <a:pPr algn="l" indent="0" marL="0">
              <a:lnSpc>
                <a:spcPts val="1890"/>
              </a:lnSpc>
              <a:buNone/>
            </a:pPr>
            <a:r>
              <a:rPr lang="en-US" sz="1350" b="1" dirty="0">
                <a:solidFill>
                  <a:srgbClr val="8A3F1F"/>
                </a:solidFill>
                <a:latin typeface="IBM Plex Sans Thai" pitchFamily="34" charset="0"/>
                <a:ea typeface="IBM Plex Sans Thai" pitchFamily="34" charset="-122"/>
                <a:cs typeface="IBM Plex Sans Thai" pitchFamily="34" charset="-120"/>
              </a:rPr>
              <a:t>Weaknesses</a:t>
            </a:r>
            <a:endParaRPr lang="en-US" sz="1350" dirty="0"/>
          </a:p>
        </p:txBody>
      </p:sp>
      <p:sp>
        <p:nvSpPr>
          <p:cNvPr id="9" name="Text 7"/>
          <p:cNvSpPr/>
          <p:nvPr/>
        </p:nvSpPr>
        <p:spPr>
          <a:xfrm>
            <a:off x="6324600" y="2226205"/>
            <a:ext cx="5023104" cy="467254"/>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F2A24"/>
                </a:solidFill>
                <a:latin typeface="IBM Plex Sans Thai" pitchFamily="34" charset="0"/>
                <a:ea typeface="IBM Plex Sans Thai" pitchFamily="34" charset="-122"/>
                <a:cs typeface="IBM Plex Sans Thai" pitchFamily="34" charset="-120"/>
              </a:rPr>
              <a:t>ทีม part-time · ยังไม่มี customer list · ปริมาณแชตต่ำ ทำให้ economies of scale ของ AI น้อย</a:t>
            </a:r>
            <a:endParaRPr lang="en-US" sz="1200" dirty="0"/>
          </a:p>
        </p:txBody>
      </p:sp>
      <p:sp>
        <p:nvSpPr>
          <p:cNvPr id="10" name="Shape 8"/>
          <p:cNvSpPr/>
          <p:nvPr/>
        </p:nvSpPr>
        <p:spPr>
          <a:xfrm>
            <a:off x="812800" y="2909360"/>
            <a:ext cx="5232400" cy="999331"/>
          </a:xfrm>
          <a:prstGeom prst="roundRect">
            <a:avLst>
              <a:gd name="adj" fmla="val 10167"/>
            </a:avLst>
          </a:prstGeom>
          <a:solidFill>
            <a:srgbClr val="EAF0E8"/>
          </a:solidFill>
          <a:ln/>
        </p:spPr>
      </p:sp>
      <p:sp>
        <p:nvSpPr>
          <p:cNvPr id="11" name="Text 9"/>
          <p:cNvSpPr/>
          <p:nvPr/>
        </p:nvSpPr>
        <p:spPr>
          <a:xfrm>
            <a:off x="990600" y="3049060"/>
            <a:ext cx="5023104" cy="265377"/>
          </a:xfrm>
          <a:prstGeom prst="rect">
            <a:avLst/>
          </a:prstGeom>
          <a:noFill/>
          <a:ln/>
        </p:spPr>
        <p:txBody>
          <a:bodyPr wrap="square" lIns="0" tIns="0" rIns="0" bIns="0" rtlCol="0" anchor="t">
            <a:normAutofit/>
          </a:bodyPr>
          <a:lstStyle/>
          <a:p>
            <a:pPr algn="l" indent="0" marL="0">
              <a:lnSpc>
                <a:spcPts val="1890"/>
              </a:lnSpc>
              <a:buNone/>
            </a:pPr>
            <a:r>
              <a:rPr lang="en-US" sz="1350" b="1" dirty="0">
                <a:solidFill>
                  <a:srgbClr val="2F5D43"/>
                </a:solidFill>
                <a:latin typeface="IBM Plex Sans Thai" pitchFamily="34" charset="0"/>
                <a:ea typeface="IBM Plex Sans Thai" pitchFamily="34" charset="-122"/>
                <a:cs typeface="IBM Plex Sans Thai" pitchFamily="34" charset="-120"/>
              </a:rPr>
              <a:t>Opportunities</a:t>
            </a:r>
            <a:endParaRPr lang="en-US" sz="1350" dirty="0"/>
          </a:p>
        </p:txBody>
      </p:sp>
      <p:sp>
        <p:nvSpPr>
          <p:cNvPr id="12" name="Text 10"/>
          <p:cNvSpPr/>
          <p:nvPr/>
        </p:nvSpPr>
        <p:spPr>
          <a:xfrm>
            <a:off x="990600" y="3327136"/>
            <a:ext cx="5023104" cy="467254"/>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F2A24"/>
                </a:solidFill>
                <a:latin typeface="IBM Plex Sans Thai" pitchFamily="34" charset="0"/>
                <a:ea typeface="IBM Plex Sans Thai" pitchFamily="34" charset="-122"/>
                <a:cs typeface="IBM Plex Sans Thai" pitchFamily="34" charset="-120"/>
              </a:rPr>
              <a:t>LINE ใช้ทุกวัน · ต้นทุน LLM ลดลง · set + voucher เป็นกลไก follow-up ที่ agent ทำได้ดี</a:t>
            </a:r>
            <a:endParaRPr lang="en-US" sz="1200" dirty="0"/>
          </a:p>
        </p:txBody>
      </p:sp>
      <p:sp>
        <p:nvSpPr>
          <p:cNvPr id="13" name="Shape 11"/>
          <p:cNvSpPr/>
          <p:nvPr/>
        </p:nvSpPr>
        <p:spPr>
          <a:xfrm>
            <a:off x="6146800" y="2909360"/>
            <a:ext cx="5232400" cy="999331"/>
          </a:xfrm>
          <a:prstGeom prst="roundRect">
            <a:avLst>
              <a:gd name="adj" fmla="val 10167"/>
            </a:avLst>
          </a:prstGeom>
          <a:solidFill>
            <a:srgbClr val="F3DCCB"/>
          </a:solidFill>
          <a:ln/>
        </p:spPr>
      </p:sp>
      <p:sp>
        <p:nvSpPr>
          <p:cNvPr id="14" name="Text 12"/>
          <p:cNvSpPr/>
          <p:nvPr/>
        </p:nvSpPr>
        <p:spPr>
          <a:xfrm>
            <a:off x="6324600" y="3049060"/>
            <a:ext cx="5023104" cy="265377"/>
          </a:xfrm>
          <a:prstGeom prst="rect">
            <a:avLst/>
          </a:prstGeom>
          <a:noFill/>
          <a:ln/>
        </p:spPr>
        <p:txBody>
          <a:bodyPr wrap="square" lIns="0" tIns="0" rIns="0" bIns="0" rtlCol="0" anchor="t">
            <a:normAutofit/>
          </a:bodyPr>
          <a:lstStyle/>
          <a:p>
            <a:pPr algn="l" indent="0" marL="0">
              <a:lnSpc>
                <a:spcPts val="1890"/>
              </a:lnSpc>
              <a:buNone/>
            </a:pPr>
            <a:r>
              <a:rPr lang="en-US" sz="1350" b="1" dirty="0">
                <a:solidFill>
                  <a:srgbClr val="8A3F1F"/>
                </a:solidFill>
                <a:latin typeface="IBM Plex Sans Thai" pitchFamily="34" charset="0"/>
                <a:ea typeface="IBM Plex Sans Thai" pitchFamily="34" charset="-122"/>
                <a:cs typeface="IBM Plex Sans Thai" pitchFamily="34" charset="-120"/>
              </a:rPr>
              <a:t>Threats</a:t>
            </a:r>
            <a:endParaRPr lang="en-US" sz="1350" dirty="0"/>
          </a:p>
        </p:txBody>
      </p:sp>
      <p:sp>
        <p:nvSpPr>
          <p:cNvPr id="15" name="Text 13"/>
          <p:cNvSpPr/>
          <p:nvPr/>
        </p:nvSpPr>
        <p:spPr>
          <a:xfrm>
            <a:off x="6324600" y="3327136"/>
            <a:ext cx="5023104" cy="467254"/>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F2A24"/>
                </a:solidFill>
                <a:latin typeface="IBM Plex Sans Thai" pitchFamily="34" charset="0"/>
                <a:ea typeface="IBM Plex Sans Thai" pitchFamily="34" charset="-122"/>
                <a:cs typeface="IBM Plex Sans Thai" pitchFamily="34" charset="-120"/>
              </a:rPr>
              <a:t>อ้างสรรพคุณผิดกฎ อย. · PDPA · ลูกค้า block · brand voice "เหมือนบอท" ทำลาย craft image</a:t>
            </a:r>
            <a:endParaRPr lang="en-US" sz="1200" dirty="0"/>
          </a:p>
        </p:txBody>
      </p:sp>
      <p:sp>
        <p:nvSpPr>
          <p:cNvPr id="16" name="Text 14"/>
          <p:cNvSpPr/>
          <p:nvPr/>
        </p:nvSpPr>
        <p:spPr>
          <a:xfrm>
            <a:off x="812800" y="4086492"/>
            <a:ext cx="5232400" cy="698500"/>
          </a:xfrm>
          <a:prstGeom prst="roundRect">
            <a:avLst>
              <a:gd name="adj" fmla="val 14545"/>
            </a:avLst>
          </a:prstGeom>
          <a:solidFill>
            <a:srgbClr val="1F3D2B"/>
          </a:solidFill>
          <a:ln/>
        </p:spPr>
        <p:txBody>
          <a:bodyPr wrap="square" lIns="148042" tIns="97242" rIns="1738" bIns="71842" rtlCol="0" anchor="t">
            <a:normAutofit/>
          </a:bodyPr>
          <a:lstStyle/>
          <a:p>
            <a:pPr algn="l" indent="0" marL="0">
              <a:lnSpc>
                <a:spcPts val="1750"/>
              </a:lnSpc>
              <a:buNone/>
            </a:pPr>
            <a:r>
              <a:rPr lang="en-US" sz="1250" b="1" dirty="0">
                <a:solidFill>
                  <a:srgbClr val="E8A07A"/>
                </a:solidFill>
                <a:latin typeface="IBM Plex Sans Thai" pitchFamily="34" charset="0"/>
                <a:ea typeface="IBM Plex Sans Thai" pitchFamily="34" charset="-122"/>
                <a:cs typeface="IBM Plex Sans Thai" pitchFamily="34" charset="-120"/>
              </a:rPr>
              <a:t>Legal:</a:t>
            </a:r>
            <a:r>
              <a:rPr lang="en-US" sz="1250" dirty="0">
                <a:solidFill>
                  <a:srgbClr val="F7F4EC"/>
                </a:solidFill>
                <a:latin typeface="IBM Plex Sans Thai" pitchFamily="34" charset="0"/>
                <a:ea typeface="IBM Plex Sans Thai" pitchFamily="34" charset="-122"/>
                <a:cs typeface="IBM Plex Sans Thai" pitchFamily="34" charset="-120"/>
              </a:rPr>
              <a:t> น้ำหอมเป็นเครื่องสำอาง ต้องจดแจ้ง อย. ก่อนขาย agent จึงห้ามรับออร์เดอร์จนกว่าจะได้เลขจดแจ้ง</a:t>
            </a:r>
            <a:endParaRPr lang="en-US" sz="1250" dirty="0"/>
          </a:p>
        </p:txBody>
      </p:sp>
      <p:sp>
        <p:nvSpPr>
          <p:cNvPr id="17" name="Text 15"/>
          <p:cNvSpPr/>
          <p:nvPr/>
        </p:nvSpPr>
        <p:spPr>
          <a:xfrm>
            <a:off x="6146800" y="4086492"/>
            <a:ext cx="5232400" cy="698500"/>
          </a:xfrm>
          <a:prstGeom prst="roundRect">
            <a:avLst>
              <a:gd name="adj" fmla="val 14545"/>
            </a:avLst>
          </a:prstGeom>
          <a:solidFill>
            <a:srgbClr val="1F3D2B"/>
          </a:solidFill>
          <a:ln/>
        </p:spPr>
        <p:txBody>
          <a:bodyPr wrap="square" lIns="148042" tIns="97242" rIns="1738" bIns="71842" rtlCol="0" anchor="t">
            <a:normAutofit/>
          </a:bodyPr>
          <a:lstStyle/>
          <a:p>
            <a:pPr algn="l" indent="0" marL="0">
              <a:lnSpc>
                <a:spcPts val="1750"/>
              </a:lnSpc>
              <a:buNone/>
            </a:pPr>
            <a:r>
              <a:rPr lang="en-US" sz="1250" b="1" dirty="0">
                <a:solidFill>
                  <a:srgbClr val="E8A07A"/>
                </a:solidFill>
                <a:latin typeface="IBM Plex Sans Thai" pitchFamily="34" charset="0"/>
                <a:ea typeface="IBM Plex Sans Thai" pitchFamily="34" charset="-122"/>
                <a:cs typeface="IBM Plex Sans Thai" pitchFamily="34" charset="-120"/>
              </a:rPr>
              <a:t>Competition:</a:t>
            </a:r>
            <a:r>
              <a:rPr lang="en-US" sz="1250" dirty="0">
                <a:solidFill>
                  <a:srgbClr val="F7F4EC"/>
                </a:solidFill>
                <a:latin typeface="IBM Plex Sans Thai" pitchFamily="34" charset="0"/>
                <a:ea typeface="IBM Plex Sans Thai" pitchFamily="34" charset="-122"/>
                <a:cs typeface="IBM Plex Sans Thai" pitchFamily="34" charset="-120"/>
              </a:rPr>
              <a:t> MITH 127 กลิ่น · Butterfly · Journal · Siam 1928 แบรนด์ 3 กลิ่นตอบได้แม่นกว่า</a:t>
            </a:r>
            <a:endParaRPr lang="en-US" sz="1250" dirty="0"/>
          </a:p>
        </p:txBody>
      </p:sp>
      <p:sp>
        <p:nvSpPr>
          <p:cNvPr id="18" name="Text 16"/>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F68"/>
                </a:solidFill>
                <a:latin typeface="IBM Plex Sans Thai" pitchFamily="34" charset="0"/>
                <a:ea typeface="IBM Plex Sans Thai" pitchFamily="34" charset="-122"/>
                <a:cs typeface="IBM Plex Sans Thai" pitchFamily="34" charset="-120"/>
              </a:rPr>
              <a:t>BIS609 · BitterSweet × Agentic AI on LINE OA · คู่แข่งจาก BIS608 หน้า 18–19</a:t>
            </a:r>
            <a:endParaRPr lang="en-US" sz="1200" dirty="0"/>
          </a:p>
        </p:txBody>
      </p:sp>
      <p:sp>
        <p:nvSpPr>
          <p:cNvPr id="19" name="Text 17"/>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F68"/>
                </a:solidFill>
                <a:latin typeface="IBM Plex Sans Thai" pitchFamily="34" charset="0"/>
                <a:ea typeface="IBM Plex Sans Thai" pitchFamily="34" charset="-122"/>
                <a:cs typeface="IBM Plex Sans Thai" pitchFamily="34" charset="-120"/>
              </a:rPr>
              <a:t>06 / 16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F3D2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8A07A"/>
                </a:solidFill>
                <a:latin typeface="IBM Plex Sans Thai" pitchFamily="34" charset="0"/>
                <a:ea typeface="IBM Plex Sans Thai" pitchFamily="34" charset="-122"/>
                <a:cs typeface="IBM Plex Sans Thai" pitchFamily="34" charset="-120"/>
              </a:rPr>
              <a:t>O · OBJECTIVES · ผูกกับ BALANCED SCORECARD เดิม</a:t>
            </a:r>
            <a:endParaRPr lang="en-US" sz="1200" dirty="0"/>
          </a:p>
        </p:txBody>
      </p:sp>
      <p:sp>
        <p:nvSpPr>
          <p:cNvPr id="3" name="Text 1"/>
          <p:cNvSpPr/>
          <p:nvPr>
            <p:ph type="title"/>
          </p:nvPr>
        </p:nvSpPr>
        <p:spPr>
          <a:xfrm>
            <a:off x="812800" y="1254720"/>
            <a:ext cx="10883392" cy="452107"/>
          </a:xfrm>
          <a:prstGeom prst="rect">
            <a:avLst/>
          </a:prstGeom>
          <a:noFill/>
          <a:ln/>
        </p:spPr>
        <p:txBody>
          <a:bodyPr wrap="square" lIns="0" tIns="0" rIns="0" bIns="0" rtlCol="0" anchor="t">
            <a:normAutofit/>
          </a:bodyPr>
          <a:lstStyle/>
          <a:p>
            <a:pPr algn="l" indent="0" marL="0">
              <a:lnSpc>
                <a:spcPts val="3360"/>
              </a:lnSpc>
              <a:buNone/>
            </a:pPr>
            <a:r>
              <a:rPr lang="en-US" sz="2800" b="1" i="0" dirty="0">
                <a:solidFill>
                  <a:srgbClr val="F7F4EC"/>
                </a:solidFill>
                <a:latin typeface="Noto Serif Thai" pitchFamily="18" charset="0"/>
                <a:ea typeface="Noto Serif Thai" pitchFamily="18" charset="-122"/>
                <a:cs typeface="Noto Serif Thai" pitchFamily="18" charset="-120"/>
              </a:rPr>
              <a:t>ไม่สร้าง KPI ชุดใหม่ แต่ให้ agent ขับ KPI ที่ทีมตั้งไว้แล้ว</a:t>
            </a:r>
            <a:endParaRPr lang="en-US" sz="2800" dirty="0"/>
          </a:p>
        </p:txBody>
      </p:sp>
      <p:sp>
        <p:nvSpPr>
          <p:cNvPr id="4" name="Shape 2"/>
          <p:cNvSpPr/>
          <p:nvPr/>
        </p:nvSpPr>
        <p:spPr>
          <a:xfrm>
            <a:off x="812800" y="1929079"/>
            <a:ext cx="2527300" cy="0"/>
          </a:xfrm>
          <a:prstGeom prst="line">
            <a:avLst/>
          </a:prstGeom>
          <a:noFill/>
          <a:ln w="38100">
            <a:solidFill>
              <a:srgbClr val="E8A07A"/>
            </a:solidFill>
            <a:prstDash val="solid"/>
          </a:ln>
        </p:spPr>
      </p:sp>
      <p:sp>
        <p:nvSpPr>
          <p:cNvPr id="5" name="Text 3"/>
          <p:cNvSpPr/>
          <p:nvPr/>
        </p:nvSpPr>
        <p:spPr>
          <a:xfrm>
            <a:off x="812800" y="2100529"/>
            <a:ext cx="2550795" cy="528307"/>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E8A07A"/>
                </a:solidFill>
                <a:latin typeface="Noto Serif Thai" pitchFamily="18" charset="0"/>
                <a:ea typeface="Noto Serif Thai" pitchFamily="18" charset="-122"/>
                <a:cs typeface="Noto Serif Thai" pitchFamily="18" charset="-120"/>
              </a:rPr>
              <a:t>≥ 10%</a:t>
            </a:r>
            <a:endParaRPr lang="en-US" sz="3600" dirty="0"/>
          </a:p>
        </p:txBody>
      </p:sp>
      <p:sp>
        <p:nvSpPr>
          <p:cNvPr id="6" name="Text 4"/>
          <p:cNvSpPr/>
          <p:nvPr/>
        </p:nvSpPr>
        <p:spPr>
          <a:xfrm>
            <a:off x="812800" y="2666935"/>
            <a:ext cx="2550795" cy="265377"/>
          </a:xfrm>
          <a:prstGeom prst="rect">
            <a:avLst/>
          </a:prstGeom>
          <a:noFill/>
          <a:ln/>
        </p:spPr>
        <p:txBody>
          <a:bodyPr wrap="square" lIns="0" tIns="0" rIns="0" bIns="0" rtlCol="0" anchor="t">
            <a:normAutofit/>
          </a:bodyPr>
          <a:lstStyle/>
          <a:p>
            <a:pPr algn="l" indent="0" marL="0">
              <a:lnSpc>
                <a:spcPts val="1890"/>
              </a:lnSpc>
              <a:buNone/>
            </a:pPr>
            <a:r>
              <a:rPr lang="en-US" sz="1350" b="1" dirty="0">
                <a:solidFill>
                  <a:srgbClr val="F7F4EC"/>
                </a:solidFill>
                <a:latin typeface="IBM Plex Sans Thai" pitchFamily="34" charset="0"/>
                <a:ea typeface="IBM Plex Sans Thai" pitchFamily="34" charset="-122"/>
                <a:cs typeface="IBM Plex Sans Thai" pitchFamily="34" charset="-120"/>
              </a:rPr>
              <a:t>C2 Set → ขวด</a:t>
            </a:r>
            <a:endParaRPr lang="en-US" sz="1350" dirty="0"/>
          </a:p>
        </p:txBody>
      </p:sp>
      <p:sp>
        <p:nvSpPr>
          <p:cNvPr id="7" name="Text 5"/>
          <p:cNvSpPr/>
          <p:nvPr/>
        </p:nvSpPr>
        <p:spPr>
          <a:xfrm>
            <a:off x="812800" y="2970411"/>
            <a:ext cx="255079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6CC"/>
                </a:solidFill>
                <a:latin typeface="IBM Plex Sans Thai" pitchFamily="34" charset="0"/>
                <a:ea typeface="IBM Plex Sans Thai" pitchFamily="34" charset="-122"/>
                <a:cs typeface="IBM Plex Sans Thai" pitchFamily="34" charset="-120"/>
              </a:rPr>
              <a:t>เป้ายืด 15% ใน 6 เดือน · trigger &lt; 8%</a:t>
            </a:r>
            <a:endParaRPr lang="en-US" sz="1200" dirty="0"/>
          </a:p>
        </p:txBody>
      </p:sp>
      <p:sp>
        <p:nvSpPr>
          <p:cNvPr id="8" name="Shape 6"/>
          <p:cNvSpPr/>
          <p:nvPr/>
        </p:nvSpPr>
        <p:spPr>
          <a:xfrm>
            <a:off x="3492500" y="1929079"/>
            <a:ext cx="2527300" cy="0"/>
          </a:xfrm>
          <a:prstGeom prst="line">
            <a:avLst/>
          </a:prstGeom>
          <a:noFill/>
          <a:ln w="38100">
            <a:solidFill>
              <a:srgbClr val="E8A07A"/>
            </a:solidFill>
            <a:prstDash val="solid"/>
          </a:ln>
        </p:spPr>
      </p:sp>
      <p:sp>
        <p:nvSpPr>
          <p:cNvPr id="9" name="Text 7"/>
          <p:cNvSpPr/>
          <p:nvPr/>
        </p:nvSpPr>
        <p:spPr>
          <a:xfrm>
            <a:off x="3492500" y="2100529"/>
            <a:ext cx="2550795" cy="528307"/>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E8A07A"/>
                </a:solidFill>
                <a:latin typeface="Noto Serif Thai" pitchFamily="18" charset="0"/>
                <a:ea typeface="Noto Serif Thai" pitchFamily="18" charset="-122"/>
                <a:cs typeface="Noto Serif Thai" pitchFamily="18" charset="-120"/>
              </a:rPr>
              <a:t>≥ 20%</a:t>
            </a:r>
            <a:endParaRPr lang="en-US" sz="3600" dirty="0"/>
          </a:p>
        </p:txBody>
      </p:sp>
      <p:sp>
        <p:nvSpPr>
          <p:cNvPr id="10" name="Text 8"/>
          <p:cNvSpPr/>
          <p:nvPr/>
        </p:nvSpPr>
        <p:spPr>
          <a:xfrm>
            <a:off x="3492500" y="2666935"/>
            <a:ext cx="2550795" cy="265377"/>
          </a:xfrm>
          <a:prstGeom prst="rect">
            <a:avLst/>
          </a:prstGeom>
          <a:noFill/>
          <a:ln/>
        </p:spPr>
        <p:txBody>
          <a:bodyPr wrap="square" lIns="0" tIns="0" rIns="0" bIns="0" rtlCol="0" anchor="t">
            <a:normAutofit/>
          </a:bodyPr>
          <a:lstStyle/>
          <a:p>
            <a:pPr algn="l" indent="0" marL="0">
              <a:lnSpc>
                <a:spcPts val="1890"/>
              </a:lnSpc>
              <a:buNone/>
            </a:pPr>
            <a:r>
              <a:rPr lang="en-US" sz="1350" b="1" dirty="0">
                <a:solidFill>
                  <a:srgbClr val="F7F4EC"/>
                </a:solidFill>
                <a:latin typeface="IBM Plex Sans Thai" pitchFamily="34" charset="0"/>
                <a:ea typeface="IBM Plex Sans Thai" pitchFamily="34" charset="-122"/>
                <a:cs typeface="IBM Plex Sans Thai" pitchFamily="34" charset="-120"/>
              </a:rPr>
              <a:t>F2 Repeat ใน 90 วัน</a:t>
            </a:r>
            <a:endParaRPr lang="en-US" sz="1350" dirty="0"/>
          </a:p>
        </p:txBody>
      </p:sp>
      <p:sp>
        <p:nvSpPr>
          <p:cNvPr id="11" name="Text 9"/>
          <p:cNvSpPr/>
          <p:nvPr/>
        </p:nvSpPr>
        <p:spPr>
          <a:xfrm>
            <a:off x="3492500" y="2970411"/>
            <a:ext cx="255079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6CC"/>
                </a:solidFill>
                <a:latin typeface="IBM Plex Sans Thai" pitchFamily="34" charset="0"/>
                <a:ea typeface="IBM Plex Sans Thai" pitchFamily="34" charset="-122"/>
                <a:cs typeface="IBM Plex Sans Thai" pitchFamily="34" charset="-120"/>
              </a:rPr>
              <a:t>สัญญาณให้ขยาย phase 2</a:t>
            </a:r>
            <a:endParaRPr lang="en-US" sz="1200" dirty="0"/>
          </a:p>
        </p:txBody>
      </p:sp>
      <p:sp>
        <p:nvSpPr>
          <p:cNvPr id="12" name="Shape 10"/>
          <p:cNvSpPr/>
          <p:nvPr/>
        </p:nvSpPr>
        <p:spPr>
          <a:xfrm>
            <a:off x="6172200" y="1929079"/>
            <a:ext cx="2527300" cy="0"/>
          </a:xfrm>
          <a:prstGeom prst="line">
            <a:avLst/>
          </a:prstGeom>
          <a:noFill/>
          <a:ln w="38100">
            <a:solidFill>
              <a:srgbClr val="8FB39A"/>
            </a:solidFill>
            <a:prstDash val="solid"/>
          </a:ln>
        </p:spPr>
      </p:sp>
      <p:sp>
        <p:nvSpPr>
          <p:cNvPr id="13" name="Text 11"/>
          <p:cNvSpPr/>
          <p:nvPr/>
        </p:nvSpPr>
        <p:spPr>
          <a:xfrm>
            <a:off x="6172200" y="2100529"/>
            <a:ext cx="2550795" cy="528307"/>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B9D3C1"/>
                </a:solidFill>
                <a:latin typeface="Noto Serif Thai" pitchFamily="18" charset="0"/>
                <a:ea typeface="Noto Serif Thai" pitchFamily="18" charset="-122"/>
                <a:cs typeface="Noto Serif Thai" pitchFamily="18" charset="-120"/>
              </a:rPr>
              <a:t>≥ 80%</a:t>
            </a:r>
            <a:endParaRPr lang="en-US" sz="3600" dirty="0"/>
          </a:p>
        </p:txBody>
      </p:sp>
      <p:sp>
        <p:nvSpPr>
          <p:cNvPr id="14" name="Text 12"/>
          <p:cNvSpPr/>
          <p:nvPr/>
        </p:nvSpPr>
        <p:spPr>
          <a:xfrm>
            <a:off x="6172200" y="2666935"/>
            <a:ext cx="2550795" cy="265377"/>
          </a:xfrm>
          <a:prstGeom prst="rect">
            <a:avLst/>
          </a:prstGeom>
          <a:noFill/>
          <a:ln/>
        </p:spPr>
        <p:txBody>
          <a:bodyPr wrap="square" lIns="0" tIns="0" rIns="0" bIns="0" rtlCol="0" anchor="t">
            <a:normAutofit/>
          </a:bodyPr>
          <a:lstStyle/>
          <a:p>
            <a:pPr algn="l" indent="0" marL="0">
              <a:lnSpc>
                <a:spcPts val="1890"/>
              </a:lnSpc>
              <a:buNone/>
            </a:pPr>
            <a:r>
              <a:rPr lang="en-US" sz="1350" b="1" dirty="0">
                <a:solidFill>
                  <a:srgbClr val="F7F4EC"/>
                </a:solidFill>
                <a:latin typeface="IBM Plex Sans Thai" pitchFamily="34" charset="0"/>
                <a:ea typeface="IBM Plex Sans Thai" pitchFamily="34" charset="-122"/>
                <a:cs typeface="IBM Plex Sans Thai" pitchFamily="34" charset="-120"/>
              </a:rPr>
              <a:t>ลูกค้ามี scent profile</a:t>
            </a:r>
            <a:endParaRPr lang="en-US" sz="1350" dirty="0"/>
          </a:p>
        </p:txBody>
      </p:sp>
      <p:sp>
        <p:nvSpPr>
          <p:cNvPr id="15" name="Text 13"/>
          <p:cNvSpPr/>
          <p:nvPr/>
        </p:nvSpPr>
        <p:spPr>
          <a:xfrm>
            <a:off x="6172200" y="2970411"/>
            <a:ext cx="255079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6CC"/>
                </a:solidFill>
                <a:latin typeface="IBM Plex Sans Thai" pitchFamily="34" charset="0"/>
                <a:ea typeface="IBM Plex Sans Thai" pitchFamily="34" charset="-122"/>
                <a:cs typeface="IBM Plex Sans Thai" pitchFamily="34" charset="-120"/>
              </a:rPr>
              <a:t>KPI ใหม่ ปิด 7S gap · พร้อม consent</a:t>
            </a:r>
            <a:endParaRPr lang="en-US" sz="1200" dirty="0"/>
          </a:p>
        </p:txBody>
      </p:sp>
      <p:sp>
        <p:nvSpPr>
          <p:cNvPr id="16" name="Shape 14"/>
          <p:cNvSpPr/>
          <p:nvPr/>
        </p:nvSpPr>
        <p:spPr>
          <a:xfrm>
            <a:off x="8851900" y="1929079"/>
            <a:ext cx="2527300" cy="0"/>
          </a:xfrm>
          <a:prstGeom prst="line">
            <a:avLst/>
          </a:prstGeom>
          <a:noFill/>
          <a:ln w="38100">
            <a:solidFill>
              <a:srgbClr val="8FB39A"/>
            </a:solidFill>
            <a:prstDash val="solid"/>
          </a:ln>
        </p:spPr>
      </p:sp>
      <p:sp>
        <p:nvSpPr>
          <p:cNvPr id="17" name="Text 15"/>
          <p:cNvSpPr/>
          <p:nvPr/>
        </p:nvSpPr>
        <p:spPr>
          <a:xfrm>
            <a:off x="8851900" y="2100529"/>
            <a:ext cx="2550795" cy="528307"/>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B9D3C1"/>
                </a:solidFill>
                <a:latin typeface="Noto Serif Thai" pitchFamily="18" charset="0"/>
                <a:ea typeface="Noto Serif Thai" pitchFamily="18" charset="-122"/>
                <a:cs typeface="Noto Serif Thai" pitchFamily="18" charset="-120"/>
              </a:rPr>
              <a:t>&lt; 1 นาที</a:t>
            </a:r>
            <a:endParaRPr lang="en-US" sz="3600" dirty="0"/>
          </a:p>
        </p:txBody>
      </p:sp>
      <p:sp>
        <p:nvSpPr>
          <p:cNvPr id="18" name="Text 16"/>
          <p:cNvSpPr/>
          <p:nvPr/>
        </p:nvSpPr>
        <p:spPr>
          <a:xfrm>
            <a:off x="8851900" y="2666935"/>
            <a:ext cx="2550795" cy="265377"/>
          </a:xfrm>
          <a:prstGeom prst="rect">
            <a:avLst/>
          </a:prstGeom>
          <a:noFill/>
          <a:ln/>
        </p:spPr>
        <p:txBody>
          <a:bodyPr wrap="square" lIns="0" tIns="0" rIns="0" bIns="0" rtlCol="0" anchor="t">
            <a:normAutofit/>
          </a:bodyPr>
          <a:lstStyle/>
          <a:p>
            <a:pPr algn="l" indent="0" marL="0">
              <a:lnSpc>
                <a:spcPts val="1890"/>
              </a:lnSpc>
              <a:buNone/>
            </a:pPr>
            <a:r>
              <a:rPr lang="en-US" sz="1350" b="1" dirty="0">
                <a:solidFill>
                  <a:srgbClr val="F7F4EC"/>
                </a:solidFill>
                <a:latin typeface="IBM Plex Sans Thai" pitchFamily="34" charset="0"/>
                <a:ea typeface="IBM Plex Sans Thai" pitchFamily="34" charset="-122"/>
                <a:cs typeface="IBM Plex Sans Thai" pitchFamily="34" charset="-120"/>
              </a:rPr>
              <a:t>ตอบแชต 18:00–24:00</a:t>
            </a:r>
            <a:endParaRPr lang="en-US" sz="1350" dirty="0"/>
          </a:p>
        </p:txBody>
      </p:sp>
      <p:sp>
        <p:nvSpPr>
          <p:cNvPr id="19" name="Text 17"/>
          <p:cNvSpPr/>
          <p:nvPr/>
        </p:nvSpPr>
        <p:spPr>
          <a:xfrm>
            <a:off x="8851900" y="2970411"/>
            <a:ext cx="255079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6CC"/>
                </a:solidFill>
                <a:latin typeface="IBM Plex Sans Thai" pitchFamily="34" charset="0"/>
                <a:ea typeface="IBM Plex Sans Thai" pitchFamily="34" charset="-122"/>
                <a:cs typeface="IBM Plex Sans Thai" pitchFamily="34" charset="-120"/>
              </a:rPr>
              <a:t>ช่วงหลังบูธและหลังเลิกงาน</a:t>
            </a:r>
            <a:endParaRPr lang="en-US" sz="1200" dirty="0"/>
          </a:p>
        </p:txBody>
      </p:sp>
      <p:sp>
        <p:nvSpPr>
          <p:cNvPr id="20" name="Text 18"/>
          <p:cNvSpPr/>
          <p:nvPr/>
        </p:nvSpPr>
        <p:spPr>
          <a:xfrm>
            <a:off x="812800" y="3412331"/>
            <a:ext cx="10883392"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6CC"/>
                </a:solidFill>
                <a:latin typeface="IBM Plex Sans Thai" pitchFamily="34" charset="0"/>
                <a:ea typeface="IBM Plex Sans Thai" pitchFamily="34" charset="-122"/>
                <a:cs typeface="IBM Plex Sans Thai" pitchFamily="34" charset="-120"/>
              </a:rPr>
              <a:t>และ </a:t>
            </a:r>
            <a:r>
              <a:rPr lang="en-US" sz="1300" b="1" dirty="0">
                <a:solidFill>
                  <a:srgbClr val="F7F4EC"/>
                </a:solidFill>
                <a:latin typeface="IBM Plex Sans Thai" pitchFamily="34" charset="0"/>
                <a:ea typeface="IBM Plex Sans Thai" pitchFamily="34" charset="-122"/>
                <a:cs typeface="IBM Plex Sans Thai" pitchFamily="34" charset="-120"/>
              </a:rPr>
              <a:t>C3</a:t>
            </a:r>
            <a:r>
              <a:rPr lang="en-US" sz="1300" dirty="0">
                <a:solidFill>
                  <a:srgbClr val="C9D6CC"/>
                </a:solidFill>
                <a:latin typeface="IBM Plex Sans Thai" pitchFamily="34" charset="0"/>
                <a:ea typeface="IBM Plex Sans Thai" pitchFamily="34" charset="-122"/>
                <a:cs typeface="IBM Plex Sans Thai" pitchFamily="34" charset="-120"/>
              </a:rPr>
              <a:t> สัดส่วนลูกค้าจาก referral เพิ่มขึ้นทุกไตรมาส · </a:t>
            </a:r>
            <a:r>
              <a:rPr lang="en-US" sz="1300" b="1" dirty="0">
                <a:solidFill>
                  <a:srgbClr val="F7F4EC"/>
                </a:solidFill>
                <a:latin typeface="IBM Plex Sans Thai" pitchFamily="34" charset="0"/>
                <a:ea typeface="IBM Plex Sans Thai" pitchFamily="34" charset="-122"/>
                <a:cs typeface="IBM Plex Sans Thai" pitchFamily="34" charset="-120"/>
              </a:rPr>
              <a:t>P3</a:t>
            </a:r>
            <a:r>
              <a:rPr lang="en-US" sz="1300" dirty="0">
                <a:solidFill>
                  <a:srgbClr val="C9D6CC"/>
                </a:solidFill>
                <a:latin typeface="IBM Plex Sans Thai" pitchFamily="34" charset="0"/>
                <a:ea typeface="IBM Plex Sans Thai" pitchFamily="34" charset="-122"/>
                <a:cs typeface="IBM Plex Sans Thai" pitchFamily="34" charset="-120"/>
              </a:rPr>
              <a:t> engagement กับคำบรรยายกลิ่น · </a:t>
            </a:r>
            <a:r>
              <a:rPr lang="en-US" sz="1300" b="1" dirty="0">
                <a:solidFill>
                  <a:srgbClr val="F7F4EC"/>
                </a:solidFill>
                <a:latin typeface="IBM Plex Sans Thai" pitchFamily="34" charset="0"/>
                <a:ea typeface="IBM Plex Sans Thai" pitchFamily="34" charset="-122"/>
                <a:cs typeface="IBM Plex Sans Thai" pitchFamily="34" charset="-120"/>
              </a:rPr>
              <a:t>ต้นทุน agent ÷ contribution ที่เพิ่ม &lt; 1</a:t>
            </a:r>
            <a:endParaRPr lang="en-US" sz="1300" dirty="0"/>
          </a:p>
        </p:txBody>
      </p:sp>
      <p:sp>
        <p:nvSpPr>
          <p:cNvPr id="21" name="Text 19"/>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596"/>
                </a:solidFill>
                <a:latin typeface="IBM Plex Sans Thai" pitchFamily="34" charset="0"/>
                <a:ea typeface="IBM Plex Sans Thai" pitchFamily="34" charset="-122"/>
                <a:cs typeface="IBM Plex Sans Thai" pitchFamily="34" charset="-120"/>
              </a:rPr>
              <a:t>BIS609 · BitterSweet × Agentic AI on LINE OA · BSC จาก BIS608 หน้า 25–28</a:t>
            </a:r>
            <a:endParaRPr lang="en-US" sz="1200" dirty="0"/>
          </a:p>
        </p:txBody>
      </p:sp>
      <p:sp>
        <p:nvSpPr>
          <p:cNvPr id="22" name="Text 20"/>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FA596"/>
                </a:solidFill>
                <a:latin typeface="IBM Plex Sans Thai" pitchFamily="34" charset="0"/>
                <a:ea typeface="IBM Plex Sans Thai" pitchFamily="34" charset="-122"/>
                <a:cs typeface="IBM Plex Sans Thai" pitchFamily="34" charset="-120"/>
              </a:rPr>
              <a:t>07 / 16</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4532E"/>
                </a:solidFill>
                <a:latin typeface="IBM Plex Sans Thai" pitchFamily="34" charset="0"/>
                <a:ea typeface="IBM Plex Sans Thai" pitchFamily="34" charset="-122"/>
                <a:cs typeface="IBM Plex Sans Thai" pitchFamily="34" charset="-120"/>
              </a:rPr>
              <a:t>S · STRATEGY · BEHAVIORAL SEGMENTATION ใน LINE OA (L07 P.14)</a:t>
            </a:r>
            <a:endParaRPr lang="en-US" sz="1200" dirty="0"/>
          </a:p>
        </p:txBody>
      </p:sp>
      <p:sp>
        <p:nvSpPr>
          <p:cNvPr id="3" name="Text 1"/>
          <p:cNvSpPr/>
          <p:nvPr>
            <p:ph type="title"/>
          </p:nvPr>
        </p:nvSpPr>
        <p:spPr>
          <a:xfrm>
            <a:off x="812800" y="1203920"/>
            <a:ext cx="10883392" cy="452107"/>
          </a:xfrm>
          <a:prstGeom prst="rect">
            <a:avLst/>
          </a:prstGeom>
          <a:noFill/>
          <a:ln/>
        </p:spPr>
        <p:txBody>
          <a:bodyPr wrap="square" lIns="0" tIns="0" rIns="0" bIns="0" rtlCol="0" anchor="t">
            <a:normAutofit/>
          </a:bodyPr>
          <a:lstStyle/>
          <a:p>
            <a:pPr algn="l" indent="0" marL="0">
              <a:lnSpc>
                <a:spcPts val="3360"/>
              </a:lnSpc>
              <a:buNone/>
            </a:pPr>
            <a:r>
              <a:rPr lang="en-US" sz="2800" b="1" i="0" dirty="0">
                <a:solidFill>
                  <a:srgbClr val="1F3D2B"/>
                </a:solidFill>
                <a:latin typeface="Noto Serif Thai" pitchFamily="18" charset="0"/>
                <a:ea typeface="Noto Serif Thai" pitchFamily="18" charset="-122"/>
                <a:cs typeface="Noto Serif Thai" pitchFamily="18" charset="-120"/>
              </a:rPr>
              <a:t>Segment ถูกกำหนดแล้ว agent แบ่งต่อตามพฤติกรรม</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21129"/>
          <a:ext cx="10553700" cy="2422525"/>
        </p:xfrm>
        <a:graphic>
          <a:graphicData uri="http://schemas.openxmlformats.org/drawingml/2006/table">
            <a:tbl>
              <a:tblPr/>
              <a:tblGrid>
                <a:gridCol w="2321814"/>
                <a:gridCol w="3588258"/>
                <a:gridCol w="4643628"/>
              </a:tblGrid>
              <a:tr h="346075">
                <a:tc>
                  <a:txBody>
                    <a:bodyPr/>
                    <a:lstStyle/>
                    <a:p>
                      <a:pPr indent="0" marL="0">
                        <a:lnSpc>
                          <a:spcPts val="1750"/>
                        </a:lnSpc>
                        <a:buNone/>
                      </a:pPr>
                      <a:r>
                        <a:rPr lang="en-US" sz="1250" b="1" dirty="0">
                          <a:solidFill>
                            <a:srgbClr val="F7F4EC"/>
                          </a:solidFill>
                          <a:latin typeface="IBM Plex Sans Thai" pitchFamily="34" charset="0"/>
                          <a:ea typeface="IBM Plex Sans Thai" pitchFamily="34" charset="-122"/>
                          <a:cs typeface="IBM Plex Sans Thai" pitchFamily="34" charset="-120"/>
                        </a:rPr>
                        <a:t>Tag ใน CRM</a:t>
                      </a:r>
                      <a:endParaRPr lang="en-US" sz="1250" dirty="0">
                        <a:latin typeface="IBM Plex Sans Thai" charset="0"/>
                        <a:ea typeface="IBM Plex Sans Thai" charset="0"/>
                        <a:cs typeface="IBM Plex Sans Thai" charset="0"/>
                      </a:endParaRPr>
                    </a:p>
                  </a:txBody>
                  <a:tcPr marL="55563" marR="55563" marT="55563" marB="55563" anchor="t">
                    <a:lnL w="12700" cap="flat" cmpd="sng" algn="ctr">
                      <a:solidFill>
                        <a:srgbClr val="C5C3BC"/>
                      </a:solidFill>
                      <a:prstDash val="solid"/>
                      <a:round/>
                      <a:headEnd type="none" w="med" len="med"/>
                      <a:tailEnd type="none" w="med" len="med"/>
                    </a:lnL>
                    <a:lnR w="12700" cap="flat" cmpd="sng" algn="ctr">
                      <a:solidFill>
                        <a:srgbClr val="1D3426"/>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1D3426"/>
                      </a:solidFill>
                      <a:prstDash val="solid"/>
                      <a:round/>
                      <a:headEnd type="none" w="med" len="med"/>
                      <a:tailEnd type="none" w="med" len="med"/>
                    </a:lnB>
                    <a:solidFill>
                      <a:srgbClr val="1F3D2B"/>
                    </a:solidFill>
                  </a:tcPr>
                </a:tc>
                <a:tc>
                  <a:txBody>
                    <a:bodyPr/>
                    <a:lstStyle/>
                    <a:p>
                      <a:pPr indent="0" marL="0">
                        <a:lnSpc>
                          <a:spcPts val="1750"/>
                        </a:lnSpc>
                        <a:buNone/>
                      </a:pPr>
                      <a:r>
                        <a:rPr lang="en-US" sz="1250" b="1" dirty="0">
                          <a:solidFill>
                            <a:srgbClr val="F7F4EC"/>
                          </a:solidFill>
                          <a:latin typeface="IBM Plex Sans Thai" pitchFamily="34" charset="0"/>
                          <a:ea typeface="IBM Plex Sans Thai" pitchFamily="34" charset="-122"/>
                          <a:cs typeface="IBM Plex Sans Thai" pitchFamily="34" charset="-120"/>
                        </a:rPr>
                        <a:t>นิยาม</a:t>
                      </a:r>
                      <a:endParaRPr lang="en-US" sz="1250" dirty="0">
                        <a:latin typeface="IBM Plex Sans Thai" charset="0"/>
                        <a:ea typeface="IBM Plex Sans Thai" charset="0"/>
                        <a:cs typeface="IBM Plex Sans Thai" charset="0"/>
                      </a:endParaRPr>
                    </a:p>
                  </a:txBody>
                  <a:tcPr marL="55563" marR="55563" marT="55563" marB="55563" anchor="t">
                    <a:lnL w="12700" cap="flat" cmpd="sng" algn="ctr">
                      <a:solidFill>
                        <a:srgbClr val="1D3426"/>
                      </a:solidFill>
                      <a:prstDash val="solid"/>
                      <a:round/>
                      <a:headEnd type="none" w="med" len="med"/>
                      <a:tailEnd type="none" w="med" len="med"/>
                    </a:lnL>
                    <a:lnR w="12700" cap="flat" cmpd="sng" algn="ctr">
                      <a:solidFill>
                        <a:srgbClr val="1D3426"/>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1D3426"/>
                      </a:solidFill>
                      <a:prstDash val="solid"/>
                      <a:round/>
                      <a:headEnd type="none" w="med" len="med"/>
                      <a:tailEnd type="none" w="med" len="med"/>
                    </a:lnB>
                    <a:solidFill>
                      <a:srgbClr val="1F3D2B"/>
                    </a:solidFill>
                  </a:tcPr>
                </a:tc>
                <a:tc>
                  <a:txBody>
                    <a:bodyPr/>
                    <a:lstStyle/>
                    <a:p>
                      <a:pPr indent="0" marL="0">
                        <a:lnSpc>
                          <a:spcPts val="1750"/>
                        </a:lnSpc>
                        <a:buNone/>
                      </a:pPr>
                      <a:r>
                        <a:rPr lang="en-US" sz="1250" b="1" dirty="0">
                          <a:solidFill>
                            <a:srgbClr val="F7F4EC"/>
                          </a:solidFill>
                          <a:latin typeface="IBM Plex Sans Thai" pitchFamily="34" charset="0"/>
                          <a:ea typeface="IBM Plex Sans Thai" pitchFamily="34" charset="-122"/>
                          <a:cs typeface="IBM Plex Sans Thai" pitchFamily="34" charset="-120"/>
                        </a:rPr>
                        <a:t>สิ่งที่ Agent ทำ</a:t>
                      </a:r>
                      <a:endParaRPr lang="en-US" sz="1250" dirty="0">
                        <a:latin typeface="IBM Plex Sans Thai" charset="0"/>
                        <a:ea typeface="IBM Plex Sans Thai" charset="0"/>
                        <a:cs typeface="IBM Plex Sans Thai" charset="0"/>
                      </a:endParaRPr>
                    </a:p>
                  </a:txBody>
                  <a:tcPr marL="55563" marR="55563" marT="55563" marB="55563" anchor="t">
                    <a:lnL w="12700" cap="flat" cmpd="sng" algn="ctr">
                      <a:solidFill>
                        <a:srgbClr val="1D3426"/>
                      </a:solidFill>
                      <a:prstDash val="solid"/>
                      <a:round/>
                      <a:headEnd type="none" w="med" len="med"/>
                      <a:tailEnd type="none" w="med" len="med"/>
                    </a:lnL>
                    <a:lnR w="12700" cap="flat" cmpd="sng" algn="ctr">
                      <a:solidFill>
                        <a:srgbClr val="1D3426"/>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1D3426"/>
                      </a:solidFill>
                      <a:prstDash val="solid"/>
                      <a:round/>
                      <a:headEnd type="none" w="med" len="med"/>
                      <a:tailEnd type="none" w="med" len="med"/>
                    </a:lnB>
                    <a:solidFill>
                      <a:srgbClr val="1F3D2B"/>
                    </a:solidFill>
                  </a:tcPr>
                </a:tc>
              </a:tr>
              <a:tr h="346075">
                <a:tc>
                  <a:txBody>
                    <a:bodyPr/>
                    <a:lstStyle/>
                    <a:p>
                      <a:pPr indent="0" marL="0">
                        <a:lnSpc>
                          <a:spcPts val="1750"/>
                        </a:lnSpc>
                        <a:buNone/>
                      </a:pPr>
                      <a:r>
                        <a:rPr lang="en-US" sz="1250" dirty="0">
                          <a:solidFill>
                            <a:srgbClr val="1F2A24"/>
                          </a:solidFill>
                          <a:latin typeface="IBM Plex Sans Thai" pitchFamily="34" charset="0"/>
                          <a:ea typeface="IBM Plex Sans Thai" pitchFamily="34" charset="-122"/>
                          <a:cs typeface="IBM Plex Sans Thai" pitchFamily="34" charset="-120"/>
                        </a:rPr>
                        <a:t>Booth smellers</a:t>
                      </a:r>
                      <a:endParaRPr lang="en-US" sz="1250" dirty="0">
                        <a:latin typeface="IBM Plex Sans Thai" charset="0"/>
                        <a:ea typeface="IBM Plex Sans Thai" charset="0"/>
                        <a:cs typeface="IBM Plex Sans Thai" charset="0"/>
                      </a:endParaRPr>
                    </a:p>
                  </a:txBody>
                  <a:tcPr marL="55563" marR="55563" marT="55563" marB="55563" anchor="t">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1D3426"/>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indent="0" marL="0">
                        <a:lnSpc>
                          <a:spcPts val="1750"/>
                        </a:lnSpc>
                        <a:buNone/>
                      </a:pPr>
                      <a:r>
                        <a:rPr lang="en-US" sz="1250" dirty="0">
                          <a:solidFill>
                            <a:srgbClr val="1F2A24"/>
                          </a:solidFill>
                          <a:latin typeface="IBM Plex Sans Thai" pitchFamily="34" charset="0"/>
                          <a:ea typeface="IBM Plex Sans Thai" pitchFamily="34" charset="-122"/>
                          <a:cs typeface="IBM Plex Sans Thai" pitchFamily="34" charset="-120"/>
                        </a:rPr>
                        <a:t>ดมที่บูธ เพิ่มเพื่อนแล้ว ยังไม่ซื้อ</a:t>
                      </a:r>
                      <a:endParaRPr lang="en-US" sz="1250" dirty="0">
                        <a:latin typeface="IBM Plex Sans Thai" charset="0"/>
                        <a:ea typeface="IBM Plex Sans Thai" charset="0"/>
                        <a:cs typeface="IBM Plex Sans Thai" charset="0"/>
                      </a:endParaRPr>
                    </a:p>
                  </a:txBody>
                  <a:tcPr marL="55563" marR="55563" marT="55563" marB="55563" anchor="t">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1D3426"/>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indent="0" marL="0">
                        <a:lnSpc>
                          <a:spcPts val="1750"/>
                        </a:lnSpc>
                        <a:buNone/>
                      </a:pPr>
                      <a:r>
                        <a:rPr lang="en-US" sz="1250" dirty="0">
                          <a:solidFill>
                            <a:srgbClr val="1F2A24"/>
                          </a:solidFill>
                          <a:latin typeface="IBM Plex Sans Thai" pitchFamily="34" charset="0"/>
                          <a:ea typeface="IBM Plex Sans Thai" pitchFamily="34" charset="-122"/>
                          <a:cs typeface="IBM Plex Sans Thai" pitchFamily="34" charset="-120"/>
                        </a:rPr>
                        <a:t>Follow-up ภายใน 24–48 ชม.</a:t>
                      </a:r>
                      <a:endParaRPr lang="en-US" sz="1250" dirty="0">
                        <a:latin typeface="IBM Plex Sans Thai" charset="0"/>
                        <a:ea typeface="IBM Plex Sans Thai" charset="0"/>
                        <a:cs typeface="IBM Plex Sans Thai" charset="0"/>
                      </a:endParaRPr>
                    </a:p>
                  </a:txBody>
                  <a:tcPr marL="55563" marR="55563" marT="55563" marB="55563" anchor="t">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1D3426"/>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r>
              <a:tr h="346075">
                <a:tc>
                  <a:txBody>
                    <a:bodyPr/>
                    <a:lstStyle/>
                    <a:p>
                      <a:pPr indent="0" marL="0">
                        <a:lnSpc>
                          <a:spcPts val="1750"/>
                        </a:lnSpc>
                        <a:buNone/>
                      </a:pPr>
                      <a:r>
                        <a:rPr lang="en-US" sz="1250" dirty="0">
                          <a:solidFill>
                            <a:srgbClr val="1F2A24"/>
                          </a:solidFill>
                          <a:latin typeface="IBM Plex Sans Thai" pitchFamily="34" charset="0"/>
                          <a:ea typeface="IBM Plex Sans Thai" pitchFamily="34" charset="-122"/>
                          <a:cs typeface="IBM Plex Sans Thai" pitchFamily="34" charset="-120"/>
                        </a:rPr>
                        <a:t>Set triers</a:t>
                      </a:r>
                      <a:endParaRPr lang="en-US" sz="1250" dirty="0">
                        <a:latin typeface="IBM Plex Sans Thai" charset="0"/>
                        <a:ea typeface="IBM Plex Sans Thai" charset="0"/>
                        <a:cs typeface="IBM Plex Sans Thai" charset="0"/>
                      </a:endParaRPr>
                    </a:p>
                  </a:txBody>
                  <a:tcPr marL="55563" marR="55563" marT="55563" marB="55563" anchor="t">
                    <a:lnL w="12700" cap="flat" cmpd="sng" algn="ctr">
                      <a:solidFill>
                        <a:srgbClr val="C5C3BC"/>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1"/>
                    </a:solidFill>
                  </a:tcPr>
                </a:tc>
                <a:tc>
                  <a:txBody>
                    <a:bodyPr/>
                    <a:lstStyle/>
                    <a:p>
                      <a:pPr indent="0" marL="0">
                        <a:lnSpc>
                          <a:spcPts val="1750"/>
                        </a:lnSpc>
                        <a:buNone/>
                      </a:pPr>
                      <a:r>
                        <a:rPr lang="en-US" sz="1250" dirty="0">
                          <a:solidFill>
                            <a:srgbClr val="1F2A24"/>
                          </a:solidFill>
                          <a:latin typeface="IBM Plex Sans Thai" pitchFamily="34" charset="0"/>
                          <a:ea typeface="IBM Plex Sans Thai" pitchFamily="34" charset="-122"/>
                          <a:cs typeface="IBM Plex Sans Thai" pitchFamily="34" charset="-120"/>
                        </a:rPr>
                        <a:t>ซื้อ discovery set แล้ว</a:t>
                      </a:r>
                      <a:endParaRPr lang="en-US" sz="1250" dirty="0">
                        <a:latin typeface="IBM Plex Sans Thai" charset="0"/>
                        <a:ea typeface="IBM Plex Sans Thai" charset="0"/>
                        <a:cs typeface="IBM Plex Sans Thai" charset="0"/>
                      </a:endParaRPr>
                    </a:p>
                  </a:txBody>
                  <a:tcPr marL="55563" marR="55563" marT="55563" marB="55563" anchor="t">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1"/>
                    </a:solidFill>
                  </a:tcPr>
                </a:tc>
                <a:tc>
                  <a:txBody>
                    <a:bodyPr/>
                    <a:lstStyle/>
                    <a:p>
                      <a:pPr indent="0" marL="0">
                        <a:lnSpc>
                          <a:spcPts val="1750"/>
                        </a:lnSpc>
                        <a:buNone/>
                      </a:pPr>
                      <a:r>
                        <a:rPr lang="en-US" sz="1250" dirty="0">
                          <a:solidFill>
                            <a:srgbClr val="1F2A24"/>
                          </a:solidFill>
                          <a:latin typeface="IBM Plex Sans Thai" pitchFamily="34" charset="0"/>
                          <a:ea typeface="IBM Plex Sans Thai" pitchFamily="34" charset="-122"/>
                          <a:cs typeface="IBM Plex Sans Thai" pitchFamily="34" charset="-120"/>
                        </a:rPr>
                        <a:t>สอนลอง 3 เช้า ถามผลวันที่ 7 + voucher</a:t>
                      </a:r>
                      <a:endParaRPr lang="en-US" sz="1250" dirty="0">
                        <a:latin typeface="IBM Plex Sans Thai" charset="0"/>
                        <a:ea typeface="IBM Plex Sans Thai" charset="0"/>
                        <a:cs typeface="IBM Plex Sans Thai" charset="0"/>
                      </a:endParaRPr>
                    </a:p>
                  </a:txBody>
                  <a:tcPr marL="55563" marR="55563" marT="55563" marB="55563" anchor="t">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1"/>
                    </a:solidFill>
                  </a:tcPr>
                </a:tc>
              </a:tr>
              <a:tr h="346075">
                <a:tc>
                  <a:txBody>
                    <a:bodyPr/>
                    <a:lstStyle/>
                    <a:p>
                      <a:pPr indent="0" marL="0">
                        <a:lnSpc>
                          <a:spcPts val="1750"/>
                        </a:lnSpc>
                        <a:buNone/>
                      </a:pPr>
                      <a:r>
                        <a:rPr lang="en-US" sz="1250" dirty="0">
                          <a:solidFill>
                            <a:srgbClr val="1F2A24"/>
                          </a:solidFill>
                          <a:latin typeface="IBM Plex Sans Thai" pitchFamily="34" charset="0"/>
                          <a:ea typeface="IBM Plex Sans Thai" pitchFamily="34" charset="-122"/>
                          <a:cs typeface="IBM Plex Sans Thai" pitchFamily="34" charset="-120"/>
                        </a:rPr>
                        <a:t>Cilantro lovers</a:t>
                      </a:r>
                      <a:endParaRPr lang="en-US" sz="1250" dirty="0">
                        <a:latin typeface="IBM Plex Sans Thai" charset="0"/>
                        <a:ea typeface="IBM Plex Sans Thai" charset="0"/>
                        <a:cs typeface="IBM Plex Sans Thai" charset="0"/>
                      </a:endParaRPr>
                    </a:p>
                  </a:txBody>
                  <a:tcPr marL="55563" marR="55563" marT="55563" marB="55563" anchor="t">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indent="0" marL="0">
                        <a:lnSpc>
                          <a:spcPts val="1750"/>
                        </a:lnSpc>
                        <a:buNone/>
                      </a:pPr>
                      <a:r>
                        <a:rPr lang="en-US" sz="1250" dirty="0">
                          <a:solidFill>
                            <a:srgbClr val="1F2A24"/>
                          </a:solidFill>
                          <a:latin typeface="IBM Plex Sans Thai" pitchFamily="34" charset="0"/>
                          <a:ea typeface="IBM Plex Sans Thai" pitchFamily="34" charset="-122"/>
                          <a:cs typeface="IBM Plex Sans Thai" pitchFamily="34" charset="-120"/>
                        </a:rPr>
                        <a:t>ชอบกลิ่นเขียวจัด</a:t>
                      </a:r>
                      <a:endParaRPr lang="en-US" sz="1250" dirty="0">
                        <a:latin typeface="IBM Plex Sans Thai" charset="0"/>
                        <a:ea typeface="IBM Plex Sans Thai" charset="0"/>
                        <a:cs typeface="IBM Plex Sans Thai" charset="0"/>
                      </a:endParaRPr>
                    </a:p>
                  </a:txBody>
                  <a:tcPr marL="55563" marR="55563" marT="55563" marB="55563" anchor="t">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indent="0" marL="0">
                        <a:lnSpc>
                          <a:spcPts val="1750"/>
                        </a:lnSpc>
                        <a:buNone/>
                      </a:pPr>
                      <a:r>
                        <a:rPr lang="en-US" sz="1250" dirty="0">
                          <a:solidFill>
                            <a:srgbClr val="1F2A24"/>
                          </a:solidFill>
                          <a:latin typeface="IBM Plex Sans Thai" pitchFamily="34" charset="0"/>
                          <a:ea typeface="IBM Plex Sans Thai" pitchFamily="34" charset="-122"/>
                          <a:cs typeface="IBM Plex Sans Thai" pitchFamily="34" charset="-120"/>
                        </a:rPr>
                        <a:t>เล่าเรื่องเชิงลึก ชวนเป็นผู้บรรยายกลิ่น (C3)</a:t>
                      </a:r>
                      <a:endParaRPr lang="en-US" sz="1250" dirty="0">
                        <a:latin typeface="IBM Plex Sans Thai" charset="0"/>
                        <a:ea typeface="IBM Plex Sans Thai" charset="0"/>
                        <a:cs typeface="IBM Plex Sans Thai" charset="0"/>
                      </a:endParaRPr>
                    </a:p>
                  </a:txBody>
                  <a:tcPr marL="55563" marR="55563" marT="55563" marB="55563" anchor="t">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r>
              <a:tr h="346075">
                <a:tc>
                  <a:txBody>
                    <a:bodyPr/>
                    <a:lstStyle/>
                    <a:p>
                      <a:pPr indent="0" marL="0">
                        <a:lnSpc>
                          <a:spcPts val="1750"/>
                        </a:lnSpc>
                        <a:buNone/>
                      </a:pPr>
                      <a:r>
                        <a:rPr lang="en-US" sz="1250" dirty="0">
                          <a:solidFill>
                            <a:srgbClr val="1F2A24"/>
                          </a:solidFill>
                          <a:latin typeface="IBM Plex Sans Thai" pitchFamily="34" charset="0"/>
                          <a:ea typeface="IBM Plex Sans Thai" pitchFamily="34" charset="-122"/>
                          <a:cs typeface="IBM Plex Sans Thai" pitchFamily="34" charset="-120"/>
                        </a:rPr>
                        <a:t>Green-curious</a:t>
                      </a:r>
                      <a:endParaRPr lang="en-US" sz="1250" dirty="0">
                        <a:latin typeface="IBM Plex Sans Thai" charset="0"/>
                        <a:ea typeface="IBM Plex Sans Thai" charset="0"/>
                        <a:cs typeface="IBM Plex Sans Thai" charset="0"/>
                      </a:endParaRPr>
                    </a:p>
                  </a:txBody>
                  <a:tcPr marL="55563" marR="55563" marT="55563" marB="55563" anchor="t">
                    <a:lnL w="12700" cap="flat" cmpd="sng" algn="ctr">
                      <a:solidFill>
                        <a:srgbClr val="C5C3BC"/>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1"/>
                    </a:solidFill>
                  </a:tcPr>
                </a:tc>
                <a:tc>
                  <a:txBody>
                    <a:bodyPr/>
                    <a:lstStyle/>
                    <a:p>
                      <a:pPr indent="0" marL="0">
                        <a:lnSpc>
                          <a:spcPts val="1750"/>
                        </a:lnSpc>
                        <a:buNone/>
                      </a:pPr>
                      <a:r>
                        <a:rPr lang="en-US" sz="1250" dirty="0">
                          <a:solidFill>
                            <a:srgbClr val="1F2A24"/>
                          </a:solidFill>
                          <a:latin typeface="IBM Plex Sans Thai" pitchFamily="34" charset="0"/>
                          <a:ea typeface="IBM Plex Sans Thai" pitchFamily="34" charset="-122"/>
                          <a:cs typeface="IBM Plex Sans Thai" pitchFamily="34" charset="-120"/>
                        </a:rPr>
                        <a:t>สนใจแต่ลังเลกับกลิ่นเขียว</a:t>
                      </a:r>
                      <a:endParaRPr lang="en-US" sz="1250" dirty="0">
                        <a:latin typeface="IBM Plex Sans Thai" charset="0"/>
                        <a:ea typeface="IBM Plex Sans Thai" charset="0"/>
                        <a:cs typeface="IBM Plex Sans Thai" charset="0"/>
                      </a:endParaRPr>
                    </a:p>
                  </a:txBody>
                  <a:tcPr marL="55563" marR="55563" marT="55563" marB="55563" anchor="t">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1"/>
                    </a:solidFill>
                  </a:tcPr>
                </a:tc>
                <a:tc>
                  <a:txBody>
                    <a:bodyPr/>
                    <a:lstStyle/>
                    <a:p>
                      <a:pPr indent="0" marL="0">
                        <a:lnSpc>
                          <a:spcPts val="1750"/>
                        </a:lnSpc>
                        <a:buNone/>
                      </a:pPr>
                      <a:r>
                        <a:rPr lang="en-US" sz="1250" dirty="0">
                          <a:solidFill>
                            <a:srgbClr val="1F2A24"/>
                          </a:solidFill>
                          <a:latin typeface="IBM Plex Sans Thai" pitchFamily="34" charset="0"/>
                          <a:ea typeface="IBM Plex Sans Thai" pitchFamily="34" charset="-122"/>
                          <a:cs typeface="IBM Plex Sans Thai" pitchFamily="34" charset="-120"/>
                        </a:rPr>
                        <a:t>แนะนำ Last Sip เป็น bridge scent</a:t>
                      </a:r>
                      <a:endParaRPr lang="en-US" sz="1250" dirty="0">
                        <a:latin typeface="IBM Plex Sans Thai" charset="0"/>
                        <a:ea typeface="IBM Plex Sans Thai" charset="0"/>
                        <a:cs typeface="IBM Plex Sans Thai" charset="0"/>
                      </a:endParaRPr>
                    </a:p>
                  </a:txBody>
                  <a:tcPr marL="55563" marR="55563" marT="55563" marB="55563" anchor="t">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1"/>
                    </a:solidFill>
                  </a:tcPr>
                </a:tc>
              </a:tr>
              <a:tr h="346075">
                <a:tc>
                  <a:txBody>
                    <a:bodyPr/>
                    <a:lstStyle/>
                    <a:p>
                      <a:pPr indent="0" marL="0">
                        <a:lnSpc>
                          <a:spcPts val="1750"/>
                        </a:lnSpc>
                        <a:buNone/>
                      </a:pPr>
                      <a:r>
                        <a:rPr lang="en-US" sz="1250" dirty="0">
                          <a:solidFill>
                            <a:srgbClr val="1F2A24"/>
                          </a:solidFill>
                          <a:latin typeface="IBM Plex Sans Thai" pitchFamily="34" charset="0"/>
                          <a:ea typeface="IBM Plex Sans Thai" pitchFamily="34" charset="-122"/>
                          <a:cs typeface="IBM Plex Sans Thai" pitchFamily="34" charset="-120"/>
                        </a:rPr>
                        <a:t>Gift seekers</a:t>
                      </a:r>
                      <a:endParaRPr lang="en-US" sz="1250" dirty="0">
                        <a:latin typeface="IBM Plex Sans Thai" charset="0"/>
                        <a:ea typeface="IBM Plex Sans Thai" charset="0"/>
                        <a:cs typeface="IBM Plex Sans Thai" charset="0"/>
                      </a:endParaRPr>
                    </a:p>
                  </a:txBody>
                  <a:tcPr marL="55563" marR="55563" marT="55563" marB="55563" anchor="t">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indent="0" marL="0">
                        <a:lnSpc>
                          <a:spcPts val="1750"/>
                        </a:lnSpc>
                        <a:buNone/>
                      </a:pPr>
                      <a:r>
                        <a:rPr lang="en-US" sz="1250" dirty="0">
                          <a:solidFill>
                            <a:srgbClr val="1F2A24"/>
                          </a:solidFill>
                          <a:latin typeface="IBM Plex Sans Thai" pitchFamily="34" charset="0"/>
                          <a:ea typeface="IBM Plex Sans Thai" pitchFamily="34" charset="-122"/>
                          <a:cs typeface="IBM Plex Sans Thai" pitchFamily="34" charset="-120"/>
                        </a:rPr>
                        <a:t>ถามหาของขวัญ</a:t>
                      </a:r>
                      <a:endParaRPr lang="en-US" sz="1250" dirty="0">
                        <a:latin typeface="IBM Plex Sans Thai" charset="0"/>
                        <a:ea typeface="IBM Plex Sans Thai" charset="0"/>
                        <a:cs typeface="IBM Plex Sans Thai" charset="0"/>
                      </a:endParaRPr>
                    </a:p>
                  </a:txBody>
                  <a:tcPr marL="55563" marR="55563" marT="55563" marB="55563" anchor="t">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indent="0" marL="0">
                        <a:lnSpc>
                          <a:spcPts val="1750"/>
                        </a:lnSpc>
                        <a:buNone/>
                      </a:pPr>
                      <a:r>
                        <a:rPr lang="en-US" sz="1250" dirty="0">
                          <a:solidFill>
                            <a:srgbClr val="1F2A24"/>
                          </a:solidFill>
                          <a:latin typeface="IBM Plex Sans Thai" pitchFamily="34" charset="0"/>
                          <a:ea typeface="IBM Plex Sans Thai" pitchFamily="34" charset="-122"/>
                          <a:cs typeface="IBM Plex Sans Thai" pitchFamily="34" charset="-120"/>
                        </a:rPr>
                        <a:t>ตอบตรงว่าไม่ใช่ gift brand ไม่ทำแคมเปญเทศกาล</a:t>
                      </a:r>
                      <a:endParaRPr lang="en-US" sz="1250" dirty="0">
                        <a:latin typeface="IBM Plex Sans Thai" charset="0"/>
                        <a:ea typeface="IBM Plex Sans Thai" charset="0"/>
                        <a:cs typeface="IBM Plex Sans Thai" charset="0"/>
                      </a:endParaRPr>
                    </a:p>
                  </a:txBody>
                  <a:tcPr marL="55563" marR="55563" marT="55563" marB="55563" anchor="t">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r>
              <a:tr h="346075">
                <a:tc>
                  <a:txBody>
                    <a:bodyPr/>
                    <a:lstStyle/>
                    <a:p>
                      <a:pPr indent="0" marL="0">
                        <a:lnSpc>
                          <a:spcPts val="1750"/>
                        </a:lnSpc>
                        <a:buNone/>
                      </a:pPr>
                      <a:r>
                        <a:rPr lang="en-US" sz="1250" dirty="0">
                          <a:solidFill>
                            <a:srgbClr val="1F2A24"/>
                          </a:solidFill>
                          <a:latin typeface="IBM Plex Sans Thai" pitchFamily="34" charset="0"/>
                          <a:ea typeface="IBM Plex Sans Thai" pitchFamily="34" charset="-122"/>
                          <a:cs typeface="IBM Plex Sans Thai" pitchFamily="34" charset="-120"/>
                        </a:rPr>
                        <a:t>Repeat wearers</a:t>
                      </a:r>
                      <a:endParaRPr lang="en-US" sz="1250" dirty="0">
                        <a:latin typeface="IBM Plex Sans Thai" charset="0"/>
                        <a:ea typeface="IBM Plex Sans Thai" charset="0"/>
                        <a:cs typeface="IBM Plex Sans Thai" charset="0"/>
                      </a:endParaRPr>
                    </a:p>
                  </a:txBody>
                  <a:tcPr marL="55563" marR="55563" marT="55563" marB="55563" anchor="t">
                    <a:lnL w="12700" cap="flat" cmpd="sng" algn="ctr">
                      <a:solidFill>
                        <a:srgbClr val="C5C3BC"/>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1"/>
                    </a:solidFill>
                  </a:tcPr>
                </a:tc>
                <a:tc>
                  <a:txBody>
                    <a:bodyPr/>
                    <a:lstStyle/>
                    <a:p>
                      <a:pPr indent="0" marL="0">
                        <a:lnSpc>
                          <a:spcPts val="1750"/>
                        </a:lnSpc>
                        <a:buNone/>
                      </a:pPr>
                      <a:r>
                        <a:rPr lang="en-US" sz="1250" dirty="0">
                          <a:solidFill>
                            <a:srgbClr val="1F2A24"/>
                          </a:solidFill>
                          <a:latin typeface="IBM Plex Sans Thai" pitchFamily="34" charset="0"/>
                          <a:ea typeface="IBM Plex Sans Thai" pitchFamily="34" charset="-122"/>
                          <a:cs typeface="IBM Plex Sans Thai" pitchFamily="34" charset="-120"/>
                        </a:rPr>
                        <a:t>ซื้อขวดแล้ว 60–90 วัน</a:t>
                      </a:r>
                      <a:endParaRPr lang="en-US" sz="1250" dirty="0">
                        <a:latin typeface="IBM Plex Sans Thai" charset="0"/>
                        <a:ea typeface="IBM Plex Sans Thai" charset="0"/>
                        <a:cs typeface="IBM Plex Sans Thai" charset="0"/>
                      </a:endParaRPr>
                    </a:p>
                  </a:txBody>
                  <a:tcPr marL="55563" marR="55563" marT="55563" marB="55563" anchor="t">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1"/>
                    </a:solidFill>
                  </a:tcPr>
                </a:tc>
                <a:tc>
                  <a:txBody>
                    <a:bodyPr/>
                    <a:lstStyle/>
                    <a:p>
                      <a:pPr indent="0" marL="0">
                        <a:lnSpc>
                          <a:spcPts val="1750"/>
                        </a:lnSpc>
                        <a:buNone/>
                      </a:pPr>
                      <a:r>
                        <a:rPr lang="en-US" sz="1250" dirty="0">
                          <a:solidFill>
                            <a:srgbClr val="1F2A24"/>
                          </a:solidFill>
                          <a:latin typeface="IBM Plex Sans Thai" pitchFamily="34" charset="0"/>
                          <a:ea typeface="IBM Plex Sans Thai" pitchFamily="34" charset="-122"/>
                          <a:cs typeface="IBM Plex Sans Thai" pitchFamily="34" charset="-120"/>
                        </a:rPr>
                        <a:t>เตือนใกล้หมด + referral code</a:t>
                      </a:r>
                      <a:endParaRPr lang="en-US" sz="1250" dirty="0">
                        <a:latin typeface="IBM Plex Sans Thai" charset="0"/>
                        <a:ea typeface="IBM Plex Sans Thai" charset="0"/>
                        <a:cs typeface="IBM Plex Sans Thai" charset="0"/>
                      </a:endParaRPr>
                    </a:p>
                  </a:txBody>
                  <a:tcPr marL="55563" marR="55563" marT="55563" marB="55563" anchor="t">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1"/>
                    </a:solidFill>
                  </a:tcPr>
                </a:tc>
              </a:tr>
            </a:tbl>
          </a:graphicData>
        </a:graphic>
      </p:graphicFrame>
      <p:sp>
        <p:nvSpPr>
          <p:cNvPr id="5" name="Text 2"/>
          <p:cNvSpPr/>
          <p:nvPr/>
        </p:nvSpPr>
        <p:spPr>
          <a:xfrm>
            <a:off x="812800" y="4421454"/>
            <a:ext cx="10883392" cy="2476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3D4A42"/>
                </a:solidFill>
                <a:latin typeface="IBM Plex Sans Thai" pitchFamily="34" charset="0"/>
                <a:ea typeface="IBM Plex Sans Thai" pitchFamily="34" charset="-122"/>
                <a:cs typeface="IBM Plex Sans Thai" pitchFamily="34" charset="-120"/>
              </a:rPr>
              <a:t>Persona: </a:t>
            </a:r>
            <a:r>
              <a:rPr lang="en-US" sz="1250" b="1" dirty="0">
                <a:solidFill>
                  <a:srgbClr val="3D4A42"/>
                </a:solidFill>
                <a:latin typeface="IBM Plex Sans Thai" pitchFamily="34" charset="0"/>
                <a:ea typeface="IBM Plex Sans Thai" pitchFamily="34" charset="-122"/>
                <a:cs typeface="IBM Plex Sans Thai" pitchFamily="34" charset="-120"/>
              </a:rPr>
              <a:t>"ภูมิ" 27 ปี</a:t>
            </a:r>
            <a:r>
              <a:rPr lang="en-US" sz="1250" dirty="0">
                <a:solidFill>
                  <a:srgbClr val="3D4A42"/>
                </a:solidFill>
                <a:latin typeface="IBM Plex Sans Thai" pitchFamily="34" charset="0"/>
                <a:ea typeface="IBM Plex Sans Thai" pitchFamily="34" charset="-122"/>
                <a:cs typeface="IBM Plex Sans Thai" pitchFamily="34" charset="-120"/>
              </a:rPr>
              <a:t> ดม Cilantro ที่บูธ ชอบแต่ไม่แน่ใจว่าใส่ทุกวันได้ไหม ไม่ชอบถูกขายแรง ชอบแบรนด์ที่พูดตรง</a:t>
            </a:r>
            <a:endParaRPr lang="en-US" sz="1250" dirty="0"/>
          </a:p>
        </p:txBody>
      </p:sp>
      <p:sp>
        <p:nvSpPr>
          <p:cNvPr id="6" name="Text 3"/>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F68"/>
                </a:solidFill>
                <a:latin typeface="IBM Plex Sans Thai" pitchFamily="34" charset="0"/>
                <a:ea typeface="IBM Plex Sans Thai" pitchFamily="34" charset="-122"/>
                <a:cs typeface="IBM Plex Sans Thai" pitchFamily="34" charset="-120"/>
              </a:rPr>
              <a:t>BIS609 · BitterSweet × Agentic AI on LINE OA · Where we play จาก BIS608 หน้า 8</a:t>
            </a:r>
            <a:endParaRPr lang="en-US" sz="1200" dirty="0"/>
          </a:p>
        </p:txBody>
      </p:sp>
      <p:sp>
        <p:nvSpPr>
          <p:cNvPr id="7" name="Text 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F68"/>
                </a:solidFill>
                <a:latin typeface="IBM Plex Sans Thai" pitchFamily="34" charset="0"/>
                <a:ea typeface="IBM Plex Sans Thai" pitchFamily="34" charset="-122"/>
                <a:cs typeface="IBM Plex Sans Thai" pitchFamily="34" charset="-120"/>
              </a:rPr>
              <a:t>08 / 16</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AF0E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4532E"/>
                </a:solidFill>
                <a:latin typeface="IBM Plex Sans Thai" pitchFamily="34" charset="0"/>
                <a:ea typeface="IBM Plex Sans Thai" pitchFamily="34" charset="-122"/>
                <a:cs typeface="IBM Plex Sans Thai" pitchFamily="34" charset="-120"/>
              </a:rPr>
              <a:t>S · STRATEGY · POSITIONING &amp; VALUE PROPOSITION (L07 P.30–41)</a:t>
            </a:r>
            <a:endParaRPr lang="en-US" sz="1200" dirty="0"/>
          </a:p>
        </p:txBody>
      </p:sp>
      <p:sp>
        <p:nvSpPr>
          <p:cNvPr id="3" name="Text 1"/>
          <p:cNvSpPr/>
          <p:nvPr/>
        </p:nvSpPr>
        <p:spPr>
          <a:xfrm>
            <a:off x="812800" y="1229320"/>
            <a:ext cx="10883392" cy="574014"/>
          </a:xfrm>
          <a:prstGeom prst="rect">
            <a:avLst/>
          </a:prstGeom>
          <a:noFill/>
          <a:ln/>
        </p:spPr>
        <p:txBody>
          <a:bodyPr wrap="square" lIns="0" tIns="0" rIns="0" bIns="0" rtlCol="0" anchor="t">
            <a:normAutofit/>
          </a:bodyPr>
          <a:lstStyle/>
          <a:p>
            <a:pPr algn="l" indent="0" marL="0">
              <a:lnSpc>
                <a:spcPts val="4320"/>
              </a:lnSpc>
              <a:buNone/>
            </a:pPr>
            <a:r>
              <a:rPr lang="en-US" sz="3600" b="1" dirty="0">
                <a:solidFill>
                  <a:srgbClr val="1F3D2B"/>
                </a:solidFill>
                <a:latin typeface="Noto Serif Thai" pitchFamily="18" charset="0"/>
                <a:ea typeface="Noto Serif Thai" pitchFamily="18" charset="-122"/>
                <a:cs typeface="Noto Serif Thai" pitchFamily="18" charset="-120"/>
              </a:rPr>
              <a:t>"Scent Concierge ที่พูดความจริง"</a:t>
            </a:r>
            <a:endParaRPr lang="en-US" sz="3600" dirty="0"/>
          </a:p>
        </p:txBody>
      </p:sp>
      <p:sp>
        <p:nvSpPr>
          <p:cNvPr id="4" name="Text 2"/>
          <p:cNvSpPr/>
          <p:nvPr/>
        </p:nvSpPr>
        <p:spPr>
          <a:xfrm>
            <a:off x="812800" y="1981138"/>
            <a:ext cx="10464800" cy="30162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3D4A42"/>
                </a:solidFill>
                <a:latin typeface="IBM Plex Sans Thai" pitchFamily="34" charset="0"/>
                <a:ea typeface="IBM Plex Sans Thai" pitchFamily="34" charset="-122"/>
                <a:cs typeface="IBM Plex Sans Thai" pitchFamily="34" charset="-120"/>
              </a:rPr>
              <a:t>ผู้ช่วยที่จำได้ว่าคุณดมกลิ่นไหน ช่วยให้คุณเลือกกลิ่นของตัวเอง และกล้าบอกถ้ากลิ่นนั้นไม่ใช่คุณ</a:t>
            </a:r>
            <a:endParaRPr lang="en-US" sz="1500" dirty="0"/>
          </a:p>
        </p:txBody>
      </p:sp>
      <p:sp>
        <p:nvSpPr>
          <p:cNvPr id="5" name="Shape 3"/>
          <p:cNvSpPr/>
          <p:nvPr/>
        </p:nvSpPr>
        <p:spPr>
          <a:xfrm>
            <a:off x="812800" y="2460563"/>
            <a:ext cx="5207000" cy="1310614"/>
          </a:xfrm>
          <a:prstGeom prst="roundRect">
            <a:avLst>
              <a:gd name="adj" fmla="val 8721"/>
            </a:avLst>
          </a:prstGeom>
          <a:solidFill>
            <a:srgbClr val="FFFDF8"/>
          </a:solidFill>
          <a:ln/>
        </p:spPr>
      </p:sp>
      <p:sp>
        <p:nvSpPr>
          <p:cNvPr id="6" name="Text 4"/>
          <p:cNvSpPr/>
          <p:nvPr/>
        </p:nvSpPr>
        <p:spPr>
          <a:xfrm>
            <a:off x="1003300" y="2625663"/>
            <a:ext cx="4970780"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8A3F1F"/>
                </a:solidFill>
                <a:latin typeface="IBM Plex Sans Thai" pitchFamily="34" charset="0"/>
                <a:ea typeface="IBM Plex Sans Thai" pitchFamily="34" charset="-122"/>
                <a:cs typeface="IBM Plex Sans Thai" pitchFamily="34" charset="-120"/>
              </a:rPr>
              <a:t>Pains → Pain relievers</a:t>
            </a:r>
            <a:endParaRPr lang="en-US" sz="1300" dirty="0"/>
          </a:p>
        </p:txBody>
      </p:sp>
      <p:sp>
        <p:nvSpPr>
          <p:cNvPr id="7" name="Text 5"/>
          <p:cNvSpPr/>
          <p:nvPr/>
        </p:nvSpPr>
        <p:spPr>
          <a:xfrm>
            <a:off x="1003300" y="2920274"/>
            <a:ext cx="4970780" cy="7112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1F2A24"/>
                </a:solidFill>
                <a:latin typeface="IBM Plex Sans Thai" pitchFamily="34" charset="0"/>
                <a:ea typeface="IBM Plex Sans Thai" pitchFamily="34" charset="-122"/>
                <a:cs typeface="IBM Plex Sans Thai" pitchFamily="34" charset="-120"/>
              </a:rPr>
              <a:t>ดมแล้วลืม → </a:t>
            </a:r>
            <a:r>
              <a:rPr lang="en-US" sz="1200" b="1" dirty="0">
                <a:solidFill>
                  <a:srgbClr val="1F2A24"/>
                </a:solidFill>
                <a:latin typeface="IBM Plex Sans Thai" pitchFamily="34" charset="0"/>
                <a:ea typeface="IBM Plex Sans Thai" pitchFamily="34" charset="-122"/>
                <a:cs typeface="IBM Plex Sans Thai" pitchFamily="34" charset="-120"/>
              </a:rPr>
              <a:t>จำกลิ่นที่ดมให้</a:t>
            </a:r>
            <a:endParaRPr lang="en-US" sz="1200" dirty="0"/>
          </a:p>
          <a:p>
            <a:pPr algn="l" indent="0" marL="0">
              <a:lnSpc>
                <a:spcPts val="1800"/>
              </a:lnSpc>
              <a:buNone/>
            </a:pPr>
            <a:r>
              <a:rPr lang="en-US" sz="1200" dirty="0">
                <a:solidFill>
                  <a:srgbClr val="1F2A24"/>
                </a:solidFill>
                <a:latin typeface="IBM Plex Sans Thai" pitchFamily="34" charset="0"/>
                <a:ea typeface="IBM Plex Sans Thai" pitchFamily="34" charset="-122"/>
                <a:cs typeface="IBM Plex Sans Thai" pitchFamily="34" charset="-120"/>
              </a:rPr>
              <a:t>ไม่แน่ใจว่าใส่ทุกวันได้ → </a:t>
            </a:r>
            <a:r>
              <a:rPr lang="en-US" sz="1200" b="1" dirty="0">
                <a:solidFill>
                  <a:srgbClr val="1F2A24"/>
                </a:solidFill>
                <a:latin typeface="IBM Plex Sans Thai" pitchFamily="34" charset="0"/>
                <a:ea typeface="IBM Plex Sans Thai" pitchFamily="34" charset="-122"/>
                <a:cs typeface="IBM Plex Sans Thai" pitchFamily="34" charset="-120"/>
              </a:rPr>
              <a:t>ลอง 3 เช้าบนผิว</a:t>
            </a:r>
            <a:endParaRPr lang="en-US" sz="1200" dirty="0"/>
          </a:p>
          <a:p>
            <a:pPr algn="l" indent="0" marL="0">
              <a:lnSpc>
                <a:spcPts val="1800"/>
              </a:lnSpc>
              <a:buNone/>
            </a:pPr>
            <a:r>
              <a:rPr lang="en-US" sz="1200" dirty="0">
                <a:solidFill>
                  <a:srgbClr val="1F2A24"/>
                </a:solidFill>
                <a:latin typeface="IBM Plex Sans Thai" pitchFamily="34" charset="0"/>
                <a:ea typeface="IBM Plex Sans Thai" pitchFamily="34" charset="-122"/>
                <a:cs typeface="IBM Plex Sans Thai" pitchFamily="34" charset="-120"/>
              </a:rPr>
              <a:t>กลัวถูกตื๊อ → </a:t>
            </a:r>
            <a:r>
              <a:rPr lang="en-US" sz="1200" b="1" dirty="0">
                <a:solidFill>
                  <a:srgbClr val="1F2A24"/>
                </a:solidFill>
                <a:latin typeface="IBM Plex Sans Thai" pitchFamily="34" charset="0"/>
                <a:ea typeface="IBM Plex Sans Thai" pitchFamily="34" charset="-122"/>
                <a:cs typeface="IBM Plex Sans Thai" pitchFamily="34" charset="-120"/>
              </a:rPr>
              <a:t>ตอบตรงถ้าไม่เหมาะ</a:t>
            </a:r>
            <a:endParaRPr lang="en-US" sz="1200" dirty="0"/>
          </a:p>
        </p:txBody>
      </p:sp>
      <p:sp>
        <p:nvSpPr>
          <p:cNvPr id="8" name="Shape 6"/>
          <p:cNvSpPr/>
          <p:nvPr/>
        </p:nvSpPr>
        <p:spPr>
          <a:xfrm>
            <a:off x="6172200" y="2460563"/>
            <a:ext cx="5207000" cy="1310614"/>
          </a:xfrm>
          <a:prstGeom prst="roundRect">
            <a:avLst>
              <a:gd name="adj" fmla="val 8721"/>
            </a:avLst>
          </a:prstGeom>
          <a:solidFill>
            <a:srgbClr val="FFFDF8"/>
          </a:solidFill>
          <a:ln/>
        </p:spPr>
      </p:sp>
      <p:sp>
        <p:nvSpPr>
          <p:cNvPr id="9" name="Text 7"/>
          <p:cNvSpPr/>
          <p:nvPr/>
        </p:nvSpPr>
        <p:spPr>
          <a:xfrm>
            <a:off x="6362700" y="2625663"/>
            <a:ext cx="4970780"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F5D43"/>
                </a:solidFill>
                <a:latin typeface="IBM Plex Sans Thai" pitchFamily="34" charset="0"/>
                <a:ea typeface="IBM Plex Sans Thai" pitchFamily="34" charset="-122"/>
                <a:cs typeface="IBM Plex Sans Thai" pitchFamily="34" charset="-120"/>
              </a:rPr>
              <a:t>Gains → Gain creators</a:t>
            </a:r>
            <a:endParaRPr lang="en-US" sz="1300" dirty="0"/>
          </a:p>
        </p:txBody>
      </p:sp>
      <p:sp>
        <p:nvSpPr>
          <p:cNvPr id="10" name="Text 8"/>
          <p:cNvSpPr/>
          <p:nvPr/>
        </p:nvSpPr>
        <p:spPr>
          <a:xfrm>
            <a:off x="6362700" y="2920274"/>
            <a:ext cx="4970780" cy="7112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1F2A24"/>
                </a:solidFill>
                <a:latin typeface="IBM Plex Sans Thai" pitchFamily="34" charset="0"/>
                <a:ea typeface="IBM Plex Sans Thai" pitchFamily="34" charset="-122"/>
                <a:cs typeface="IBM Plex Sans Thai" pitchFamily="34" charset="-120"/>
              </a:rPr>
              <a:t>กลิ่นที่ไม่เหมือนใคร → </a:t>
            </a:r>
            <a:r>
              <a:rPr lang="en-US" sz="1200" b="1" dirty="0">
                <a:solidFill>
                  <a:srgbClr val="1F2A24"/>
                </a:solidFill>
                <a:latin typeface="IBM Plex Sans Thai" pitchFamily="34" charset="0"/>
                <a:ea typeface="IBM Plex Sans Thai" pitchFamily="34" charset="-122"/>
                <a:cs typeface="IBM Plex Sans Thai" pitchFamily="34" charset="-120"/>
              </a:rPr>
              <a:t>"I chose green"</a:t>
            </a:r>
            <a:endParaRPr lang="en-US" sz="1200" dirty="0"/>
          </a:p>
          <a:p>
            <a:pPr algn="l" indent="0" marL="0">
              <a:lnSpc>
                <a:spcPts val="1800"/>
              </a:lnSpc>
              <a:buNone/>
            </a:pPr>
            <a:r>
              <a:rPr lang="en-US" sz="1200" dirty="0">
                <a:solidFill>
                  <a:srgbClr val="1F2A24"/>
                </a:solidFill>
                <a:latin typeface="IBM Plex Sans Thai" pitchFamily="34" charset="0"/>
                <a:ea typeface="IBM Plex Sans Thai" pitchFamily="34" charset="-122"/>
                <a:cs typeface="IBM Plex Sans Thai" pitchFamily="34" charset="-120"/>
              </a:rPr>
              <a:t>มีคำไว้เล่าต่อ → </a:t>
            </a:r>
            <a:r>
              <a:rPr lang="en-US" sz="1200" b="1" dirty="0">
                <a:solidFill>
                  <a:srgbClr val="1F2A24"/>
                </a:solidFill>
                <a:latin typeface="IBM Plex Sans Thai" pitchFamily="34" charset="0"/>
                <a:ea typeface="IBM Plex Sans Thai" pitchFamily="34" charset="-122"/>
                <a:cs typeface="IBM Plex Sans Thai" pitchFamily="34" charset="-120"/>
              </a:rPr>
              <a:t>คำบรรยาย 2 ภาษา</a:t>
            </a:r>
            <a:endParaRPr lang="en-US" sz="1200" dirty="0"/>
          </a:p>
          <a:p>
            <a:pPr algn="l" indent="0" marL="0">
              <a:lnSpc>
                <a:spcPts val="1800"/>
              </a:lnSpc>
              <a:buNone/>
            </a:pPr>
            <a:r>
              <a:rPr lang="en-US" sz="1200" dirty="0">
                <a:solidFill>
                  <a:srgbClr val="1F2A24"/>
                </a:solidFill>
                <a:latin typeface="IBM Plex Sans Thai" pitchFamily="34" charset="0"/>
                <a:ea typeface="IBM Plex Sans Thai" pitchFamily="34" charset="-122"/>
                <a:cs typeface="IBM Plex Sans Thai" pitchFamily="34" charset="-120"/>
              </a:rPr>
              <a:t>ซื้อซ้ำง่าย → </a:t>
            </a:r>
            <a:r>
              <a:rPr lang="en-US" sz="1200" b="1" dirty="0">
                <a:solidFill>
                  <a:srgbClr val="1F2A24"/>
                </a:solidFill>
                <a:latin typeface="IBM Plex Sans Thai" pitchFamily="34" charset="0"/>
                <a:ea typeface="IBM Plex Sans Thai" pitchFamily="34" charset="-122"/>
                <a:cs typeface="IBM Plex Sans Thai" pitchFamily="34" charset="-120"/>
              </a:rPr>
              <a:t>เตือนก่อนหมด</a:t>
            </a:r>
            <a:endParaRPr lang="en-US" sz="1200" dirty="0"/>
          </a:p>
        </p:txBody>
      </p:sp>
      <p:sp>
        <p:nvSpPr>
          <p:cNvPr id="11" name="Text 9"/>
          <p:cNvSpPr/>
          <p:nvPr/>
        </p:nvSpPr>
        <p:spPr>
          <a:xfrm>
            <a:off x="812800" y="3974374"/>
            <a:ext cx="10883392" cy="24765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1F3D2B"/>
                </a:solidFill>
                <a:latin typeface="IBM Plex Sans Thai" pitchFamily="34" charset="0"/>
                <a:ea typeface="IBM Plex Sans Thai" pitchFamily="34" charset="-122"/>
                <a:cs typeface="IBM Plex Sans Thai" pitchFamily="34" charset="-120"/>
              </a:rPr>
              <a:t>Positioning vs Perception:</a:t>
            </a:r>
            <a:r>
              <a:rPr lang="en-US" sz="1250" dirty="0">
                <a:solidFill>
                  <a:srgbClr val="3D4A42"/>
                </a:solidFill>
                <a:latin typeface="IBM Plex Sans Thai" pitchFamily="34" charset="0"/>
                <a:ea typeface="IBM Plex Sans Thai" pitchFamily="34" charset="-122"/>
                <a:cs typeface="IBM Plex Sans Thai" pitchFamily="34" charset="-120"/>
              </a:rPr>
              <a:t> ถ้า agent แข็งทื่อ perception จะเปลี่ยนจาก "founder's hands are visible" เป็น "แบรนด์ที่ใช้บอท"</a:t>
            </a:r>
            <a:endParaRPr lang="en-US" sz="1250" dirty="0"/>
          </a:p>
        </p:txBody>
      </p:sp>
      <p:sp>
        <p:nvSpPr>
          <p:cNvPr id="12" name="Text 10"/>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F68"/>
                </a:solidFill>
                <a:latin typeface="IBM Plex Sans Thai" pitchFamily="34" charset="0"/>
                <a:ea typeface="IBM Plex Sans Thai" pitchFamily="34" charset="-122"/>
                <a:cs typeface="IBM Plex Sans Thai" pitchFamily="34" charset="-120"/>
              </a:rPr>
              <a:t>BIS609 · BitterSweet × Agentic AI on LINE OA</a:t>
            </a:r>
            <a:endParaRPr lang="en-US" sz="1200" dirty="0"/>
          </a:p>
        </p:txBody>
      </p:sp>
      <p:sp>
        <p:nvSpPr>
          <p:cNvPr id="13" name="Text 1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F68"/>
                </a:solidFill>
                <a:latin typeface="IBM Plex Sans Thai" pitchFamily="34" charset="0"/>
                <a:ea typeface="IBM Plex Sans Thai" pitchFamily="34" charset="-122"/>
                <a:cs typeface="IBM Plex Sans Thai" pitchFamily="34" charset="-120"/>
              </a:rPr>
              <a:t>09 / 16</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4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4532E"/>
                </a:solidFill>
                <a:latin typeface="IBM Plex Sans Thai" pitchFamily="34" charset="0"/>
                <a:ea typeface="IBM Plex Sans Thai" pitchFamily="34" charset="-122"/>
                <a:cs typeface="IBM Plex Sans Thai" pitchFamily="34" charset="-120"/>
              </a:rPr>
              <a:t>T · TACTICS · CUSTOMER JOURNEY + AIDA (L08 P.37–76)</a:t>
            </a:r>
            <a:endParaRPr lang="en-US" sz="1200" dirty="0"/>
          </a:p>
        </p:txBody>
      </p:sp>
      <p:sp>
        <p:nvSpPr>
          <p:cNvPr id="3" name="Text 1"/>
          <p:cNvSpPr/>
          <p:nvPr>
            <p:ph type="title"/>
          </p:nvPr>
        </p:nvSpPr>
        <p:spPr>
          <a:xfrm>
            <a:off x="812800" y="1203920"/>
            <a:ext cx="10883392" cy="452107"/>
          </a:xfrm>
          <a:prstGeom prst="rect">
            <a:avLst/>
          </a:prstGeom>
          <a:noFill/>
          <a:ln/>
        </p:spPr>
        <p:txBody>
          <a:bodyPr wrap="square" lIns="0" tIns="0" rIns="0" bIns="0" rtlCol="0" anchor="t">
            <a:normAutofit/>
          </a:bodyPr>
          <a:lstStyle/>
          <a:p>
            <a:pPr algn="l" indent="0" marL="0">
              <a:lnSpc>
                <a:spcPts val="3360"/>
              </a:lnSpc>
              <a:buNone/>
            </a:pPr>
            <a:r>
              <a:rPr lang="en-US" sz="2800" b="1" i="0" dirty="0">
                <a:solidFill>
                  <a:srgbClr val="1F3D2B"/>
                </a:solidFill>
                <a:latin typeface="Noto Serif Thai" pitchFamily="18" charset="0"/>
                <a:ea typeface="Noto Serif Thai" pitchFamily="18" charset="-122"/>
                <a:cs typeface="Noto Serif Thai" pitchFamily="18" charset="-120"/>
              </a:rPr>
              <a:t>จากบูธดมกลิ่น สู่ลูกค้าประจำ ใน 90 วัน</a:t>
            </a:r>
            <a:endParaRPr lang="en-US" sz="2800" dirty="0"/>
          </a:p>
        </p:txBody>
      </p:sp>
      <p:sp>
        <p:nvSpPr>
          <p:cNvPr id="4" name="Shape 2"/>
          <p:cNvSpPr/>
          <p:nvPr/>
        </p:nvSpPr>
        <p:spPr>
          <a:xfrm>
            <a:off x="819150" y="1814779"/>
            <a:ext cx="1674283" cy="1461558"/>
          </a:xfrm>
          <a:prstGeom prst="roundRect">
            <a:avLst>
              <a:gd name="adj" fmla="val 6517"/>
            </a:avLst>
          </a:prstGeom>
          <a:solidFill>
            <a:srgbClr val="FFFDF8"/>
          </a:solidFill>
          <a:ln w="12700">
            <a:solidFill>
              <a:srgbClr val="E4DED2"/>
            </a:solidFill>
            <a:prstDash val="solid"/>
          </a:ln>
        </p:spPr>
      </p:sp>
      <p:sp>
        <p:nvSpPr>
          <p:cNvPr id="5" name="Text 3"/>
          <p:cNvSpPr/>
          <p:nvPr/>
        </p:nvSpPr>
        <p:spPr>
          <a:xfrm>
            <a:off x="952500" y="1948129"/>
            <a:ext cx="145838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4532E"/>
                </a:solidFill>
                <a:latin typeface="IBM Plex Sans Thai" pitchFamily="34" charset="0"/>
                <a:ea typeface="IBM Plex Sans Thai" pitchFamily="34" charset="-122"/>
                <a:cs typeface="IBM Plex Sans Thai" pitchFamily="34" charset="-120"/>
              </a:rPr>
              <a:t>Day 0</a:t>
            </a:r>
            <a:endParaRPr lang="en-US" sz="1200" dirty="0"/>
          </a:p>
        </p:txBody>
      </p:sp>
      <p:sp>
        <p:nvSpPr>
          <p:cNvPr id="6" name="Text 4"/>
          <p:cNvSpPr/>
          <p:nvPr/>
        </p:nvSpPr>
        <p:spPr>
          <a:xfrm>
            <a:off x="952500" y="2224949"/>
            <a:ext cx="1458383" cy="239977"/>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1F2A24"/>
                </a:solidFill>
                <a:latin typeface="IBM Plex Sans Thai" pitchFamily="34" charset="0"/>
                <a:ea typeface="IBM Plex Sans Thai" pitchFamily="34" charset="-122"/>
                <a:cs typeface="IBM Plex Sans Thai" pitchFamily="34" charset="-120"/>
              </a:rPr>
              <a:t>ดมที่บูธ</a:t>
            </a:r>
            <a:endParaRPr lang="en-US" sz="1300" dirty="0"/>
          </a:p>
        </p:txBody>
      </p:sp>
      <p:sp>
        <p:nvSpPr>
          <p:cNvPr id="7" name="Text 5"/>
          <p:cNvSpPr/>
          <p:nvPr/>
        </p:nvSpPr>
        <p:spPr>
          <a:xfrm>
            <a:off x="952500" y="2503029"/>
            <a:ext cx="145838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42"/>
                </a:solidFill>
                <a:latin typeface="IBM Plex Sans Thai" pitchFamily="34" charset="0"/>
                <a:ea typeface="IBM Plex Sans Thai" pitchFamily="34" charset="-122"/>
                <a:cs typeface="IBM Plex Sans Thai" pitchFamily="34" charset="-120"/>
              </a:rPr>
              <a:t>สแกน QR เพิ่มเพื่อน · agent แท็กกลิ่นที่ชอบ</a:t>
            </a:r>
            <a:endParaRPr lang="en-US" sz="1200" dirty="0"/>
          </a:p>
        </p:txBody>
      </p:sp>
      <p:sp>
        <p:nvSpPr>
          <p:cNvPr id="8" name="Shape 6"/>
          <p:cNvSpPr/>
          <p:nvPr/>
        </p:nvSpPr>
        <p:spPr>
          <a:xfrm>
            <a:off x="2595033" y="1814779"/>
            <a:ext cx="1674283" cy="1461558"/>
          </a:xfrm>
          <a:prstGeom prst="roundRect">
            <a:avLst>
              <a:gd name="adj" fmla="val 6517"/>
            </a:avLst>
          </a:prstGeom>
          <a:solidFill>
            <a:srgbClr val="FFFDF8"/>
          </a:solidFill>
          <a:ln w="12700">
            <a:solidFill>
              <a:srgbClr val="E4DED2"/>
            </a:solidFill>
            <a:prstDash val="solid"/>
          </a:ln>
        </p:spPr>
      </p:sp>
      <p:sp>
        <p:nvSpPr>
          <p:cNvPr id="9" name="Text 7"/>
          <p:cNvSpPr/>
          <p:nvPr/>
        </p:nvSpPr>
        <p:spPr>
          <a:xfrm>
            <a:off x="2728383" y="1948129"/>
            <a:ext cx="145838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6E9E"/>
                </a:solidFill>
                <a:latin typeface="IBM Plex Sans Thai" pitchFamily="34" charset="0"/>
                <a:ea typeface="IBM Plex Sans Thai" pitchFamily="34" charset="-122"/>
                <a:cs typeface="IBM Plex Sans Thai" pitchFamily="34" charset="-120"/>
              </a:rPr>
              <a:t>Day 1–2</a:t>
            </a:r>
            <a:endParaRPr lang="en-US" sz="1200" dirty="0"/>
          </a:p>
        </p:txBody>
      </p:sp>
      <p:sp>
        <p:nvSpPr>
          <p:cNvPr id="10" name="Text 8"/>
          <p:cNvSpPr/>
          <p:nvPr/>
        </p:nvSpPr>
        <p:spPr>
          <a:xfrm>
            <a:off x="2728383" y="2224949"/>
            <a:ext cx="1458383" cy="239977"/>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1F2A24"/>
                </a:solidFill>
                <a:latin typeface="IBM Plex Sans Thai" pitchFamily="34" charset="0"/>
                <a:ea typeface="IBM Plex Sans Thai" pitchFamily="34" charset="-122"/>
                <a:cs typeface="IBM Plex Sans Thai" pitchFamily="34" charset="-120"/>
              </a:rPr>
              <a:t>Follow-up</a:t>
            </a:r>
            <a:endParaRPr lang="en-US" sz="1300" dirty="0"/>
          </a:p>
        </p:txBody>
      </p:sp>
      <p:sp>
        <p:nvSpPr>
          <p:cNvPr id="11" name="Text 9"/>
          <p:cNvSpPr/>
          <p:nvPr/>
        </p:nvSpPr>
        <p:spPr>
          <a:xfrm>
            <a:off x="2728383" y="2503029"/>
            <a:ext cx="1458383"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42"/>
                </a:solidFill>
                <a:latin typeface="IBM Plex Sans Thai" pitchFamily="34" charset="0"/>
                <a:ea typeface="IBM Plex Sans Thai" pitchFamily="34" charset="-122"/>
                <a:cs typeface="IBM Plex Sans Thai" pitchFamily="34" charset="-120"/>
              </a:rPr>
              <a:t>ถามว่ากลิ่นไหนยังติดอยู่ · สร้าง scent profile</a:t>
            </a:r>
            <a:endParaRPr lang="en-US" sz="1200" dirty="0"/>
          </a:p>
        </p:txBody>
      </p:sp>
      <p:sp>
        <p:nvSpPr>
          <p:cNvPr id="12" name="Shape 10"/>
          <p:cNvSpPr/>
          <p:nvPr/>
        </p:nvSpPr>
        <p:spPr>
          <a:xfrm>
            <a:off x="4370917" y="1814779"/>
            <a:ext cx="1674283" cy="1461558"/>
          </a:xfrm>
          <a:prstGeom prst="roundRect">
            <a:avLst>
              <a:gd name="adj" fmla="val 6517"/>
            </a:avLst>
          </a:prstGeom>
          <a:solidFill>
            <a:srgbClr val="FFFDF8"/>
          </a:solidFill>
          <a:ln w="12700">
            <a:solidFill>
              <a:srgbClr val="E4DED2"/>
            </a:solidFill>
            <a:prstDash val="solid"/>
          </a:ln>
        </p:spPr>
      </p:sp>
      <p:sp>
        <p:nvSpPr>
          <p:cNvPr id="13" name="Text 11"/>
          <p:cNvSpPr/>
          <p:nvPr/>
        </p:nvSpPr>
        <p:spPr>
          <a:xfrm>
            <a:off x="4504267" y="1948129"/>
            <a:ext cx="145838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6E9E"/>
                </a:solidFill>
                <a:latin typeface="IBM Plex Sans Thai" pitchFamily="34" charset="0"/>
                <a:ea typeface="IBM Plex Sans Thai" pitchFamily="34" charset="-122"/>
                <a:cs typeface="IBM Plex Sans Thai" pitchFamily="34" charset="-120"/>
              </a:rPr>
              <a:t>Day 2–5</a:t>
            </a:r>
            <a:endParaRPr lang="en-US" sz="1200" dirty="0"/>
          </a:p>
        </p:txBody>
      </p:sp>
      <p:sp>
        <p:nvSpPr>
          <p:cNvPr id="14" name="Text 12"/>
          <p:cNvSpPr/>
          <p:nvPr/>
        </p:nvSpPr>
        <p:spPr>
          <a:xfrm>
            <a:off x="4504267" y="2224949"/>
            <a:ext cx="1458383" cy="239977"/>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1F2A24"/>
                </a:solidFill>
                <a:latin typeface="IBM Plex Sans Thai" pitchFamily="34" charset="0"/>
                <a:ea typeface="IBM Plex Sans Thai" pitchFamily="34" charset="-122"/>
                <a:cs typeface="IBM Plex Sans Thai" pitchFamily="34" charset="-120"/>
              </a:rPr>
              <a:t>Set 350฿</a:t>
            </a:r>
            <a:endParaRPr lang="en-US" sz="1300" dirty="0"/>
          </a:p>
        </p:txBody>
      </p:sp>
      <p:sp>
        <p:nvSpPr>
          <p:cNvPr id="15" name="Text 13"/>
          <p:cNvSpPr/>
          <p:nvPr/>
        </p:nvSpPr>
        <p:spPr>
          <a:xfrm>
            <a:off x="4504267" y="2503029"/>
            <a:ext cx="145838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42"/>
                </a:solidFill>
                <a:latin typeface="IBM Plex Sans Thai" pitchFamily="34" charset="0"/>
                <a:ea typeface="IBM Plex Sans Thai" pitchFamily="34" charset="-122"/>
                <a:cs typeface="IBM Plex Sans Thai" pitchFamily="34" charset="-120"/>
              </a:rPr>
              <a:t>จ่าย PromptPay ในแชต · สอนลอง 3 เช้า</a:t>
            </a:r>
            <a:endParaRPr lang="en-US" sz="1200" dirty="0"/>
          </a:p>
        </p:txBody>
      </p:sp>
      <p:sp>
        <p:nvSpPr>
          <p:cNvPr id="16" name="Shape 14"/>
          <p:cNvSpPr/>
          <p:nvPr/>
        </p:nvSpPr>
        <p:spPr>
          <a:xfrm>
            <a:off x="6146800" y="1814779"/>
            <a:ext cx="1674283" cy="1461558"/>
          </a:xfrm>
          <a:prstGeom prst="roundRect">
            <a:avLst>
              <a:gd name="adj" fmla="val 6517"/>
            </a:avLst>
          </a:prstGeom>
          <a:solidFill>
            <a:srgbClr val="FFFDF8"/>
          </a:solidFill>
          <a:ln w="12700">
            <a:solidFill>
              <a:srgbClr val="E4DED2"/>
            </a:solidFill>
            <a:prstDash val="solid"/>
          </a:ln>
        </p:spPr>
      </p:sp>
      <p:sp>
        <p:nvSpPr>
          <p:cNvPr id="17" name="Text 15"/>
          <p:cNvSpPr/>
          <p:nvPr/>
        </p:nvSpPr>
        <p:spPr>
          <a:xfrm>
            <a:off x="6280150" y="1948129"/>
            <a:ext cx="145838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5D43"/>
                </a:solidFill>
                <a:latin typeface="IBM Plex Sans Thai" pitchFamily="34" charset="0"/>
                <a:ea typeface="IBM Plex Sans Thai" pitchFamily="34" charset="-122"/>
                <a:cs typeface="IBM Plex Sans Thai" pitchFamily="34" charset="-120"/>
              </a:rPr>
              <a:t>Day 7–10</a:t>
            </a:r>
            <a:endParaRPr lang="en-US" sz="1200" dirty="0"/>
          </a:p>
        </p:txBody>
      </p:sp>
      <p:sp>
        <p:nvSpPr>
          <p:cNvPr id="18" name="Text 16"/>
          <p:cNvSpPr/>
          <p:nvPr/>
        </p:nvSpPr>
        <p:spPr>
          <a:xfrm>
            <a:off x="6280150" y="2224949"/>
            <a:ext cx="1458383" cy="239977"/>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1F2A24"/>
                </a:solidFill>
                <a:latin typeface="IBM Plex Sans Thai" pitchFamily="34" charset="0"/>
                <a:ea typeface="IBM Plex Sans Thai" pitchFamily="34" charset="-122"/>
                <a:cs typeface="IBM Plex Sans Thai" pitchFamily="34" charset="-120"/>
              </a:rPr>
              <a:t>เลือกกลิ่น</a:t>
            </a:r>
            <a:endParaRPr lang="en-US" sz="1300" dirty="0"/>
          </a:p>
        </p:txBody>
      </p:sp>
      <p:sp>
        <p:nvSpPr>
          <p:cNvPr id="19" name="Text 17"/>
          <p:cNvSpPr/>
          <p:nvPr/>
        </p:nvSpPr>
        <p:spPr>
          <a:xfrm>
            <a:off x="6280150" y="2503029"/>
            <a:ext cx="1458383"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42"/>
                </a:solidFill>
                <a:latin typeface="IBM Plex Sans Thai" pitchFamily="34" charset="0"/>
                <a:ea typeface="IBM Plex Sans Thai" pitchFamily="34" charset="-122"/>
                <a:cs typeface="IBM Plex Sans Thai" pitchFamily="34" charset="-120"/>
              </a:rPr>
              <a:t>ตอบตรงถ้าไม่เหมาะ · voucher หัก 350฿ (C2)</a:t>
            </a:r>
            <a:endParaRPr lang="en-US" sz="1200" dirty="0"/>
          </a:p>
        </p:txBody>
      </p:sp>
      <p:sp>
        <p:nvSpPr>
          <p:cNvPr id="20" name="Shape 18"/>
          <p:cNvSpPr/>
          <p:nvPr/>
        </p:nvSpPr>
        <p:spPr>
          <a:xfrm>
            <a:off x="7922684" y="1814779"/>
            <a:ext cx="1674283" cy="1461558"/>
          </a:xfrm>
          <a:prstGeom prst="roundRect">
            <a:avLst>
              <a:gd name="adj" fmla="val 6517"/>
            </a:avLst>
          </a:prstGeom>
          <a:solidFill>
            <a:srgbClr val="FFFDF8"/>
          </a:solidFill>
          <a:ln w="12700">
            <a:solidFill>
              <a:srgbClr val="E4DED2"/>
            </a:solidFill>
            <a:prstDash val="solid"/>
          </a:ln>
        </p:spPr>
      </p:sp>
      <p:sp>
        <p:nvSpPr>
          <p:cNvPr id="21" name="Text 19"/>
          <p:cNvSpPr/>
          <p:nvPr/>
        </p:nvSpPr>
        <p:spPr>
          <a:xfrm>
            <a:off x="8056034" y="1948129"/>
            <a:ext cx="145838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5D43"/>
                </a:solidFill>
                <a:latin typeface="IBM Plex Sans Thai" pitchFamily="34" charset="0"/>
                <a:ea typeface="IBM Plex Sans Thai" pitchFamily="34" charset="-122"/>
                <a:cs typeface="IBM Plex Sans Thai" pitchFamily="34" charset="-120"/>
              </a:rPr>
              <a:t>Day 10+</a:t>
            </a:r>
            <a:endParaRPr lang="en-US" sz="1200" dirty="0"/>
          </a:p>
        </p:txBody>
      </p:sp>
      <p:sp>
        <p:nvSpPr>
          <p:cNvPr id="22" name="Text 20"/>
          <p:cNvSpPr/>
          <p:nvPr/>
        </p:nvSpPr>
        <p:spPr>
          <a:xfrm>
            <a:off x="8056034" y="2224949"/>
            <a:ext cx="1458383" cy="239977"/>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1F2A24"/>
                </a:solidFill>
                <a:latin typeface="IBM Plex Sans Thai" pitchFamily="34" charset="0"/>
                <a:ea typeface="IBM Plex Sans Thai" pitchFamily="34" charset="-122"/>
                <a:cs typeface="IBM Plex Sans Thai" pitchFamily="34" charset="-120"/>
              </a:rPr>
              <a:t>ขวด 450฿</a:t>
            </a:r>
            <a:endParaRPr lang="en-US" sz="1300" dirty="0"/>
          </a:p>
        </p:txBody>
      </p:sp>
      <p:sp>
        <p:nvSpPr>
          <p:cNvPr id="23" name="Text 21"/>
          <p:cNvSpPr/>
          <p:nvPr/>
        </p:nvSpPr>
        <p:spPr>
          <a:xfrm>
            <a:off x="8056034" y="2503029"/>
            <a:ext cx="145838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42"/>
                </a:solidFill>
                <a:latin typeface="IBM Plex Sans Thai" pitchFamily="34" charset="0"/>
                <a:ea typeface="IBM Plex Sans Thai" pitchFamily="34" charset="-122"/>
                <a:cs typeface="IBM Plex Sans Thai" pitchFamily="34" charset="-120"/>
              </a:rPr>
              <a:t>สร้าง order · แจ้งสถานะพัสดุ</a:t>
            </a:r>
            <a:endParaRPr lang="en-US" sz="1200" dirty="0"/>
          </a:p>
        </p:txBody>
      </p:sp>
      <p:sp>
        <p:nvSpPr>
          <p:cNvPr id="24" name="Shape 22"/>
          <p:cNvSpPr/>
          <p:nvPr/>
        </p:nvSpPr>
        <p:spPr>
          <a:xfrm>
            <a:off x="9698567" y="1814779"/>
            <a:ext cx="1674283" cy="1461558"/>
          </a:xfrm>
          <a:prstGeom prst="roundRect">
            <a:avLst>
              <a:gd name="adj" fmla="val 6517"/>
            </a:avLst>
          </a:prstGeom>
          <a:solidFill>
            <a:srgbClr val="FFFDF8"/>
          </a:solidFill>
          <a:ln w="12700">
            <a:solidFill>
              <a:srgbClr val="E4DED2"/>
            </a:solidFill>
            <a:prstDash val="solid"/>
          </a:ln>
        </p:spPr>
      </p:sp>
      <p:sp>
        <p:nvSpPr>
          <p:cNvPr id="25" name="Text 23"/>
          <p:cNvSpPr/>
          <p:nvPr/>
        </p:nvSpPr>
        <p:spPr>
          <a:xfrm>
            <a:off x="9831917" y="1948129"/>
            <a:ext cx="145838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7F6000"/>
                </a:solidFill>
                <a:latin typeface="IBM Plex Sans Thai" pitchFamily="34" charset="0"/>
                <a:ea typeface="IBM Plex Sans Thai" pitchFamily="34" charset="-122"/>
                <a:cs typeface="IBM Plex Sans Thai" pitchFamily="34" charset="-120"/>
              </a:rPr>
              <a:t>Day 60–90</a:t>
            </a:r>
            <a:endParaRPr lang="en-US" sz="1200" dirty="0"/>
          </a:p>
        </p:txBody>
      </p:sp>
      <p:sp>
        <p:nvSpPr>
          <p:cNvPr id="26" name="Text 24"/>
          <p:cNvSpPr/>
          <p:nvPr/>
        </p:nvSpPr>
        <p:spPr>
          <a:xfrm>
            <a:off x="9831917" y="2224949"/>
            <a:ext cx="1458383" cy="239977"/>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1F2A24"/>
                </a:solidFill>
                <a:latin typeface="IBM Plex Sans Thai" pitchFamily="34" charset="0"/>
                <a:ea typeface="IBM Plex Sans Thai" pitchFamily="34" charset="-122"/>
                <a:cs typeface="IBM Plex Sans Thai" pitchFamily="34" charset="-120"/>
              </a:rPr>
              <a:t>ซื้อซ้ำ</a:t>
            </a:r>
            <a:endParaRPr lang="en-US" sz="1300" dirty="0"/>
          </a:p>
        </p:txBody>
      </p:sp>
      <p:sp>
        <p:nvSpPr>
          <p:cNvPr id="27" name="Text 25"/>
          <p:cNvSpPr/>
          <p:nvPr/>
        </p:nvSpPr>
        <p:spPr>
          <a:xfrm>
            <a:off x="9831917" y="2503029"/>
            <a:ext cx="145838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42"/>
                </a:solidFill>
                <a:latin typeface="IBM Plex Sans Thai" pitchFamily="34" charset="0"/>
                <a:ea typeface="IBM Plex Sans Thai" pitchFamily="34" charset="-122"/>
                <a:cs typeface="IBM Plex Sans Thai" pitchFamily="34" charset="-120"/>
              </a:rPr>
              <a:t>เตือนใกล้หมด (F2) · referral (C3)</a:t>
            </a:r>
            <a:endParaRPr lang="en-US" sz="1200" dirty="0"/>
          </a:p>
        </p:txBody>
      </p:sp>
      <p:sp>
        <p:nvSpPr>
          <p:cNvPr id="28" name="Shape 26"/>
          <p:cNvSpPr/>
          <p:nvPr/>
        </p:nvSpPr>
        <p:spPr>
          <a:xfrm>
            <a:off x="819150" y="3466840"/>
            <a:ext cx="10553700" cy="787334"/>
          </a:xfrm>
          <a:prstGeom prst="roundRect">
            <a:avLst>
              <a:gd name="adj" fmla="val 12098"/>
            </a:avLst>
          </a:prstGeom>
          <a:solidFill>
            <a:srgbClr val="EAF0E8"/>
          </a:solidFill>
          <a:ln w="12700">
            <a:solidFill>
              <a:srgbClr val="8FB39A"/>
            </a:solidFill>
            <a:prstDash val="solid"/>
          </a:ln>
        </p:spPr>
      </p:sp>
      <p:sp>
        <p:nvSpPr>
          <p:cNvPr id="29" name="Text 27"/>
          <p:cNvSpPr/>
          <p:nvPr/>
        </p:nvSpPr>
        <p:spPr>
          <a:xfrm>
            <a:off x="1016000" y="3612890"/>
            <a:ext cx="10464800"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F3D2B"/>
                </a:solidFill>
                <a:latin typeface="IBM Plex Sans Thai" pitchFamily="34" charset="0"/>
                <a:ea typeface="IBM Plex Sans Thai" pitchFamily="34" charset="-122"/>
                <a:cs typeface="IBM Plex Sans Thai" pitchFamily="34" charset="-120"/>
              </a:rPr>
              <a:t>CRM Memory: สิ่งที่ BIS608 บอกว่ายังขาด</a:t>
            </a:r>
            <a:endParaRPr lang="en-US" sz="1300" dirty="0"/>
          </a:p>
        </p:txBody>
      </p:sp>
      <p:sp>
        <p:nvSpPr>
          <p:cNvPr id="30" name="Text 28"/>
          <p:cNvSpPr/>
          <p:nvPr/>
        </p:nvSpPr>
        <p:spPr>
          <a:xfrm>
            <a:off x="1016000" y="3894801"/>
            <a:ext cx="10464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42"/>
                </a:solidFill>
                <a:latin typeface="IBM Plex Sans Thai" pitchFamily="34" charset="0"/>
                <a:ea typeface="IBM Plex Sans Thai" pitchFamily="34" charset="-122"/>
                <a:cs typeface="IBM Plex Sans Thai" pitchFamily="34" charset="-120"/>
              </a:rPr>
              <a:t>ใครดมกลิ่นไหน ที่บูธไหน · ชอบหรือไม่ชอบ Cilantro · ซื้อ set หรือขวด · ซื้อเมื่อไร · ใช้คำไหนบรรยายกลิ่น · consent (PDPA)</a:t>
            </a:r>
            <a:endParaRPr lang="en-US" sz="1200" dirty="0"/>
          </a:p>
        </p:txBody>
      </p:sp>
      <p:sp>
        <p:nvSpPr>
          <p:cNvPr id="31" name="Text 29"/>
          <p:cNvSpPr/>
          <p:nvPr/>
        </p:nvSpPr>
        <p:spPr>
          <a:xfrm>
            <a:off x="812800" y="4438321"/>
            <a:ext cx="10883392" cy="24765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1F3D2B"/>
                </a:solidFill>
                <a:latin typeface="IBM Plex Sans Thai" pitchFamily="34" charset="0"/>
                <a:ea typeface="IBM Plex Sans Thai" pitchFamily="34" charset="-122"/>
                <a:cs typeface="IBM Plex Sans Thai" pitchFamily="34" charset="-120"/>
              </a:rPr>
              <a:t>4Ps → 4Cs:</a:t>
            </a:r>
            <a:r>
              <a:rPr lang="en-US" sz="1250" dirty="0">
                <a:solidFill>
                  <a:srgbClr val="3D4A42"/>
                </a:solidFill>
                <a:latin typeface="IBM Plex Sans Thai" pitchFamily="34" charset="0"/>
                <a:ea typeface="IBM Plex Sans Thai" pitchFamily="34" charset="-122"/>
                <a:cs typeface="IBM Plex Sans Thai" pitchFamily="34" charset="-120"/>
              </a:rPr>
              <a:t> Promotion กลายเป็น Communication สองทาง และ Place กลายเป็น Convenience คือซื้อซ้ำได้โดยไม่ต้องรองานบูธครั้งหน้า</a:t>
            </a:r>
            <a:endParaRPr lang="en-US" sz="1250" dirty="0"/>
          </a:p>
        </p:txBody>
      </p:sp>
      <p:sp>
        <p:nvSpPr>
          <p:cNvPr id="32" name="Text 30"/>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F68"/>
                </a:solidFill>
                <a:latin typeface="IBM Plex Sans Thai" pitchFamily="34" charset="0"/>
                <a:ea typeface="IBM Plex Sans Thai" pitchFamily="34" charset="-122"/>
                <a:cs typeface="IBM Plex Sans Thai" pitchFamily="34" charset="-120"/>
              </a:rPr>
              <a:t>BIS609 · BitterSweet × Agentic AI on LINE OA</a:t>
            </a:r>
            <a:endParaRPr lang="en-US" sz="1200" dirty="0"/>
          </a:p>
        </p:txBody>
      </p:sp>
      <p:sp>
        <p:nvSpPr>
          <p:cNvPr id="33" name="Text 3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F68"/>
                </a:solidFill>
                <a:latin typeface="IBM Plex Sans Thai" pitchFamily="34" charset="0"/>
                <a:ea typeface="IBM Plex Sans Thai" pitchFamily="34" charset="-122"/>
                <a:cs typeface="IBM Plex Sans Thai" pitchFamily="34" charset="-120"/>
              </a:rPr>
              <a:t>10 / 16</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4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4532E"/>
                </a:solidFill>
                <a:latin typeface="IBM Plex Sans Thai" pitchFamily="34" charset="0"/>
                <a:ea typeface="IBM Plex Sans Thai" pitchFamily="34" charset="-122"/>
                <a:cs typeface="IBM Plex Sans Thai" pitchFamily="34" charset="-120"/>
              </a:rPr>
              <a:t>T · TACTICS · CONSUMER PSYCHOLOGY (L08 P.57–65) × ETHICAL RULES (BIS608 หน้า 17)</a:t>
            </a:r>
            <a:endParaRPr lang="en-US" sz="1200" dirty="0"/>
          </a:p>
        </p:txBody>
      </p:sp>
      <p:sp>
        <p:nvSpPr>
          <p:cNvPr id="3" name="Text 1"/>
          <p:cNvSpPr/>
          <p:nvPr>
            <p:ph type="title"/>
          </p:nvPr>
        </p:nvSpPr>
        <p:spPr>
          <a:xfrm>
            <a:off x="812800" y="1203920"/>
            <a:ext cx="10883392" cy="452107"/>
          </a:xfrm>
          <a:prstGeom prst="rect">
            <a:avLst/>
          </a:prstGeom>
          <a:noFill/>
          <a:ln/>
        </p:spPr>
        <p:txBody>
          <a:bodyPr wrap="square" lIns="0" tIns="0" rIns="0" bIns="0" rtlCol="0" anchor="t">
            <a:normAutofit/>
          </a:bodyPr>
          <a:lstStyle/>
          <a:p>
            <a:pPr algn="l" indent="0" marL="0">
              <a:lnSpc>
                <a:spcPts val="3360"/>
              </a:lnSpc>
              <a:buNone/>
            </a:pPr>
            <a:r>
              <a:rPr lang="en-US" sz="2800" b="1" i="0" dirty="0">
                <a:solidFill>
                  <a:srgbClr val="1F3D2B"/>
                </a:solidFill>
                <a:latin typeface="Noto Serif Thai" pitchFamily="18" charset="0"/>
                <a:ea typeface="Noto Serif Thai" pitchFamily="18" charset="-122"/>
                <a:cs typeface="Noto Serif Thai" pitchFamily="18" charset="-120"/>
              </a:rPr>
              <a:t>กติกาของแบรนด์เข้มกว่าตำราการตลาด</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21129"/>
          <a:ext cx="10553700" cy="2328532"/>
        </p:xfrm>
        <a:graphic>
          <a:graphicData uri="http://schemas.openxmlformats.org/drawingml/2006/table">
            <a:tbl>
              <a:tblPr/>
              <a:tblGrid>
                <a:gridCol w="2532888"/>
                <a:gridCol w="2110740"/>
                <a:gridCol w="5910072"/>
              </a:tblGrid>
              <a:tr h="332647">
                <a:tc>
                  <a:txBody>
                    <a:bodyPr/>
                    <a:lstStyle/>
                    <a:p>
                      <a:pPr indent="0" marL="0">
                        <a:lnSpc>
                          <a:spcPts val="1680"/>
                        </a:lnSpc>
                        <a:buNone/>
                      </a:pPr>
                      <a:r>
                        <a:rPr lang="en-US" sz="1200" b="1" dirty="0">
                          <a:solidFill>
                            <a:srgbClr val="F7F4EC"/>
                          </a:solidFill>
                          <a:latin typeface="IBM Plex Sans Thai" pitchFamily="34" charset="0"/>
                          <a:ea typeface="IBM Plex Sans Thai" pitchFamily="34" charset="-122"/>
                          <a:cs typeface="IBM Plex Sans Thai" pitchFamily="34" charset="-120"/>
                        </a:rPr>
                        <a:t>เครื่องมือ (L08)</a:t>
                      </a:r>
                      <a:endParaRPr lang="en-US" sz="1200" dirty="0">
                        <a:latin typeface="IBM Plex Sans Thai" charset="0"/>
                        <a:ea typeface="IBM Plex Sans Thai" charset="0"/>
                        <a:cs typeface="IBM Plex Sans Thai" charset="0"/>
                      </a:endParaRPr>
                    </a:p>
                  </a:txBody>
                  <a:tcPr marL="53340" marR="53340" marT="53340" marB="53340" anchor="t">
                    <a:lnL w="12700" cap="flat" cmpd="sng" algn="ctr">
                      <a:solidFill>
                        <a:srgbClr val="C5C3BC"/>
                      </a:solidFill>
                      <a:prstDash val="solid"/>
                      <a:round/>
                      <a:headEnd type="none" w="med" len="med"/>
                      <a:tailEnd type="none" w="med" len="med"/>
                    </a:lnL>
                    <a:lnR w="12700" cap="flat" cmpd="sng" algn="ctr">
                      <a:solidFill>
                        <a:srgbClr val="1D3426"/>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1D3426"/>
                      </a:solidFill>
                      <a:prstDash val="solid"/>
                      <a:round/>
                      <a:headEnd type="none" w="med" len="med"/>
                      <a:tailEnd type="none" w="med" len="med"/>
                    </a:lnB>
                    <a:solidFill>
                      <a:srgbClr val="1F3D2B"/>
                    </a:solidFill>
                  </a:tcPr>
                </a:tc>
                <a:tc>
                  <a:txBody>
                    <a:bodyPr/>
                    <a:lstStyle/>
                    <a:p>
                      <a:pPr indent="0" marL="0">
                        <a:lnSpc>
                          <a:spcPts val="1680"/>
                        </a:lnSpc>
                        <a:buNone/>
                      </a:pPr>
                      <a:r>
                        <a:rPr lang="en-US" sz="1200" b="1" dirty="0">
                          <a:solidFill>
                            <a:srgbClr val="F7F4EC"/>
                          </a:solidFill>
                          <a:latin typeface="IBM Plex Sans Thai" pitchFamily="34" charset="0"/>
                          <a:ea typeface="IBM Plex Sans Thai" pitchFamily="34" charset="-122"/>
                          <a:cs typeface="IBM Plex Sans Thai" pitchFamily="34" charset="-120"/>
                        </a:rPr>
                        <a:t>สถานะ</a:t>
                      </a:r>
                      <a:endParaRPr lang="en-US" sz="1200" dirty="0">
                        <a:latin typeface="IBM Plex Sans Thai" charset="0"/>
                        <a:ea typeface="IBM Plex Sans Thai" charset="0"/>
                        <a:cs typeface="IBM Plex Sans Thai" charset="0"/>
                      </a:endParaRPr>
                    </a:p>
                  </a:txBody>
                  <a:tcPr marL="53340" marR="53340" marT="53340" marB="53340" anchor="t">
                    <a:lnL w="12700" cap="flat" cmpd="sng" algn="ctr">
                      <a:solidFill>
                        <a:srgbClr val="1D3426"/>
                      </a:solidFill>
                      <a:prstDash val="solid"/>
                      <a:round/>
                      <a:headEnd type="none" w="med" len="med"/>
                      <a:tailEnd type="none" w="med" len="med"/>
                    </a:lnL>
                    <a:lnR w="12700" cap="flat" cmpd="sng" algn="ctr">
                      <a:solidFill>
                        <a:srgbClr val="1D3426"/>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1D3426"/>
                      </a:solidFill>
                      <a:prstDash val="solid"/>
                      <a:round/>
                      <a:headEnd type="none" w="med" len="med"/>
                      <a:tailEnd type="none" w="med" len="med"/>
                    </a:lnB>
                    <a:solidFill>
                      <a:srgbClr val="1F3D2B"/>
                    </a:solidFill>
                  </a:tcPr>
                </a:tc>
                <a:tc>
                  <a:txBody>
                    <a:bodyPr/>
                    <a:lstStyle/>
                    <a:p>
                      <a:pPr indent="0" marL="0">
                        <a:lnSpc>
                          <a:spcPts val="1680"/>
                        </a:lnSpc>
                        <a:buNone/>
                      </a:pPr>
                      <a:r>
                        <a:rPr lang="en-US" sz="1200" b="1" dirty="0">
                          <a:solidFill>
                            <a:srgbClr val="F7F4EC"/>
                          </a:solidFill>
                          <a:latin typeface="IBM Plex Sans Thai" pitchFamily="34" charset="0"/>
                          <a:ea typeface="IBM Plex Sans Thai" pitchFamily="34" charset="-122"/>
                          <a:cs typeface="IBM Plex Sans Thai" pitchFamily="34" charset="-120"/>
                        </a:rPr>
                        <a:t>เหตุผล / วิธีใช้</a:t>
                      </a:r>
                      <a:endParaRPr lang="en-US" sz="1200" dirty="0">
                        <a:latin typeface="IBM Plex Sans Thai" charset="0"/>
                        <a:ea typeface="IBM Plex Sans Thai" charset="0"/>
                        <a:cs typeface="IBM Plex Sans Thai" charset="0"/>
                      </a:endParaRPr>
                    </a:p>
                  </a:txBody>
                  <a:tcPr marL="53340" marR="53340" marT="53340" marB="53340" anchor="t">
                    <a:lnL w="12700" cap="flat" cmpd="sng" algn="ctr">
                      <a:solidFill>
                        <a:srgbClr val="1D3426"/>
                      </a:solidFill>
                      <a:prstDash val="solid"/>
                      <a:round/>
                      <a:headEnd type="none" w="med" len="med"/>
                      <a:tailEnd type="none" w="med" len="med"/>
                    </a:lnL>
                    <a:lnR w="12700" cap="flat" cmpd="sng" algn="ctr">
                      <a:solidFill>
                        <a:srgbClr val="1D3426"/>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1D3426"/>
                      </a:solidFill>
                      <a:prstDash val="solid"/>
                      <a:round/>
                      <a:headEnd type="none" w="med" len="med"/>
                      <a:tailEnd type="none" w="med" len="med"/>
                    </a:lnB>
                    <a:solidFill>
                      <a:srgbClr val="1F3D2B"/>
                    </a:solidFill>
                  </a:tcPr>
                </a:tc>
              </a:tr>
              <a:tr h="332647">
                <a:tc>
                  <a:txBody>
                    <a:bodyPr/>
                    <a:lstStyle/>
                    <a:p>
                      <a:pPr indent="0" marL="0">
                        <a:lnSpc>
                          <a:spcPts val="1680"/>
                        </a:lnSpc>
                        <a:buNone/>
                      </a:pPr>
                      <a:r>
                        <a:rPr lang="en-US" sz="1200" dirty="0">
                          <a:solidFill>
                            <a:srgbClr val="1F2A24"/>
                          </a:solidFill>
                          <a:latin typeface="IBM Plex Sans Thai" pitchFamily="34" charset="0"/>
                          <a:ea typeface="IBM Plex Sans Thai" pitchFamily="34" charset="-122"/>
                          <a:cs typeface="IBM Plex Sans Thai" pitchFamily="34" charset="-120"/>
                        </a:rPr>
                        <a:t>Rule of 3</a:t>
                      </a:r>
                      <a:endParaRPr lang="en-US" sz="1200" dirty="0">
                        <a:latin typeface="IBM Plex Sans Thai" charset="0"/>
                        <a:ea typeface="IBM Plex Sans Thai" charset="0"/>
                        <a:cs typeface="IBM Plex Sans Thai" charset="0"/>
                      </a:endParaRPr>
                    </a:p>
                  </a:txBody>
                  <a:tcPr marL="53340" marR="53340" marT="53340" marB="53340" anchor="t">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1D3426"/>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indent="0" marL="0">
                        <a:lnSpc>
                          <a:spcPts val="1680"/>
                        </a:lnSpc>
                        <a:buNone/>
                      </a:pPr>
                      <a:r>
                        <a:rPr lang="en-US" sz="1200" dirty="0">
                          <a:solidFill>
                            <a:srgbClr val="2F5D43"/>
                          </a:solidFill>
                          <a:latin typeface="IBM Plex Sans Thai" pitchFamily="34" charset="0"/>
                          <a:ea typeface="IBM Plex Sans Thai" pitchFamily="34" charset="-122"/>
                          <a:cs typeface="IBM Plex Sans Thai" pitchFamily="34" charset="-120"/>
                        </a:rPr>
                        <a:t>ใช้ได้</a:t>
                      </a:r>
                      <a:endParaRPr lang="en-US" sz="1200" dirty="0">
                        <a:latin typeface="IBM Plex Sans Thai" charset="0"/>
                        <a:ea typeface="IBM Plex Sans Thai" charset="0"/>
                        <a:cs typeface="IBM Plex Sans Thai" charset="0"/>
                      </a:endParaRPr>
                    </a:p>
                  </a:txBody>
                  <a:tcPr marL="53340" marR="53340" marT="53340" marB="53340" anchor="t">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1D3426"/>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indent="0" marL="0">
                        <a:lnSpc>
                          <a:spcPts val="1680"/>
                        </a:lnSpc>
                        <a:buNone/>
                      </a:pPr>
                      <a:r>
                        <a:rPr lang="en-US" sz="1200" dirty="0">
                          <a:solidFill>
                            <a:srgbClr val="1F2A24"/>
                          </a:solidFill>
                          <a:latin typeface="IBM Plex Sans Thai" pitchFamily="34" charset="0"/>
                          <a:ea typeface="IBM Plex Sans Thai" pitchFamily="34" charset="-122"/>
                          <a:cs typeface="IBM Plex Sans Thai" pitchFamily="34" charset="-120"/>
                        </a:rPr>
                        <a:t>มี 3 กลิ่นอยู่แล้ว เป็นธรรมชาติของสินค้า</a:t>
                      </a:r>
                      <a:endParaRPr lang="en-US" sz="1200" dirty="0">
                        <a:latin typeface="IBM Plex Sans Thai" charset="0"/>
                        <a:ea typeface="IBM Plex Sans Thai" charset="0"/>
                        <a:cs typeface="IBM Plex Sans Thai" charset="0"/>
                      </a:endParaRPr>
                    </a:p>
                  </a:txBody>
                  <a:tcPr marL="53340" marR="53340" marT="53340" marB="53340" anchor="t">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1D3426"/>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r>
              <a:tr h="332647">
                <a:tc>
                  <a:txBody>
                    <a:bodyPr/>
                    <a:lstStyle/>
                    <a:p>
                      <a:pPr indent="0" marL="0">
                        <a:lnSpc>
                          <a:spcPts val="1680"/>
                        </a:lnSpc>
                        <a:buNone/>
                      </a:pPr>
                      <a:r>
                        <a:rPr lang="en-US" sz="1200" dirty="0">
                          <a:solidFill>
                            <a:srgbClr val="1F2A24"/>
                          </a:solidFill>
                          <a:latin typeface="IBM Plex Sans Thai" pitchFamily="34" charset="0"/>
                          <a:ea typeface="IBM Plex Sans Thai" pitchFamily="34" charset="-122"/>
                          <a:cs typeface="IBM Plex Sans Thai" pitchFamily="34" charset="-120"/>
                        </a:rPr>
                        <a:t>Anchoring</a:t>
                      </a:r>
                      <a:endParaRPr lang="en-US" sz="1200" dirty="0">
                        <a:latin typeface="IBM Plex Sans Thai" charset="0"/>
                        <a:ea typeface="IBM Plex Sans Thai" charset="0"/>
                        <a:cs typeface="IBM Plex Sans Thai" charset="0"/>
                      </a:endParaRPr>
                    </a:p>
                  </a:txBody>
                  <a:tcPr marL="53340" marR="53340" marT="53340" marB="53340" anchor="t">
                    <a:lnL w="12700" cap="flat" cmpd="sng" algn="ctr">
                      <a:solidFill>
                        <a:srgbClr val="C5C3BC"/>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1"/>
                    </a:solidFill>
                  </a:tcPr>
                </a:tc>
                <a:tc>
                  <a:txBody>
                    <a:bodyPr/>
                    <a:lstStyle/>
                    <a:p>
                      <a:pPr indent="0" marL="0">
                        <a:lnSpc>
                          <a:spcPts val="1680"/>
                        </a:lnSpc>
                        <a:buNone/>
                      </a:pPr>
                      <a:r>
                        <a:rPr lang="en-US" sz="1200" dirty="0">
                          <a:solidFill>
                            <a:srgbClr val="2F5D43"/>
                          </a:solidFill>
                          <a:latin typeface="IBM Plex Sans Thai" pitchFamily="34" charset="0"/>
                          <a:ea typeface="IBM Plex Sans Thai" pitchFamily="34" charset="-122"/>
                          <a:cs typeface="IBM Plex Sans Thai" pitchFamily="34" charset="-120"/>
                        </a:rPr>
                        <a:t>ใช้อย่างจำกัด</a:t>
                      </a:r>
                      <a:endParaRPr lang="en-US" sz="1200" dirty="0">
                        <a:latin typeface="IBM Plex Sans Thai" charset="0"/>
                        <a:ea typeface="IBM Plex Sans Thai" charset="0"/>
                        <a:cs typeface="IBM Plex Sans Thai" charset="0"/>
                      </a:endParaRPr>
                    </a:p>
                  </a:txBody>
                  <a:tcPr marL="53340" marR="53340" marT="53340" marB="53340" anchor="t">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1"/>
                    </a:solidFill>
                  </a:tcPr>
                </a:tc>
                <a:tc>
                  <a:txBody>
                    <a:bodyPr/>
                    <a:lstStyle/>
                    <a:p>
                      <a:pPr indent="0" marL="0">
                        <a:lnSpc>
                          <a:spcPts val="1680"/>
                        </a:lnSpc>
                        <a:buNone/>
                      </a:pPr>
                      <a:r>
                        <a:rPr lang="en-US" sz="1200" dirty="0">
                          <a:solidFill>
                            <a:srgbClr val="1F2A24"/>
                          </a:solidFill>
                          <a:latin typeface="IBM Plex Sans Thai" pitchFamily="34" charset="0"/>
                          <a:ea typeface="IBM Plex Sans Thai" pitchFamily="34" charset="-122"/>
                          <a:cs typeface="IBM Plex Sans Thai" pitchFamily="34" charset="-120"/>
                        </a:rPr>
                        <a:t>เฉพาะ "set 350 หักคืนจากขวด 450" ซึ่งเป็นราคาจริง</a:t>
                      </a:r>
                      <a:endParaRPr lang="en-US" sz="1200" dirty="0">
                        <a:latin typeface="IBM Plex Sans Thai" charset="0"/>
                        <a:ea typeface="IBM Plex Sans Thai" charset="0"/>
                        <a:cs typeface="IBM Plex Sans Thai" charset="0"/>
                      </a:endParaRPr>
                    </a:p>
                  </a:txBody>
                  <a:tcPr marL="53340" marR="53340" marT="53340" marB="53340" anchor="t">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1"/>
                    </a:solidFill>
                  </a:tcPr>
                </a:tc>
              </a:tr>
              <a:tr h="332647">
                <a:tc>
                  <a:txBody>
                    <a:bodyPr/>
                    <a:lstStyle/>
                    <a:p>
                      <a:pPr indent="0" marL="0">
                        <a:lnSpc>
                          <a:spcPts val="1680"/>
                        </a:lnSpc>
                        <a:buNone/>
                      </a:pPr>
                      <a:r>
                        <a:rPr lang="en-US" sz="1200" dirty="0">
                          <a:solidFill>
                            <a:srgbClr val="1F2A24"/>
                          </a:solidFill>
                          <a:latin typeface="IBM Plex Sans Thai" pitchFamily="34" charset="0"/>
                          <a:ea typeface="IBM Plex Sans Thai" pitchFamily="34" charset="-122"/>
                          <a:cs typeface="IBM Plex Sans Thai" pitchFamily="34" charset="-120"/>
                        </a:rPr>
                        <a:t>Decoy</a:t>
                      </a:r>
                      <a:endParaRPr lang="en-US" sz="1200" dirty="0">
                        <a:latin typeface="IBM Plex Sans Thai" charset="0"/>
                        <a:ea typeface="IBM Plex Sans Thai" charset="0"/>
                        <a:cs typeface="IBM Plex Sans Thai" charset="0"/>
                      </a:endParaRPr>
                    </a:p>
                  </a:txBody>
                  <a:tcPr marL="53340" marR="53340" marT="53340" marB="53340" anchor="t">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indent="0" marL="0">
                        <a:lnSpc>
                          <a:spcPts val="1680"/>
                        </a:lnSpc>
                        <a:buNone/>
                      </a:pPr>
                      <a:r>
                        <a:rPr lang="en-US" sz="1200" dirty="0">
                          <a:solidFill>
                            <a:srgbClr val="8A3F1F"/>
                          </a:solidFill>
                          <a:latin typeface="IBM Plex Sans Thai" pitchFamily="34" charset="0"/>
                          <a:ea typeface="IBM Plex Sans Thai" pitchFamily="34" charset="-122"/>
                          <a:cs typeface="IBM Plex Sans Thai" pitchFamily="34" charset="-120"/>
                        </a:rPr>
                        <a:t>ไม่ใช้</a:t>
                      </a:r>
                      <a:endParaRPr lang="en-US" sz="1200" dirty="0">
                        <a:latin typeface="IBM Plex Sans Thai" charset="0"/>
                        <a:ea typeface="IBM Plex Sans Thai" charset="0"/>
                        <a:cs typeface="IBM Plex Sans Thai" charset="0"/>
                      </a:endParaRPr>
                    </a:p>
                  </a:txBody>
                  <a:tcPr marL="53340" marR="53340" marT="53340" marB="53340" anchor="t">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indent="0" marL="0">
                        <a:lnSpc>
                          <a:spcPts val="1680"/>
                        </a:lnSpc>
                        <a:buNone/>
                      </a:pPr>
                      <a:r>
                        <a:rPr lang="en-US" sz="1200" dirty="0">
                          <a:solidFill>
                            <a:srgbClr val="1F2A24"/>
                          </a:solidFill>
                          <a:latin typeface="IBM Plex Sans Thai" pitchFamily="34" charset="0"/>
                          <a:ea typeface="IBM Plex Sans Thai" pitchFamily="34" charset="-122"/>
                          <a:cs typeface="IBM Plex Sans Thai" pitchFamily="34" charset="-120"/>
                        </a:rPr>
                        <a:t>ขัด Honesty และ Accessibility</a:t>
                      </a:r>
                      <a:endParaRPr lang="en-US" sz="1200" dirty="0">
                        <a:latin typeface="IBM Plex Sans Thai" charset="0"/>
                        <a:ea typeface="IBM Plex Sans Thai" charset="0"/>
                        <a:cs typeface="IBM Plex Sans Thai" charset="0"/>
                      </a:endParaRPr>
                    </a:p>
                  </a:txBody>
                  <a:tcPr marL="53340" marR="53340" marT="53340" marB="53340" anchor="t">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r>
              <a:tr h="332647">
                <a:tc>
                  <a:txBody>
                    <a:bodyPr/>
                    <a:lstStyle/>
                    <a:p>
                      <a:pPr indent="0" marL="0">
                        <a:lnSpc>
                          <a:spcPts val="1680"/>
                        </a:lnSpc>
                        <a:buNone/>
                      </a:pPr>
                      <a:r>
                        <a:rPr lang="en-US" sz="1200" dirty="0">
                          <a:solidFill>
                            <a:srgbClr val="1F2A24"/>
                          </a:solidFill>
                          <a:latin typeface="IBM Plex Sans Thai" pitchFamily="34" charset="0"/>
                          <a:ea typeface="IBM Plex Sans Thai" pitchFamily="34" charset="-122"/>
                          <a:cs typeface="IBM Plex Sans Thai" pitchFamily="34" charset="-120"/>
                        </a:rPr>
                        <a:t>FOMO / Scarcity</a:t>
                      </a:r>
                      <a:endParaRPr lang="en-US" sz="1200" dirty="0">
                        <a:latin typeface="IBM Plex Sans Thai" charset="0"/>
                        <a:ea typeface="IBM Plex Sans Thai" charset="0"/>
                        <a:cs typeface="IBM Plex Sans Thai" charset="0"/>
                      </a:endParaRPr>
                    </a:p>
                  </a:txBody>
                  <a:tcPr marL="53340" marR="53340" marT="53340" marB="53340" anchor="t">
                    <a:lnL w="12700" cap="flat" cmpd="sng" algn="ctr">
                      <a:solidFill>
                        <a:srgbClr val="C5C3BC"/>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1"/>
                    </a:solidFill>
                  </a:tcPr>
                </a:tc>
                <a:tc>
                  <a:txBody>
                    <a:bodyPr/>
                    <a:lstStyle/>
                    <a:p>
                      <a:pPr indent="0" marL="0">
                        <a:lnSpc>
                          <a:spcPts val="1680"/>
                        </a:lnSpc>
                        <a:buNone/>
                      </a:pPr>
                      <a:r>
                        <a:rPr lang="en-US" sz="1200" dirty="0">
                          <a:solidFill>
                            <a:srgbClr val="2F5D43"/>
                          </a:solidFill>
                          <a:latin typeface="IBM Plex Sans Thai" pitchFamily="34" charset="0"/>
                          <a:ea typeface="IBM Plex Sans Thai" pitchFamily="34" charset="-122"/>
                          <a:cs typeface="IBM Plex Sans Thai" pitchFamily="34" charset="-120"/>
                        </a:rPr>
                        <a:t>เฉพาะข้อเท็จจริง</a:t>
                      </a:r>
                      <a:endParaRPr lang="en-US" sz="1200" dirty="0">
                        <a:latin typeface="IBM Plex Sans Thai" charset="0"/>
                        <a:ea typeface="IBM Plex Sans Thai" charset="0"/>
                        <a:cs typeface="IBM Plex Sans Thai" charset="0"/>
                      </a:endParaRPr>
                    </a:p>
                  </a:txBody>
                  <a:tcPr marL="53340" marR="53340" marT="53340" marB="53340" anchor="t">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1"/>
                    </a:solidFill>
                  </a:tcPr>
                </a:tc>
                <a:tc>
                  <a:txBody>
                    <a:bodyPr/>
                    <a:lstStyle/>
                    <a:p>
                      <a:pPr indent="0" marL="0">
                        <a:lnSpc>
                          <a:spcPts val="1680"/>
                        </a:lnSpc>
                        <a:buNone/>
                      </a:pPr>
                      <a:r>
                        <a:rPr lang="en-US" sz="1200" dirty="0">
                          <a:solidFill>
                            <a:srgbClr val="1F2A24"/>
                          </a:solidFill>
                          <a:latin typeface="IBM Plex Sans Thai" pitchFamily="34" charset="0"/>
                          <a:ea typeface="IBM Plex Sans Thai" pitchFamily="34" charset="-122"/>
                          <a:cs typeface="IBM Plex Sans Thai" pitchFamily="34" charset="-120"/>
                        </a:rPr>
                        <a:t>"batch #012 มี 40 ขวด" ได้ แต่ห้ามสร้างความขาดแคลนปลอม</a:t>
                      </a:r>
                      <a:endParaRPr lang="en-US" sz="1200" dirty="0">
                        <a:latin typeface="IBM Plex Sans Thai" charset="0"/>
                        <a:ea typeface="IBM Plex Sans Thai" charset="0"/>
                        <a:cs typeface="IBM Plex Sans Thai" charset="0"/>
                      </a:endParaRPr>
                    </a:p>
                  </a:txBody>
                  <a:tcPr marL="53340" marR="53340" marT="53340" marB="53340" anchor="t">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1"/>
                    </a:solidFill>
                  </a:tcPr>
                </a:tc>
              </a:tr>
              <a:tr h="332647">
                <a:tc>
                  <a:txBody>
                    <a:bodyPr/>
                    <a:lstStyle/>
                    <a:p>
                      <a:pPr indent="0" marL="0">
                        <a:lnSpc>
                          <a:spcPts val="1680"/>
                        </a:lnSpc>
                        <a:buNone/>
                      </a:pPr>
                      <a:r>
                        <a:rPr lang="en-US" sz="1200" dirty="0">
                          <a:solidFill>
                            <a:srgbClr val="1F2A24"/>
                          </a:solidFill>
                          <a:latin typeface="IBM Plex Sans Thai" pitchFamily="34" charset="0"/>
                          <a:ea typeface="IBM Plex Sans Thai" pitchFamily="34" charset="-122"/>
                          <a:cs typeface="IBM Plex Sans Thai" pitchFamily="34" charset="-120"/>
                        </a:rPr>
                        <a:t>Fear appeal</a:t>
                      </a:r>
                      <a:endParaRPr lang="en-US" sz="1200" dirty="0">
                        <a:latin typeface="IBM Plex Sans Thai" charset="0"/>
                        <a:ea typeface="IBM Plex Sans Thai" charset="0"/>
                        <a:cs typeface="IBM Plex Sans Thai" charset="0"/>
                      </a:endParaRPr>
                    </a:p>
                  </a:txBody>
                  <a:tcPr marL="53340" marR="53340" marT="53340" marB="53340" anchor="t">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indent="0" marL="0">
                        <a:lnSpc>
                          <a:spcPts val="1680"/>
                        </a:lnSpc>
                        <a:buNone/>
                      </a:pPr>
                      <a:r>
                        <a:rPr lang="en-US" sz="1200" dirty="0">
                          <a:solidFill>
                            <a:srgbClr val="8A3F1F"/>
                          </a:solidFill>
                          <a:latin typeface="IBM Plex Sans Thai" pitchFamily="34" charset="0"/>
                          <a:ea typeface="IBM Plex Sans Thai" pitchFamily="34" charset="-122"/>
                          <a:cs typeface="IBM Plex Sans Thai" pitchFamily="34" charset="-120"/>
                        </a:rPr>
                        <a:t>ห้าม</a:t>
                      </a:r>
                      <a:endParaRPr lang="en-US" sz="1200" dirty="0">
                        <a:latin typeface="IBM Plex Sans Thai" charset="0"/>
                        <a:ea typeface="IBM Plex Sans Thai" charset="0"/>
                        <a:cs typeface="IBM Plex Sans Thai" charset="0"/>
                      </a:endParaRPr>
                    </a:p>
                  </a:txBody>
                  <a:tcPr marL="53340" marR="53340" marT="53340" marB="53340" anchor="t">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indent="0" marL="0">
                        <a:lnSpc>
                          <a:spcPts val="1680"/>
                        </a:lnSpc>
                        <a:buNone/>
                      </a:pPr>
                      <a:r>
                        <a:rPr lang="en-US" sz="1200" dirty="0">
                          <a:solidFill>
                            <a:srgbClr val="1F2A24"/>
                          </a:solidFill>
                          <a:latin typeface="IBM Plex Sans Thai" pitchFamily="34" charset="0"/>
                          <a:ea typeface="IBM Plex Sans Thai" pitchFamily="34" charset="-122"/>
                          <a:cs typeface="IBM Plex Sans Thai" pitchFamily="34" charset="-120"/>
                        </a:rPr>
                        <a:t>"cannot sell insecurity at the same time"</a:t>
                      </a:r>
                      <a:endParaRPr lang="en-US" sz="1200" dirty="0">
                        <a:latin typeface="IBM Plex Sans Thai" charset="0"/>
                        <a:ea typeface="IBM Plex Sans Thai" charset="0"/>
                        <a:cs typeface="IBM Plex Sans Thai" charset="0"/>
                      </a:endParaRPr>
                    </a:p>
                  </a:txBody>
                  <a:tcPr marL="53340" marR="53340" marT="53340" marB="53340" anchor="t">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r>
              <a:tr h="332647">
                <a:tc>
                  <a:txBody>
                    <a:bodyPr/>
                    <a:lstStyle/>
                    <a:p>
                      <a:pPr indent="0" marL="0">
                        <a:lnSpc>
                          <a:spcPts val="1680"/>
                        </a:lnSpc>
                        <a:buNone/>
                      </a:pPr>
                      <a:r>
                        <a:rPr lang="en-US" sz="1200" dirty="0">
                          <a:solidFill>
                            <a:srgbClr val="1F2A24"/>
                          </a:solidFill>
                          <a:latin typeface="IBM Plex Sans Thai" pitchFamily="34" charset="0"/>
                          <a:ea typeface="IBM Plex Sans Thai" pitchFamily="34" charset="-122"/>
                          <a:cs typeface="IBM Plex Sans Thai" pitchFamily="34" charset="-120"/>
                        </a:rPr>
                        <a:t>Wellness / mood claims</a:t>
                      </a:r>
                      <a:endParaRPr lang="en-US" sz="1200" dirty="0">
                        <a:latin typeface="IBM Plex Sans Thai" charset="0"/>
                        <a:ea typeface="IBM Plex Sans Thai" charset="0"/>
                        <a:cs typeface="IBM Plex Sans Thai" charset="0"/>
                      </a:endParaRPr>
                    </a:p>
                  </a:txBody>
                  <a:tcPr marL="53340" marR="53340" marT="53340" marB="53340" anchor="t">
                    <a:lnL w="12700" cap="flat" cmpd="sng" algn="ctr">
                      <a:solidFill>
                        <a:srgbClr val="C5C3BC"/>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1"/>
                    </a:solidFill>
                  </a:tcPr>
                </a:tc>
                <a:tc>
                  <a:txBody>
                    <a:bodyPr/>
                    <a:lstStyle/>
                    <a:p>
                      <a:pPr indent="0" marL="0">
                        <a:lnSpc>
                          <a:spcPts val="1680"/>
                        </a:lnSpc>
                        <a:buNone/>
                      </a:pPr>
                      <a:r>
                        <a:rPr lang="en-US" sz="1200" dirty="0">
                          <a:solidFill>
                            <a:srgbClr val="8A3F1F"/>
                          </a:solidFill>
                          <a:latin typeface="IBM Plex Sans Thai" pitchFamily="34" charset="0"/>
                          <a:ea typeface="IBM Plex Sans Thai" pitchFamily="34" charset="-122"/>
                          <a:cs typeface="IBM Plex Sans Thai" pitchFamily="34" charset="-120"/>
                        </a:rPr>
                        <a:t>ห้าม</a:t>
                      </a:r>
                      <a:endParaRPr lang="en-US" sz="1200" dirty="0">
                        <a:latin typeface="IBM Plex Sans Thai" charset="0"/>
                        <a:ea typeface="IBM Plex Sans Thai" charset="0"/>
                        <a:cs typeface="IBM Plex Sans Thai" charset="0"/>
                      </a:endParaRPr>
                    </a:p>
                  </a:txBody>
                  <a:tcPr marL="53340" marR="53340" marT="53340" marB="53340" anchor="t">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1"/>
                    </a:solidFill>
                  </a:tcPr>
                </a:tc>
                <a:tc>
                  <a:txBody>
                    <a:bodyPr/>
                    <a:lstStyle/>
                    <a:p>
                      <a:pPr indent="0" marL="0">
                        <a:lnSpc>
                          <a:spcPts val="1680"/>
                        </a:lnSpc>
                        <a:buNone/>
                      </a:pPr>
                      <a:r>
                        <a:rPr lang="en-US" sz="1200" dirty="0">
                          <a:solidFill>
                            <a:srgbClr val="1F2A24"/>
                          </a:solidFill>
                          <a:latin typeface="IBM Plex Sans Thai" pitchFamily="34" charset="0"/>
                          <a:ea typeface="IBM Plex Sans Thai" pitchFamily="34" charset="-122"/>
                          <a:cs typeface="IBM Plex Sans Thai" pitchFamily="34" charset="-120"/>
                        </a:rPr>
                        <a:t>ห้ามพูดว่า "ช่วยคลายเครียด" ตามกฎของแบรนด์และกฎ อย.</a:t>
                      </a:r>
                      <a:endParaRPr lang="en-US" sz="1200" dirty="0">
                        <a:latin typeface="IBM Plex Sans Thai" charset="0"/>
                        <a:ea typeface="IBM Plex Sans Thai" charset="0"/>
                        <a:cs typeface="IBM Plex Sans Thai" charset="0"/>
                      </a:endParaRPr>
                    </a:p>
                  </a:txBody>
                  <a:tcPr marL="53340" marR="53340" marT="53340" marB="53340" anchor="t">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1"/>
                    </a:solidFill>
                  </a:tcPr>
                </a:tc>
              </a:tr>
            </a:tbl>
          </a:graphicData>
        </a:graphic>
      </p:graphicFrame>
      <p:sp>
        <p:nvSpPr>
          <p:cNvPr id="5" name="Shape 2"/>
          <p:cNvSpPr/>
          <p:nvPr/>
        </p:nvSpPr>
        <p:spPr>
          <a:xfrm>
            <a:off x="838200" y="4327463"/>
            <a:ext cx="0" cy="325107"/>
          </a:xfrm>
          <a:prstGeom prst="line">
            <a:avLst/>
          </a:prstGeom>
          <a:noFill/>
          <a:ln w="50800">
            <a:solidFill>
              <a:srgbClr val="8FB39A"/>
            </a:solidFill>
            <a:prstDash val="solid"/>
          </a:ln>
        </p:spPr>
      </p:sp>
      <p:sp>
        <p:nvSpPr>
          <p:cNvPr id="6" name="Text 3"/>
          <p:cNvSpPr/>
          <p:nvPr/>
        </p:nvSpPr>
        <p:spPr>
          <a:xfrm>
            <a:off x="1041400" y="4352863"/>
            <a:ext cx="10647934" cy="299707"/>
          </a:xfrm>
          <a:prstGeom prst="rect">
            <a:avLst/>
          </a:prstGeom>
          <a:noFill/>
          <a:ln/>
        </p:spPr>
        <p:txBody>
          <a:bodyPr wrap="square" lIns="0" tIns="0" rIns="0" bIns="0" rtlCol="0" anchor="t">
            <a:normAutofit/>
          </a:bodyPr>
          <a:lstStyle/>
          <a:p>
            <a:pPr algn="l" indent="0" marL="0">
              <a:lnSpc>
                <a:spcPts val="2160"/>
              </a:lnSpc>
              <a:buNone/>
            </a:pPr>
            <a:r>
              <a:rPr lang="en-US" sz="1600" b="1" dirty="0">
                <a:solidFill>
                  <a:srgbClr val="2F5D43"/>
                </a:solidFill>
                <a:latin typeface="Noto Serif Thai" pitchFamily="18" charset="0"/>
                <a:ea typeface="Noto Serif Thai" pitchFamily="18" charset="-122"/>
                <a:cs typeface="Noto Serif Thai" pitchFamily="18" charset="-120"/>
              </a:rPr>
              <a:t>"Fear converts faster, but greed builds better customers" — L08 p.65</a:t>
            </a:r>
            <a:endParaRPr lang="en-US" sz="1600" dirty="0"/>
          </a:p>
        </p:txBody>
      </p:sp>
      <p:sp>
        <p:nvSpPr>
          <p:cNvPr id="7" name="Text 4"/>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F68"/>
                </a:solidFill>
                <a:latin typeface="IBM Plex Sans Thai" pitchFamily="34" charset="0"/>
                <a:ea typeface="IBM Plex Sans Thai" pitchFamily="34" charset="-122"/>
                <a:cs typeface="IBM Plex Sans Thai" pitchFamily="34" charset="-120"/>
              </a:rPr>
              <a:t>BIS609 · BitterSweet × Agentic AI on LINE OA</a:t>
            </a:r>
            <a:endParaRPr lang="en-US" sz="1200" dirty="0"/>
          </a:p>
        </p:txBody>
      </p:sp>
      <p:sp>
        <p:nvSpPr>
          <p:cNvPr id="8" name="Text 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F68"/>
                </a:solidFill>
                <a:latin typeface="IBM Plex Sans Thai" pitchFamily="34" charset="0"/>
                <a:ea typeface="IBM Plex Sans Thai" pitchFamily="34" charset="-122"/>
                <a:cs typeface="IBM Plex Sans Thai" pitchFamily="34" charset="-120"/>
              </a:rPr>
              <a:t>11 / 16</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AF0E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4532E"/>
                </a:solidFill>
                <a:latin typeface="IBM Plex Sans Thai" pitchFamily="34" charset="0"/>
                <a:ea typeface="IBM Plex Sans Thai" pitchFamily="34" charset="-122"/>
                <a:cs typeface="IBM Plex Sans Thai" pitchFamily="34" charset="-120"/>
              </a:rPr>
              <a:t>T · TACTICS · CONVERSATION DESIGN</a:t>
            </a:r>
            <a:endParaRPr lang="en-US" sz="1200" dirty="0"/>
          </a:p>
        </p:txBody>
      </p:sp>
      <p:sp>
        <p:nvSpPr>
          <p:cNvPr id="3" name="Text 1"/>
          <p:cNvSpPr/>
          <p:nvPr>
            <p:ph type="title"/>
          </p:nvPr>
        </p:nvSpPr>
        <p:spPr>
          <a:xfrm>
            <a:off x="812800" y="1203920"/>
            <a:ext cx="10883392" cy="452107"/>
          </a:xfrm>
          <a:prstGeom prst="rect">
            <a:avLst/>
          </a:prstGeom>
          <a:noFill/>
          <a:ln/>
        </p:spPr>
        <p:txBody>
          <a:bodyPr wrap="square" lIns="0" tIns="0" rIns="0" bIns="0" rtlCol="0" anchor="t">
            <a:normAutofit/>
          </a:bodyPr>
          <a:lstStyle/>
          <a:p>
            <a:pPr algn="l" indent="0" marL="0">
              <a:lnSpc>
                <a:spcPts val="3360"/>
              </a:lnSpc>
              <a:buNone/>
            </a:pPr>
            <a:r>
              <a:rPr lang="en-US" sz="2800" b="1" i="0" dirty="0">
                <a:solidFill>
                  <a:srgbClr val="1F3D2B"/>
                </a:solidFill>
                <a:latin typeface="Noto Serif Thai" pitchFamily="18" charset="0"/>
                <a:ea typeface="Noto Serif Thai" pitchFamily="18" charset="-122"/>
                <a:cs typeface="Noto Serif Thai" pitchFamily="18" charset="-120"/>
              </a:rPr>
              <a:t>Honesty ในบทสนทนาจริง</a:t>
            </a:r>
            <a:endParaRPr lang="en-US" sz="2800" dirty="0"/>
          </a:p>
        </p:txBody>
      </p:sp>
      <p:sp>
        <p:nvSpPr>
          <p:cNvPr id="4" name="Text 2"/>
          <p:cNvSpPr/>
          <p:nvPr/>
        </p:nvSpPr>
        <p:spPr>
          <a:xfrm>
            <a:off x="812800" y="1808429"/>
            <a:ext cx="5715000" cy="645054"/>
          </a:xfrm>
          <a:prstGeom prst="roundRect">
            <a:avLst>
              <a:gd name="adj" fmla="val 19688"/>
            </a:avLst>
          </a:prstGeom>
          <a:solidFill>
            <a:srgbClr val="2F5D43"/>
          </a:solidFill>
          <a:ln/>
        </p:spPr>
        <p:txBody>
          <a:bodyPr wrap="square" lIns="115203" tIns="64403" rIns="0" bIns="39003" rtlCol="0" anchor="t">
            <a:normAutofit/>
          </a:bodyPr>
          <a:lstStyle/>
          <a:p>
            <a:pPr algn="l" indent="0" marL="0">
              <a:lnSpc>
                <a:spcPts val="1740"/>
              </a:lnSpc>
              <a:buNone/>
            </a:pPr>
            <a:r>
              <a:rPr lang="en-US" sz="1200" dirty="0">
                <a:solidFill>
                  <a:srgbClr val="F7F4EC"/>
                </a:solidFill>
                <a:latin typeface="IBM Plex Sans Thai" pitchFamily="34" charset="0"/>
                <a:ea typeface="IBM Plex Sans Thai" pitchFamily="34" charset="-122"/>
                <a:cs typeface="IBM Plex Sans Thai" pitchFamily="34" charset="-120"/>
              </a:rPr>
              <a:t>Agent: เมื่อวานคุณดม 3 กลิ่นและชอบ Cilantro ที่สุด ผ่านไปหนึ่งวัน กลิ่นไหนยังนึกถึงอยู่ครับ</a:t>
            </a:r>
            <a:endParaRPr lang="en-US" sz="1200" dirty="0"/>
          </a:p>
        </p:txBody>
      </p:sp>
      <p:sp>
        <p:nvSpPr>
          <p:cNvPr id="5" name="Text 3"/>
          <p:cNvSpPr/>
          <p:nvPr/>
        </p:nvSpPr>
        <p:spPr>
          <a:xfrm>
            <a:off x="3225800" y="2542381"/>
            <a:ext cx="4445000" cy="424127"/>
          </a:xfrm>
          <a:prstGeom prst="roundRect">
            <a:avLst>
              <a:gd name="adj" fmla="val 29944"/>
            </a:avLst>
          </a:prstGeom>
          <a:solidFill>
            <a:srgbClr val="FFFDF8"/>
          </a:solidFill>
          <a:ln/>
        </p:spPr>
        <p:txBody>
          <a:bodyPr wrap="square" lIns="115203" tIns="64403" rIns="0" bIns="39003" rtlCol="0" anchor="t">
            <a:normAutofit/>
          </a:bodyPr>
          <a:lstStyle/>
          <a:p>
            <a:pPr algn="l" indent="0" marL="0">
              <a:lnSpc>
                <a:spcPts val="1740"/>
              </a:lnSpc>
              <a:buNone/>
            </a:pPr>
            <a:r>
              <a:rPr lang="en-US" sz="1200" dirty="0">
                <a:solidFill>
                  <a:srgbClr val="1F2A24"/>
                </a:solidFill>
                <a:latin typeface="IBM Plex Sans Thai" pitchFamily="34" charset="0"/>
                <a:ea typeface="IBM Plex Sans Thai" pitchFamily="34" charset="-122"/>
                <a:cs typeface="IBM Plex Sans Thai" pitchFamily="34" charset="-120"/>
              </a:rPr>
              <a:t>ลูกค้า: ชอบนะ แต่กลัวเขียวเกินไปถ้าใส่ไปทำงานทุกวัน</a:t>
            </a:r>
            <a:endParaRPr lang="en-US" sz="1200" dirty="0"/>
          </a:p>
        </p:txBody>
      </p:sp>
      <p:sp>
        <p:nvSpPr>
          <p:cNvPr id="6" name="Text 4"/>
          <p:cNvSpPr/>
          <p:nvPr/>
        </p:nvSpPr>
        <p:spPr>
          <a:xfrm>
            <a:off x="812800" y="3055410"/>
            <a:ext cx="5715000" cy="645054"/>
          </a:xfrm>
          <a:prstGeom prst="roundRect">
            <a:avLst>
              <a:gd name="adj" fmla="val 19688"/>
            </a:avLst>
          </a:prstGeom>
          <a:solidFill>
            <a:srgbClr val="2F5D43"/>
          </a:solidFill>
          <a:ln/>
        </p:spPr>
        <p:txBody>
          <a:bodyPr wrap="square" lIns="115203" tIns="64403" rIns="0" bIns="39003" rtlCol="0" anchor="t">
            <a:normAutofit/>
          </a:bodyPr>
          <a:lstStyle/>
          <a:p>
            <a:pPr algn="l" indent="0" marL="0">
              <a:lnSpc>
                <a:spcPts val="1740"/>
              </a:lnSpc>
              <a:buNone/>
            </a:pPr>
            <a:r>
              <a:rPr lang="en-US" sz="1200" dirty="0">
                <a:solidFill>
                  <a:srgbClr val="F7F4EC"/>
                </a:solidFill>
                <a:latin typeface="IBM Plex Sans Thai" pitchFamily="34" charset="0"/>
                <a:ea typeface="IBM Plex Sans Thai" pitchFamily="34" charset="-122"/>
                <a:cs typeface="IBM Plex Sans Thai" pitchFamily="34" charset="-120"/>
              </a:rPr>
              <a:t>Agent: บอกตรง ๆ ว่า Cilantro เป็นกลิ่นที่บางคนรักเลย บางคนไม่ชอบเลย ลอง discovery set 350 บาทบนผิวจริง 3 เช้าก่อนได้ครับ ถ้าซื้อขวดภายหลังหักคืน 350 บาท</a:t>
            </a:r>
            <a:endParaRPr lang="en-US" sz="1200" dirty="0"/>
          </a:p>
        </p:txBody>
      </p:sp>
      <p:sp>
        <p:nvSpPr>
          <p:cNvPr id="7" name="Text 5"/>
          <p:cNvSpPr/>
          <p:nvPr/>
        </p:nvSpPr>
        <p:spPr>
          <a:xfrm>
            <a:off x="3225800" y="3789363"/>
            <a:ext cx="4445000" cy="424127"/>
          </a:xfrm>
          <a:prstGeom prst="roundRect">
            <a:avLst>
              <a:gd name="adj" fmla="val 29944"/>
            </a:avLst>
          </a:prstGeom>
          <a:solidFill>
            <a:srgbClr val="FFFDF8"/>
          </a:solidFill>
          <a:ln/>
        </p:spPr>
        <p:txBody>
          <a:bodyPr wrap="square" lIns="115203" tIns="64403" rIns="0" bIns="39003" rtlCol="0" anchor="t">
            <a:normAutofit/>
          </a:bodyPr>
          <a:lstStyle/>
          <a:p>
            <a:pPr algn="l" indent="0" marL="0">
              <a:lnSpc>
                <a:spcPts val="1740"/>
              </a:lnSpc>
              <a:buNone/>
            </a:pPr>
            <a:r>
              <a:rPr lang="en-US" sz="1200" dirty="0">
                <a:solidFill>
                  <a:srgbClr val="1F2A24"/>
                </a:solidFill>
                <a:latin typeface="IBM Plex Sans Thai" pitchFamily="34" charset="0"/>
                <a:ea typeface="IBM Plex Sans Thai" pitchFamily="34" charset="-122"/>
                <a:cs typeface="IBM Plex Sans Thai" pitchFamily="34" charset="-120"/>
              </a:rPr>
              <a:t>ลูกค้า (Day 7): Cilantro แรงไปสำหรับเรา</a:t>
            </a:r>
            <a:endParaRPr lang="en-US" sz="1200" dirty="0"/>
          </a:p>
        </p:txBody>
      </p:sp>
      <p:sp>
        <p:nvSpPr>
          <p:cNvPr id="8" name="Text 6"/>
          <p:cNvSpPr/>
          <p:nvPr/>
        </p:nvSpPr>
        <p:spPr>
          <a:xfrm>
            <a:off x="812800" y="4302392"/>
            <a:ext cx="5715000" cy="645054"/>
          </a:xfrm>
          <a:prstGeom prst="roundRect">
            <a:avLst>
              <a:gd name="adj" fmla="val 19688"/>
            </a:avLst>
          </a:prstGeom>
          <a:solidFill>
            <a:srgbClr val="2F5D43"/>
          </a:solidFill>
          <a:ln/>
        </p:spPr>
        <p:txBody>
          <a:bodyPr wrap="square" lIns="115203" tIns="64403" rIns="0" bIns="39003" rtlCol="0" anchor="t">
            <a:normAutofit/>
          </a:bodyPr>
          <a:lstStyle/>
          <a:p>
            <a:pPr algn="l" indent="0" marL="0">
              <a:lnSpc>
                <a:spcPts val="1740"/>
              </a:lnSpc>
              <a:buNone/>
            </a:pPr>
            <a:r>
              <a:rPr lang="en-US" sz="1200" dirty="0">
                <a:solidFill>
                  <a:srgbClr val="F7F4EC"/>
                </a:solidFill>
                <a:latin typeface="IBM Plex Sans Thai" pitchFamily="34" charset="0"/>
                <a:ea typeface="IBM Plex Sans Thai" pitchFamily="34" charset="-122"/>
                <a:cs typeface="IBM Plex Sans Thai" pitchFamily="34" charset="-120"/>
              </a:rPr>
              <a:t>Agent: ไม่ต้องฝืนครับ Last Sip ที่จบด้วยความอุ่นของชาน่าจะใกล้กับคุณมากกว่า voucher ใช้ได้กับทุกกลิ่น</a:t>
            </a:r>
            <a:endParaRPr lang="en-US" sz="1200" dirty="0"/>
          </a:p>
        </p:txBody>
      </p:sp>
      <p:sp>
        <p:nvSpPr>
          <p:cNvPr id="9" name="Text 7"/>
          <p:cNvSpPr/>
          <p:nvPr/>
        </p:nvSpPr>
        <p:spPr>
          <a:xfrm>
            <a:off x="7975600" y="1808429"/>
            <a:ext cx="3505708"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F3D2B"/>
                </a:solidFill>
                <a:latin typeface="IBM Plex Sans Thai" pitchFamily="34" charset="0"/>
                <a:ea typeface="IBM Plex Sans Thai" pitchFamily="34" charset="-122"/>
                <a:cs typeface="IBM Plex Sans Thai" pitchFamily="34" charset="-120"/>
              </a:rPr>
              <a:t>หลักการออกแบบ</a:t>
            </a:r>
            <a:endParaRPr lang="en-US" sz="1300" dirty="0"/>
          </a:p>
        </p:txBody>
      </p:sp>
      <p:sp>
        <p:nvSpPr>
          <p:cNvPr id="10" name="Shape 8"/>
          <p:cNvSpPr/>
          <p:nvPr/>
        </p:nvSpPr>
        <p:spPr>
          <a:xfrm>
            <a:off x="7975600" y="2150666"/>
            <a:ext cx="3403600" cy="0"/>
          </a:xfrm>
          <a:prstGeom prst="line">
            <a:avLst/>
          </a:prstGeom>
          <a:noFill/>
          <a:ln w="19050">
            <a:solidFill>
              <a:srgbClr val="8FB39A"/>
            </a:solidFill>
            <a:prstDash val="solid"/>
          </a:ln>
        </p:spPr>
      </p:sp>
      <p:sp>
        <p:nvSpPr>
          <p:cNvPr id="11" name="Text 9"/>
          <p:cNvSpPr/>
          <p:nvPr/>
        </p:nvSpPr>
        <p:spPr>
          <a:xfrm>
            <a:off x="7975600" y="2234274"/>
            <a:ext cx="3505708" cy="246327"/>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F2A24"/>
                </a:solidFill>
                <a:latin typeface="IBM Plex Sans Thai" pitchFamily="34" charset="0"/>
                <a:ea typeface="IBM Plex Sans Thai" pitchFamily="34" charset="-122"/>
                <a:cs typeface="IBM Plex Sans Thai" pitchFamily="34" charset="-120"/>
              </a:rPr>
              <a:t>จำสิ่งที่ลูกค้าดม</a:t>
            </a:r>
            <a:endParaRPr lang="en-US" sz="1200" dirty="0"/>
          </a:p>
        </p:txBody>
      </p:sp>
      <p:sp>
        <p:nvSpPr>
          <p:cNvPr id="12" name="Shape 10"/>
          <p:cNvSpPr/>
          <p:nvPr/>
        </p:nvSpPr>
        <p:spPr>
          <a:xfrm>
            <a:off x="7975600" y="2566330"/>
            <a:ext cx="3403600" cy="0"/>
          </a:xfrm>
          <a:prstGeom prst="line">
            <a:avLst/>
          </a:prstGeom>
          <a:noFill/>
          <a:ln w="19050">
            <a:solidFill>
              <a:srgbClr val="8FB39A"/>
            </a:solidFill>
            <a:prstDash val="solid"/>
          </a:ln>
        </p:spPr>
      </p:sp>
      <p:sp>
        <p:nvSpPr>
          <p:cNvPr id="13" name="Text 11"/>
          <p:cNvSpPr/>
          <p:nvPr/>
        </p:nvSpPr>
        <p:spPr>
          <a:xfrm>
            <a:off x="7975600" y="2649939"/>
            <a:ext cx="3505708" cy="246327"/>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F2A24"/>
                </a:solidFill>
                <a:latin typeface="IBM Plex Sans Thai" pitchFamily="34" charset="0"/>
                <a:ea typeface="IBM Plex Sans Thai" pitchFamily="34" charset="-122"/>
                <a:cs typeface="IBM Plex Sans Thai" pitchFamily="34" charset="-120"/>
              </a:rPr>
              <a:t>ถามความรู้สึก ไม่ถามว่า "คนอื่นจะชมไหม"</a:t>
            </a:r>
            <a:endParaRPr lang="en-US" sz="1200" dirty="0"/>
          </a:p>
        </p:txBody>
      </p:sp>
      <p:sp>
        <p:nvSpPr>
          <p:cNvPr id="14" name="Shape 12"/>
          <p:cNvSpPr/>
          <p:nvPr/>
        </p:nvSpPr>
        <p:spPr>
          <a:xfrm>
            <a:off x="7975600" y="2981989"/>
            <a:ext cx="3403600" cy="0"/>
          </a:xfrm>
          <a:prstGeom prst="line">
            <a:avLst/>
          </a:prstGeom>
          <a:noFill/>
          <a:ln w="19050">
            <a:solidFill>
              <a:srgbClr val="8FB39A"/>
            </a:solidFill>
            <a:prstDash val="solid"/>
          </a:ln>
        </p:spPr>
      </p:sp>
      <p:sp>
        <p:nvSpPr>
          <p:cNvPr id="15" name="Text 13"/>
          <p:cNvSpPr/>
          <p:nvPr/>
        </p:nvSpPr>
        <p:spPr>
          <a:xfrm>
            <a:off x="7975600" y="3065597"/>
            <a:ext cx="3505708" cy="246327"/>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F2A24"/>
                </a:solidFill>
                <a:latin typeface="IBM Plex Sans Thai" pitchFamily="34" charset="0"/>
                <a:ea typeface="IBM Plex Sans Thai" pitchFamily="34" charset="-122"/>
                <a:cs typeface="IBM Plex Sans Thai" pitchFamily="34" charset="-120"/>
              </a:rPr>
              <a:t>บอกตรงเมื่อกลิ่นไม่เหมาะ</a:t>
            </a:r>
            <a:endParaRPr lang="en-US" sz="1200" dirty="0"/>
          </a:p>
        </p:txBody>
      </p:sp>
      <p:sp>
        <p:nvSpPr>
          <p:cNvPr id="16" name="Shape 14"/>
          <p:cNvSpPr/>
          <p:nvPr/>
        </p:nvSpPr>
        <p:spPr>
          <a:xfrm>
            <a:off x="7975600" y="3397647"/>
            <a:ext cx="3403600" cy="0"/>
          </a:xfrm>
          <a:prstGeom prst="line">
            <a:avLst/>
          </a:prstGeom>
          <a:noFill/>
          <a:ln w="19050">
            <a:solidFill>
              <a:srgbClr val="8FB39A"/>
            </a:solidFill>
            <a:prstDash val="solid"/>
          </a:ln>
        </p:spPr>
      </p:sp>
      <p:sp>
        <p:nvSpPr>
          <p:cNvPr id="17" name="Text 15"/>
          <p:cNvSpPr/>
          <p:nvPr/>
        </p:nvSpPr>
        <p:spPr>
          <a:xfrm>
            <a:off x="7975600" y="3481255"/>
            <a:ext cx="3505708" cy="246327"/>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F2A24"/>
                </a:solidFill>
                <a:latin typeface="IBM Plex Sans Thai" pitchFamily="34" charset="0"/>
                <a:ea typeface="IBM Plex Sans Thai" pitchFamily="34" charset="-122"/>
                <a:cs typeface="IBM Plex Sans Thai" pitchFamily="34" charset="-120"/>
              </a:rPr>
              <a:t>ผิวแพ้ / ส่วนผสมเชิงลึก ส่งต่อ perfumer</a:t>
            </a:r>
            <a:endParaRPr lang="en-US" sz="1200" dirty="0"/>
          </a:p>
        </p:txBody>
      </p:sp>
      <p:sp>
        <p:nvSpPr>
          <p:cNvPr id="18" name="Text 16"/>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F68"/>
                </a:solidFill>
                <a:latin typeface="IBM Plex Sans Thai" pitchFamily="34" charset="0"/>
                <a:ea typeface="IBM Plex Sans Thai" pitchFamily="34" charset="-122"/>
                <a:cs typeface="IBM Plex Sans Thai" pitchFamily="34" charset="-120"/>
              </a:rPr>
              <a:t>BIS609 · BitterSweet × Agentic AI on LINE OA · ตัวอย่างบทสนทนาที่ออกแบบขึ้น</a:t>
            </a:r>
            <a:endParaRPr lang="en-US" sz="1200" dirty="0"/>
          </a:p>
        </p:txBody>
      </p:sp>
      <p:sp>
        <p:nvSpPr>
          <p:cNvPr id="19" name="Text 17"/>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F68"/>
                </a:solidFill>
                <a:latin typeface="IBM Plex Sans Thai" pitchFamily="34" charset="0"/>
                <a:ea typeface="IBM Plex Sans Thai" pitchFamily="34" charset="-122"/>
                <a:cs typeface="IBM Plex Sans Thai" pitchFamily="34" charset="-120"/>
              </a:rPr>
              <a:t>12 / 16</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4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4532E"/>
                </a:solidFill>
                <a:latin typeface="IBM Plex Sans Thai" pitchFamily="34" charset="0"/>
                <a:ea typeface="IBM Plex Sans Thai" pitchFamily="34" charset="-122"/>
                <a:cs typeface="IBM Plex Sans Thai" pitchFamily="34" charset="-120"/>
              </a:rPr>
              <a:t>A · ACTIONS · SCENARIO PLAYBOOK (BIS608 SCENARIO 2×2 + BSC TRIGGERS)</a:t>
            </a:r>
            <a:endParaRPr lang="en-US" sz="1200" dirty="0"/>
          </a:p>
        </p:txBody>
      </p:sp>
      <p:sp>
        <p:nvSpPr>
          <p:cNvPr id="3" name="Text 1"/>
          <p:cNvSpPr/>
          <p:nvPr>
            <p:ph type="title"/>
          </p:nvPr>
        </p:nvSpPr>
        <p:spPr>
          <a:xfrm>
            <a:off x="812800" y="1178520"/>
            <a:ext cx="10883392" cy="452107"/>
          </a:xfrm>
          <a:prstGeom prst="rect">
            <a:avLst/>
          </a:prstGeom>
          <a:noFill/>
          <a:ln/>
        </p:spPr>
        <p:txBody>
          <a:bodyPr wrap="square" lIns="0" tIns="0" rIns="0" bIns="0" rtlCol="0" anchor="t">
            <a:normAutofit/>
          </a:bodyPr>
          <a:lstStyle/>
          <a:p>
            <a:pPr algn="l" indent="0" marL="0">
              <a:lnSpc>
                <a:spcPts val="3360"/>
              </a:lnSpc>
              <a:buNone/>
            </a:pPr>
            <a:r>
              <a:rPr lang="en-US" sz="2800" b="1" i="0" dirty="0">
                <a:solidFill>
                  <a:srgbClr val="1F3D2B"/>
                </a:solidFill>
                <a:latin typeface="Noto Serif Thai" pitchFamily="18" charset="0"/>
                <a:ea typeface="Noto Serif Thai" pitchFamily="18" charset="-122"/>
                <a:cs typeface="Noto Serif Thai" pitchFamily="18" charset="-120"/>
              </a:rPr>
              <a:t>ปรับ agent ตามอนาคต 4 แบบ โดยเปลี่ยน prompt และ flow</a:t>
            </a:r>
            <a:endParaRPr lang="en-US" sz="2800" dirty="0"/>
          </a:p>
        </p:txBody>
      </p:sp>
      <p:sp>
        <p:nvSpPr>
          <p:cNvPr id="4" name="Text 2"/>
          <p:cNvSpPr/>
          <p:nvPr/>
        </p:nvSpPr>
        <p:spPr>
          <a:xfrm>
            <a:off x="812800" y="1757629"/>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F68"/>
                </a:solidFill>
                <a:latin typeface="IBM Plex Sans Thai" pitchFamily="34" charset="0"/>
                <a:ea typeface="IBM Plex Sans Thai" pitchFamily="34" charset="-122"/>
                <a:cs typeface="IBM Plex Sans Thai" pitchFamily="34" charset="-120"/>
              </a:rPr>
              <a:t>แกนตั้ง: การยอมรับกลิ่น green (เร็ว ↑ / ช้า ↓) · แกนนอน: กำลังซื้อ (ต่ำ ← / สูง →)</a:t>
            </a:r>
            <a:endParaRPr lang="en-US" sz="1200" dirty="0"/>
          </a:p>
        </p:txBody>
      </p:sp>
      <p:sp>
        <p:nvSpPr>
          <p:cNvPr id="5" name="Shape 3"/>
          <p:cNvSpPr/>
          <p:nvPr/>
        </p:nvSpPr>
        <p:spPr>
          <a:xfrm>
            <a:off x="819150" y="2129699"/>
            <a:ext cx="5219700" cy="971418"/>
          </a:xfrm>
          <a:prstGeom prst="roundRect">
            <a:avLst>
              <a:gd name="adj" fmla="val 9805"/>
            </a:avLst>
          </a:prstGeom>
          <a:solidFill>
            <a:srgbClr val="FFFDF8"/>
          </a:solidFill>
          <a:ln w="12700">
            <a:solidFill>
              <a:srgbClr val="E4DED2"/>
            </a:solidFill>
            <a:prstDash val="solid"/>
          </a:ln>
        </p:spPr>
      </p:sp>
      <p:sp>
        <p:nvSpPr>
          <p:cNvPr id="6" name="Text 4"/>
          <p:cNvSpPr/>
          <p:nvPr/>
        </p:nvSpPr>
        <p:spPr>
          <a:xfrm>
            <a:off x="990600" y="2263049"/>
            <a:ext cx="5023104" cy="265377"/>
          </a:xfrm>
          <a:prstGeom prst="rect">
            <a:avLst/>
          </a:prstGeom>
          <a:noFill/>
          <a:ln/>
        </p:spPr>
        <p:txBody>
          <a:bodyPr wrap="square" lIns="0" tIns="0" rIns="0" bIns="0" rtlCol="0" anchor="t">
            <a:normAutofit/>
          </a:bodyPr>
          <a:lstStyle/>
          <a:p>
            <a:pPr algn="l" indent="0" marL="0">
              <a:lnSpc>
                <a:spcPts val="1890"/>
              </a:lnSpc>
              <a:buNone/>
            </a:pPr>
            <a:r>
              <a:rPr lang="en-US" sz="1350" b="1" dirty="0">
                <a:solidFill>
                  <a:srgbClr val="2F5D43"/>
                </a:solidFill>
                <a:latin typeface="IBM Plex Sans Thai" pitchFamily="34" charset="0"/>
                <a:ea typeface="IBM Plex Sans Thai" pitchFamily="34" charset="-122"/>
                <a:cs typeface="IBM Plex Sans Thai" pitchFamily="34" charset="-120"/>
              </a:rPr>
              <a:t>2 · Affordable Ritual</a:t>
            </a:r>
            <a:endParaRPr lang="en-US" sz="1350" dirty="0"/>
          </a:p>
        </p:txBody>
      </p:sp>
      <p:sp>
        <p:nvSpPr>
          <p:cNvPr id="7" name="Text 5"/>
          <p:cNvSpPr/>
          <p:nvPr/>
        </p:nvSpPr>
        <p:spPr>
          <a:xfrm>
            <a:off x="990600" y="2541129"/>
            <a:ext cx="502310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42"/>
                </a:solidFill>
                <a:latin typeface="IBM Plex Sans Thai" pitchFamily="34" charset="0"/>
                <a:ea typeface="IBM Plex Sans Thai" pitchFamily="34" charset="-122"/>
                <a:cs typeface="IBM Plex Sans Thai" pitchFamily="34" charset="-120"/>
              </a:rPr>
              <a:t>Trigger: C2 &lt; 8%</a:t>
            </a:r>
            <a:endParaRPr lang="en-US" sz="1200" dirty="0"/>
          </a:p>
          <a:p>
            <a:pPr algn="l" indent="0" marL="0">
              <a:lnSpc>
                <a:spcPts val="1680"/>
              </a:lnSpc>
              <a:buNone/>
            </a:pPr>
            <a:r>
              <a:rPr lang="en-US" sz="1200" dirty="0">
                <a:solidFill>
                  <a:srgbClr val="3D4A42"/>
                </a:solidFill>
                <a:latin typeface="IBM Plex Sans Thai" pitchFamily="34" charset="0"/>
                <a:ea typeface="IBM Plex Sans Thai" pitchFamily="34" charset="-122"/>
                <a:cs typeface="IBM Plex Sans Thai" pitchFamily="34" charset="-120"/>
              </a:rPr>
              <a:t>Agent: pivot เป็น discovery-first และติดตาม voucher อย่างเป็นระบบ</a:t>
            </a:r>
            <a:endParaRPr lang="en-US" sz="1200" dirty="0"/>
          </a:p>
        </p:txBody>
      </p:sp>
      <p:sp>
        <p:nvSpPr>
          <p:cNvPr id="8" name="Shape 6"/>
          <p:cNvSpPr/>
          <p:nvPr/>
        </p:nvSpPr>
        <p:spPr>
          <a:xfrm>
            <a:off x="6153150" y="2129699"/>
            <a:ext cx="5219700" cy="971418"/>
          </a:xfrm>
          <a:prstGeom prst="roundRect">
            <a:avLst>
              <a:gd name="adj" fmla="val 9805"/>
            </a:avLst>
          </a:prstGeom>
          <a:solidFill>
            <a:srgbClr val="FFFDF8"/>
          </a:solidFill>
          <a:ln w="12700">
            <a:solidFill>
              <a:srgbClr val="E4DED2"/>
            </a:solidFill>
            <a:prstDash val="solid"/>
          </a:ln>
        </p:spPr>
      </p:sp>
      <p:sp>
        <p:nvSpPr>
          <p:cNvPr id="9" name="Text 7"/>
          <p:cNvSpPr/>
          <p:nvPr/>
        </p:nvSpPr>
        <p:spPr>
          <a:xfrm>
            <a:off x="6324600" y="2263049"/>
            <a:ext cx="5023104" cy="265377"/>
          </a:xfrm>
          <a:prstGeom prst="rect">
            <a:avLst/>
          </a:prstGeom>
          <a:noFill/>
          <a:ln/>
        </p:spPr>
        <p:txBody>
          <a:bodyPr wrap="square" lIns="0" tIns="0" rIns="0" bIns="0" rtlCol="0" anchor="t">
            <a:normAutofit/>
          </a:bodyPr>
          <a:lstStyle/>
          <a:p>
            <a:pPr algn="l" indent="0" marL="0">
              <a:lnSpc>
                <a:spcPts val="1890"/>
              </a:lnSpc>
              <a:buNone/>
            </a:pPr>
            <a:r>
              <a:rPr lang="en-US" sz="1350" b="1" dirty="0">
                <a:solidFill>
                  <a:srgbClr val="2F5D43"/>
                </a:solidFill>
                <a:latin typeface="IBM Plex Sans Thai" pitchFamily="34" charset="0"/>
                <a:ea typeface="IBM Plex Sans Thai" pitchFamily="34" charset="-122"/>
                <a:cs typeface="IBM Plex Sans Thai" pitchFamily="34" charset="-120"/>
              </a:rPr>
              <a:t>1 · Green Boom</a:t>
            </a:r>
            <a:endParaRPr lang="en-US" sz="1350" dirty="0"/>
          </a:p>
        </p:txBody>
      </p:sp>
      <p:sp>
        <p:nvSpPr>
          <p:cNvPr id="10" name="Text 8"/>
          <p:cNvSpPr/>
          <p:nvPr/>
        </p:nvSpPr>
        <p:spPr>
          <a:xfrm>
            <a:off x="6324600" y="2541129"/>
            <a:ext cx="502310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42"/>
                </a:solidFill>
                <a:latin typeface="IBM Plex Sans Thai" pitchFamily="34" charset="0"/>
                <a:ea typeface="IBM Plex Sans Thai" pitchFamily="34" charset="-122"/>
                <a:cs typeface="IBM Plex Sans Thai" pitchFamily="34" charset="-120"/>
              </a:rPr>
              <a:t>Trigger: backlog &gt; 20% สองสัปดาห์</a:t>
            </a:r>
            <a:endParaRPr lang="en-US" sz="1200" dirty="0"/>
          </a:p>
          <a:p>
            <a:pPr algn="l" indent="0" marL="0">
              <a:lnSpc>
                <a:spcPts val="1680"/>
              </a:lnSpc>
              <a:buNone/>
            </a:pPr>
            <a:r>
              <a:rPr lang="en-US" sz="1200" dirty="0">
                <a:solidFill>
                  <a:srgbClr val="3D4A42"/>
                </a:solidFill>
                <a:latin typeface="IBM Plex Sans Thai" pitchFamily="34" charset="0"/>
                <a:ea typeface="IBM Plex Sans Thai" pitchFamily="34" charset="-122"/>
                <a:cs typeface="IBM Plex Sans Thai" pitchFamily="34" charset="-120"/>
              </a:rPr>
              <a:t>Agent: จัดคิว numbered batch pre-order ไม่สัญญาเกินกำลังผสมมือ</a:t>
            </a:r>
            <a:endParaRPr lang="en-US" sz="1200" dirty="0"/>
          </a:p>
        </p:txBody>
      </p:sp>
      <p:sp>
        <p:nvSpPr>
          <p:cNvPr id="11" name="Shape 9"/>
          <p:cNvSpPr/>
          <p:nvPr/>
        </p:nvSpPr>
        <p:spPr>
          <a:xfrm>
            <a:off x="819150" y="3215419"/>
            <a:ext cx="5219700" cy="971418"/>
          </a:xfrm>
          <a:prstGeom prst="roundRect">
            <a:avLst>
              <a:gd name="adj" fmla="val 9805"/>
            </a:avLst>
          </a:prstGeom>
          <a:solidFill>
            <a:srgbClr val="FFFDF8"/>
          </a:solidFill>
          <a:ln w="12700">
            <a:solidFill>
              <a:srgbClr val="E4DED2"/>
            </a:solidFill>
            <a:prstDash val="solid"/>
          </a:ln>
        </p:spPr>
      </p:sp>
      <p:sp>
        <p:nvSpPr>
          <p:cNvPr id="12" name="Text 10"/>
          <p:cNvSpPr/>
          <p:nvPr/>
        </p:nvSpPr>
        <p:spPr>
          <a:xfrm>
            <a:off x="990600" y="3348769"/>
            <a:ext cx="5023104" cy="265377"/>
          </a:xfrm>
          <a:prstGeom prst="rect">
            <a:avLst/>
          </a:prstGeom>
          <a:noFill/>
          <a:ln/>
        </p:spPr>
        <p:txBody>
          <a:bodyPr wrap="square" lIns="0" tIns="0" rIns="0" bIns="0" rtlCol="0" anchor="t">
            <a:normAutofit/>
          </a:bodyPr>
          <a:lstStyle/>
          <a:p>
            <a:pPr algn="l" indent="0" marL="0">
              <a:lnSpc>
                <a:spcPts val="1890"/>
              </a:lnSpc>
              <a:buNone/>
            </a:pPr>
            <a:r>
              <a:rPr lang="en-US" sz="1350" b="1" dirty="0">
                <a:solidFill>
                  <a:srgbClr val="8A3F1F"/>
                </a:solidFill>
                <a:latin typeface="IBM Plex Sans Thai" pitchFamily="34" charset="0"/>
                <a:ea typeface="IBM Plex Sans Thai" pitchFamily="34" charset="-122"/>
                <a:cs typeface="IBM Plex Sans Thai" pitchFamily="34" charset="-120"/>
              </a:rPr>
              <a:t>4 · Market Drift</a:t>
            </a:r>
            <a:endParaRPr lang="en-US" sz="1350" dirty="0"/>
          </a:p>
        </p:txBody>
      </p:sp>
      <p:sp>
        <p:nvSpPr>
          <p:cNvPr id="13" name="Text 11"/>
          <p:cNvSpPr/>
          <p:nvPr/>
        </p:nvSpPr>
        <p:spPr>
          <a:xfrm>
            <a:off x="990600" y="3626842"/>
            <a:ext cx="502310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42"/>
                </a:solidFill>
                <a:latin typeface="IBM Plex Sans Thai" pitchFamily="34" charset="0"/>
                <a:ea typeface="IBM Plex Sans Thai" pitchFamily="34" charset="-122"/>
                <a:cs typeface="IBM Plex Sans Thai" pitchFamily="34" charset="-120"/>
              </a:rPr>
              <a:t>Trigger: contribution ติดลบ 2 เดือน</a:t>
            </a:r>
            <a:endParaRPr lang="en-US" sz="1200" dirty="0"/>
          </a:p>
          <a:p>
            <a:pPr algn="l" indent="0" marL="0">
              <a:lnSpc>
                <a:spcPts val="1680"/>
              </a:lnSpc>
              <a:buNone/>
            </a:pPr>
            <a:r>
              <a:rPr lang="en-US" sz="1200" dirty="0">
                <a:solidFill>
                  <a:srgbClr val="3D4A42"/>
                </a:solidFill>
                <a:latin typeface="IBM Plex Sans Thai" pitchFamily="34" charset="0"/>
                <a:ea typeface="IBM Plex Sans Thai" pitchFamily="34" charset="-122"/>
                <a:cs typeface="IBM Plex Sans Thai" pitchFamily="34" charset="-120"/>
              </a:rPr>
              <a:t>Agent: ลดเหลือระดับพื้นฐาน ดูแลลูกค้าเดิม รับงาน B2B bespoke</a:t>
            </a:r>
            <a:endParaRPr lang="en-US" sz="1200" dirty="0"/>
          </a:p>
        </p:txBody>
      </p:sp>
      <p:sp>
        <p:nvSpPr>
          <p:cNvPr id="14" name="Shape 12"/>
          <p:cNvSpPr/>
          <p:nvPr/>
        </p:nvSpPr>
        <p:spPr>
          <a:xfrm>
            <a:off x="6153150" y="3215419"/>
            <a:ext cx="5219700" cy="971418"/>
          </a:xfrm>
          <a:prstGeom prst="roundRect">
            <a:avLst>
              <a:gd name="adj" fmla="val 9805"/>
            </a:avLst>
          </a:prstGeom>
          <a:solidFill>
            <a:srgbClr val="FFFDF8"/>
          </a:solidFill>
          <a:ln w="12700">
            <a:solidFill>
              <a:srgbClr val="E4DED2"/>
            </a:solidFill>
            <a:prstDash val="solid"/>
          </a:ln>
        </p:spPr>
      </p:sp>
      <p:sp>
        <p:nvSpPr>
          <p:cNvPr id="15" name="Text 13"/>
          <p:cNvSpPr/>
          <p:nvPr/>
        </p:nvSpPr>
        <p:spPr>
          <a:xfrm>
            <a:off x="6324600" y="3348769"/>
            <a:ext cx="5023104" cy="265377"/>
          </a:xfrm>
          <a:prstGeom prst="rect">
            <a:avLst/>
          </a:prstGeom>
          <a:noFill/>
          <a:ln/>
        </p:spPr>
        <p:txBody>
          <a:bodyPr wrap="square" lIns="0" tIns="0" rIns="0" bIns="0" rtlCol="0" anchor="t">
            <a:normAutofit/>
          </a:bodyPr>
          <a:lstStyle/>
          <a:p>
            <a:pPr algn="l" indent="0" marL="0">
              <a:lnSpc>
                <a:spcPts val="1890"/>
              </a:lnSpc>
              <a:buNone/>
            </a:pPr>
            <a:r>
              <a:rPr lang="en-US" sz="1350" b="1" dirty="0">
                <a:solidFill>
                  <a:srgbClr val="7F6000"/>
                </a:solidFill>
                <a:latin typeface="IBM Plex Sans Thai" pitchFamily="34" charset="0"/>
                <a:ea typeface="IBM Plex Sans Thai" pitchFamily="34" charset="-122"/>
                <a:cs typeface="IBM Plex Sans Thai" pitchFamily="34" charset="-120"/>
              </a:rPr>
              <a:t>3 · Slow Education</a:t>
            </a:r>
            <a:endParaRPr lang="en-US" sz="1350" dirty="0"/>
          </a:p>
        </p:txBody>
      </p:sp>
      <p:sp>
        <p:nvSpPr>
          <p:cNvPr id="16" name="Text 14"/>
          <p:cNvSpPr/>
          <p:nvPr/>
        </p:nvSpPr>
        <p:spPr>
          <a:xfrm>
            <a:off x="6324600" y="3626842"/>
            <a:ext cx="502310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42"/>
                </a:solidFill>
                <a:latin typeface="IBM Plex Sans Thai" pitchFamily="34" charset="0"/>
                <a:ea typeface="IBM Plex Sans Thai" pitchFamily="34" charset="-122"/>
                <a:cs typeface="IBM Plex Sans Thai" pitchFamily="34" charset="-120"/>
              </a:rPr>
              <a:t>Trigger: F2 &lt; 10%, P3 ต่ำกว่า benchmark 40%</a:t>
            </a:r>
            <a:endParaRPr lang="en-US" sz="1200" dirty="0"/>
          </a:p>
          <a:p>
            <a:pPr algn="l" indent="0" marL="0">
              <a:lnSpc>
                <a:spcPts val="1680"/>
              </a:lnSpc>
              <a:buNone/>
            </a:pPr>
            <a:r>
              <a:rPr lang="en-US" sz="1200" dirty="0">
                <a:solidFill>
                  <a:srgbClr val="3D4A42"/>
                </a:solidFill>
                <a:latin typeface="IBM Plex Sans Thai" pitchFamily="34" charset="0"/>
                <a:ea typeface="IBM Plex Sans Thai" pitchFamily="34" charset="-122"/>
                <a:cs typeface="IBM Plex Sans Thai" pitchFamily="34" charset="-120"/>
              </a:rPr>
              <a:t>Agent: ชวนเข้า workshop และนำด้วย Last Sip เป็น bridge scent</a:t>
            </a:r>
            <a:endParaRPr lang="en-US" sz="1200" dirty="0"/>
          </a:p>
        </p:txBody>
      </p:sp>
      <p:sp>
        <p:nvSpPr>
          <p:cNvPr id="17" name="Text 15"/>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F68"/>
                </a:solidFill>
                <a:latin typeface="IBM Plex Sans Thai" pitchFamily="34" charset="0"/>
                <a:ea typeface="IBM Plex Sans Thai" pitchFamily="34" charset="-122"/>
                <a:cs typeface="IBM Plex Sans Thai" pitchFamily="34" charset="-120"/>
              </a:rPr>
              <a:t>BIS609 · BitterSweet × Agentic AI on LINE OA · BIS608 หน้า 20–28</a:t>
            </a:r>
            <a:endParaRPr lang="en-US" sz="1200" dirty="0"/>
          </a:p>
        </p:txBody>
      </p:sp>
      <p:sp>
        <p:nvSpPr>
          <p:cNvPr id="18" name="Text 16"/>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F68"/>
                </a:solidFill>
                <a:latin typeface="IBM Plex Sans Thai" pitchFamily="34" charset="0"/>
                <a:ea typeface="IBM Plex Sans Thai" pitchFamily="34" charset="-122"/>
                <a:cs typeface="IBM Plex Sans Thai" pitchFamily="34" charset="-120"/>
              </a:rPr>
              <a:t>13 / 16</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4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4532E"/>
                </a:solidFill>
                <a:latin typeface="IBM Plex Sans Thai" pitchFamily="34" charset="0"/>
                <a:ea typeface="IBM Plex Sans Thai" pitchFamily="34" charset="-122"/>
                <a:cs typeface="IBM Plex Sans Thai" pitchFamily="34" charset="-120"/>
              </a:rPr>
              <a:t>A · ACTIONS · ROADMAP ตาม TIMELINE ของ BITTERSWEET (L06 P.11)</a:t>
            </a:r>
            <a:endParaRPr lang="en-US" sz="1200" dirty="0"/>
          </a:p>
        </p:txBody>
      </p:sp>
      <p:sp>
        <p:nvSpPr>
          <p:cNvPr id="3" name="Text 1"/>
          <p:cNvSpPr/>
          <p:nvPr>
            <p:ph type="title"/>
          </p:nvPr>
        </p:nvSpPr>
        <p:spPr>
          <a:xfrm>
            <a:off x="812800" y="1203920"/>
            <a:ext cx="10883392" cy="452107"/>
          </a:xfrm>
          <a:prstGeom prst="rect">
            <a:avLst/>
          </a:prstGeom>
          <a:noFill/>
          <a:ln/>
        </p:spPr>
        <p:txBody>
          <a:bodyPr wrap="square" lIns="0" tIns="0" rIns="0" bIns="0" rtlCol="0" anchor="t">
            <a:normAutofit/>
          </a:bodyPr>
          <a:lstStyle/>
          <a:p>
            <a:pPr algn="l" indent="0" marL="0">
              <a:lnSpc>
                <a:spcPts val="3360"/>
              </a:lnSpc>
              <a:buNone/>
            </a:pPr>
            <a:r>
              <a:rPr lang="en-US" sz="2800" b="1" i="0" dirty="0">
                <a:solidFill>
                  <a:srgbClr val="1F3D2B"/>
                </a:solidFill>
                <a:latin typeface="Noto Serif Thai" pitchFamily="18" charset="0"/>
                <a:ea typeface="Noto Serif Thai" pitchFamily="18" charset="-122"/>
                <a:cs typeface="Noto Serif Thai" pitchFamily="18" charset="-120"/>
              </a:rPr>
              <a:t>เริ่มจาก customer list แล้วค่อยเป็น agent</a:t>
            </a:r>
            <a:endParaRPr lang="en-US" sz="2800" dirty="0"/>
          </a:p>
        </p:txBody>
      </p:sp>
      <p:sp>
        <p:nvSpPr>
          <p:cNvPr id="4" name="Shape 2"/>
          <p:cNvSpPr/>
          <p:nvPr/>
        </p:nvSpPr>
        <p:spPr>
          <a:xfrm>
            <a:off x="819150" y="1814779"/>
            <a:ext cx="2559050" cy="1925108"/>
          </a:xfrm>
          <a:prstGeom prst="roundRect">
            <a:avLst>
              <a:gd name="adj" fmla="val 5607"/>
            </a:avLst>
          </a:prstGeom>
          <a:solidFill>
            <a:srgbClr val="FFFDF8"/>
          </a:solidFill>
          <a:ln w="12700">
            <a:solidFill>
              <a:srgbClr val="E4DED2"/>
            </a:solidFill>
            <a:prstDash val="solid"/>
          </a:ln>
        </p:spPr>
      </p:sp>
      <p:sp>
        <p:nvSpPr>
          <p:cNvPr id="5" name="Text 3"/>
          <p:cNvSpPr/>
          <p:nvPr/>
        </p:nvSpPr>
        <p:spPr>
          <a:xfrm>
            <a:off x="977900" y="1973529"/>
            <a:ext cx="230879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4532E"/>
                </a:solidFill>
                <a:latin typeface="IBM Plex Sans Thai" pitchFamily="34" charset="0"/>
                <a:ea typeface="IBM Plex Sans Thai" pitchFamily="34" charset="-122"/>
                <a:cs typeface="IBM Plex Sans Thai" pitchFamily="34" charset="-120"/>
              </a:rPr>
              <a:t>ต.ค. 2026 – Q1 2027</a:t>
            </a:r>
            <a:endParaRPr lang="en-US" sz="1200" dirty="0"/>
          </a:p>
        </p:txBody>
      </p:sp>
      <p:sp>
        <p:nvSpPr>
          <p:cNvPr id="6" name="Text 4"/>
          <p:cNvSpPr/>
          <p:nvPr/>
        </p:nvSpPr>
        <p:spPr>
          <a:xfrm>
            <a:off x="977900" y="2250349"/>
            <a:ext cx="2308796"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2A24"/>
                </a:solidFill>
                <a:latin typeface="IBM Plex Sans Thai" pitchFamily="34" charset="0"/>
                <a:ea typeface="IBM Plex Sans Thai" pitchFamily="34" charset="-122"/>
                <a:cs typeface="IBM Plex Sans Thai" pitchFamily="34" charset="-120"/>
              </a:rPr>
              <a:t>0 · Foundation</a:t>
            </a:r>
            <a:endParaRPr lang="en-US" sz="1400" dirty="0"/>
          </a:p>
        </p:txBody>
      </p:sp>
      <p:sp>
        <p:nvSpPr>
          <p:cNvPr id="7" name="Text 5"/>
          <p:cNvSpPr/>
          <p:nvPr/>
        </p:nvSpPr>
        <p:spPr>
          <a:xfrm>
            <a:off x="977900" y="2562758"/>
            <a:ext cx="2308796"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42"/>
                </a:solidFill>
                <a:latin typeface="IBM Plex Sans Thai" pitchFamily="34" charset="0"/>
                <a:ea typeface="IBM Plex Sans Thai" pitchFamily="34" charset="-122"/>
                <a:cs typeface="IBM Plex Sans Thai" pitchFamily="34" charset="-120"/>
              </a:rPr>
              <a:t>LINE OA + consent + customer list · เขียน knowledge base · </a:t>
            </a:r>
            <a:r>
              <a:rPr lang="en-US" sz="1200" b="1" dirty="0">
                <a:solidFill>
                  <a:srgbClr val="3D4A42"/>
                </a:solidFill>
                <a:latin typeface="IBM Plex Sans Thai" pitchFamily="34" charset="0"/>
                <a:ea typeface="IBM Plex Sans Thai" pitchFamily="34" charset="-122"/>
                <a:cs typeface="IBM Plex Sans Thai" pitchFamily="34" charset="-120"/>
              </a:rPr>
              <a:t>ยังไม่ขาย</a:t>
            </a:r>
            <a:endParaRPr lang="en-US" sz="1200" dirty="0"/>
          </a:p>
        </p:txBody>
      </p:sp>
      <p:sp>
        <p:nvSpPr>
          <p:cNvPr id="8" name="Text 6"/>
          <p:cNvSpPr/>
          <p:nvPr/>
        </p:nvSpPr>
        <p:spPr>
          <a:xfrm>
            <a:off x="977900" y="3266219"/>
            <a:ext cx="2241550" cy="314920"/>
          </a:xfrm>
          <a:prstGeom prst="roundRect">
            <a:avLst>
              <a:gd name="adj" fmla="val 20164"/>
            </a:avLst>
          </a:prstGeom>
          <a:solidFill>
            <a:srgbClr val="F3DCCB"/>
          </a:solidFill>
          <a:ln/>
        </p:spPr>
        <p:txBody>
          <a:bodyPr wrap="square" lIns="70301" tIns="32201" rIns="8389" bIns="6801" rtlCol="0" anchor="t">
            <a:normAutofit/>
          </a:bodyPr>
          <a:lstStyle/>
          <a:p>
            <a:pPr algn="l" indent="0" marL="0">
              <a:lnSpc>
                <a:spcPts val="1680"/>
              </a:lnSpc>
              <a:buNone/>
            </a:pPr>
            <a:r>
              <a:rPr lang="en-US" sz="1200" dirty="0">
                <a:solidFill>
                  <a:srgbClr val="1F2A24"/>
                </a:solidFill>
                <a:latin typeface="IBM Plex Sans Thai" pitchFamily="34" charset="0"/>
                <a:ea typeface="IBM Plex Sans Thai" pitchFamily="34" charset="-122"/>
                <a:cs typeface="IBM Plex Sans Thai" pitchFamily="34" charset="-120"/>
              </a:rPr>
              <a:t>Gate: จดแจ้ง อย. + trademark</a:t>
            </a:r>
            <a:endParaRPr lang="en-US" sz="1200" dirty="0"/>
          </a:p>
        </p:txBody>
      </p:sp>
      <p:sp>
        <p:nvSpPr>
          <p:cNvPr id="9" name="Shape 7"/>
          <p:cNvSpPr/>
          <p:nvPr/>
        </p:nvSpPr>
        <p:spPr>
          <a:xfrm>
            <a:off x="3492500" y="1814779"/>
            <a:ext cx="2559050" cy="1925108"/>
          </a:xfrm>
          <a:prstGeom prst="roundRect">
            <a:avLst>
              <a:gd name="adj" fmla="val 5607"/>
            </a:avLst>
          </a:prstGeom>
          <a:solidFill>
            <a:srgbClr val="FFFDF8"/>
          </a:solidFill>
          <a:ln w="12700">
            <a:solidFill>
              <a:srgbClr val="E4DED2"/>
            </a:solidFill>
            <a:prstDash val="solid"/>
          </a:ln>
        </p:spPr>
      </p:sp>
      <p:sp>
        <p:nvSpPr>
          <p:cNvPr id="10" name="Text 8"/>
          <p:cNvSpPr/>
          <p:nvPr/>
        </p:nvSpPr>
        <p:spPr>
          <a:xfrm>
            <a:off x="3651250" y="1973529"/>
            <a:ext cx="230879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4532E"/>
                </a:solidFill>
                <a:latin typeface="IBM Plex Sans Thai" pitchFamily="34" charset="0"/>
                <a:ea typeface="IBM Plex Sans Thai" pitchFamily="34" charset="-122"/>
                <a:cs typeface="IBM Plex Sans Thai" pitchFamily="34" charset="-120"/>
              </a:rPr>
              <a:t>พ.ค. – ก.ค. 2027</a:t>
            </a:r>
            <a:endParaRPr lang="en-US" sz="1200" dirty="0"/>
          </a:p>
        </p:txBody>
      </p:sp>
      <p:sp>
        <p:nvSpPr>
          <p:cNvPr id="11" name="Text 9"/>
          <p:cNvSpPr/>
          <p:nvPr/>
        </p:nvSpPr>
        <p:spPr>
          <a:xfrm>
            <a:off x="3651250" y="2250349"/>
            <a:ext cx="2308796"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2A24"/>
                </a:solidFill>
                <a:latin typeface="IBM Plex Sans Thai" pitchFamily="34" charset="0"/>
                <a:ea typeface="IBM Plex Sans Thai" pitchFamily="34" charset="-122"/>
                <a:cs typeface="IBM Plex Sans Thai" pitchFamily="34" charset="-120"/>
              </a:rPr>
              <a:t>1 · Pilot</a:t>
            </a:r>
            <a:endParaRPr lang="en-US" sz="1400" dirty="0"/>
          </a:p>
        </p:txBody>
      </p:sp>
      <p:sp>
        <p:nvSpPr>
          <p:cNvPr id="12" name="Text 10"/>
          <p:cNvSpPr/>
          <p:nvPr/>
        </p:nvSpPr>
        <p:spPr>
          <a:xfrm>
            <a:off x="3651250" y="2562758"/>
            <a:ext cx="230879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42"/>
                </a:solidFill>
                <a:latin typeface="IBM Plex Sans Thai" pitchFamily="34" charset="0"/>
                <a:ea typeface="IBM Plex Sans Thai" pitchFamily="34" charset="-122"/>
                <a:cs typeface="IBM Plex Sans Thai" pitchFamily="34" charset="-120"/>
              </a:rPr>
              <a:t>QR ที่บูธ · follow-up อัตโนมัติ · LLM ตอบ FAQ มีคนตรวจทุกวัน</a:t>
            </a:r>
            <a:endParaRPr lang="en-US" sz="1200" dirty="0"/>
          </a:p>
        </p:txBody>
      </p:sp>
      <p:sp>
        <p:nvSpPr>
          <p:cNvPr id="13" name="Text 11"/>
          <p:cNvSpPr/>
          <p:nvPr/>
        </p:nvSpPr>
        <p:spPr>
          <a:xfrm>
            <a:off x="3651250" y="3052899"/>
            <a:ext cx="2241550" cy="528241"/>
          </a:xfrm>
          <a:prstGeom prst="roundRect">
            <a:avLst>
              <a:gd name="adj" fmla="val 12021"/>
            </a:avLst>
          </a:prstGeom>
          <a:solidFill>
            <a:srgbClr val="EAF0E8"/>
          </a:solidFill>
          <a:ln/>
        </p:spPr>
        <p:txBody>
          <a:bodyPr wrap="square" lIns="70301" tIns="32201" rIns="8389" bIns="6801" rtlCol="0" anchor="t">
            <a:normAutofit/>
          </a:bodyPr>
          <a:lstStyle/>
          <a:p>
            <a:pPr algn="l" indent="0" marL="0">
              <a:lnSpc>
                <a:spcPts val="1680"/>
              </a:lnSpc>
              <a:buNone/>
            </a:pPr>
            <a:r>
              <a:rPr lang="en-US" sz="1200" dirty="0">
                <a:solidFill>
                  <a:srgbClr val="1F2A24"/>
                </a:solidFill>
                <a:latin typeface="IBM Plex Sans Thai" pitchFamily="34" charset="0"/>
                <a:ea typeface="IBM Plex Sans Thai" pitchFamily="34" charset="-122"/>
                <a:cs typeface="IBM Plex Sans Thai" pitchFamily="34" charset="-120"/>
              </a:rPr>
              <a:t>Gate: profile ≥ 80%, error &lt; 2%</a:t>
            </a:r>
            <a:endParaRPr lang="en-US" sz="1200" dirty="0"/>
          </a:p>
        </p:txBody>
      </p:sp>
      <p:sp>
        <p:nvSpPr>
          <p:cNvPr id="14" name="Shape 12"/>
          <p:cNvSpPr/>
          <p:nvPr/>
        </p:nvSpPr>
        <p:spPr>
          <a:xfrm>
            <a:off x="6165850" y="1814779"/>
            <a:ext cx="2559050" cy="1925108"/>
          </a:xfrm>
          <a:prstGeom prst="roundRect">
            <a:avLst>
              <a:gd name="adj" fmla="val 5607"/>
            </a:avLst>
          </a:prstGeom>
          <a:solidFill>
            <a:srgbClr val="FFFDF8"/>
          </a:solidFill>
          <a:ln w="12700">
            <a:solidFill>
              <a:srgbClr val="E4DED2"/>
            </a:solidFill>
            <a:prstDash val="solid"/>
          </a:ln>
        </p:spPr>
      </p:sp>
      <p:sp>
        <p:nvSpPr>
          <p:cNvPr id="15" name="Text 13"/>
          <p:cNvSpPr/>
          <p:nvPr/>
        </p:nvSpPr>
        <p:spPr>
          <a:xfrm>
            <a:off x="6324600" y="1973529"/>
            <a:ext cx="230879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4532E"/>
                </a:solidFill>
                <a:latin typeface="IBM Plex Sans Thai" pitchFamily="34" charset="0"/>
                <a:ea typeface="IBM Plex Sans Thai" pitchFamily="34" charset="-122"/>
                <a:cs typeface="IBM Plex Sans Thai" pitchFamily="34" charset="-120"/>
              </a:rPr>
              <a:t>ส.ค. – ธ.ค. 2027</a:t>
            </a:r>
            <a:endParaRPr lang="en-US" sz="1200" dirty="0"/>
          </a:p>
        </p:txBody>
      </p:sp>
      <p:sp>
        <p:nvSpPr>
          <p:cNvPr id="16" name="Text 14"/>
          <p:cNvSpPr/>
          <p:nvPr/>
        </p:nvSpPr>
        <p:spPr>
          <a:xfrm>
            <a:off x="6324600" y="2250349"/>
            <a:ext cx="2308796"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2A24"/>
                </a:solidFill>
                <a:latin typeface="IBM Plex Sans Thai" pitchFamily="34" charset="0"/>
                <a:ea typeface="IBM Plex Sans Thai" pitchFamily="34" charset="-122"/>
                <a:cs typeface="IBM Plex Sans Thai" pitchFamily="34" charset="-120"/>
              </a:rPr>
              <a:t>2 · Agentic Sales</a:t>
            </a:r>
            <a:endParaRPr lang="en-US" sz="1400" dirty="0"/>
          </a:p>
        </p:txBody>
      </p:sp>
      <p:sp>
        <p:nvSpPr>
          <p:cNvPr id="17" name="Text 15"/>
          <p:cNvSpPr/>
          <p:nvPr/>
        </p:nvSpPr>
        <p:spPr>
          <a:xfrm>
            <a:off x="6324600" y="2562758"/>
            <a:ext cx="2308796"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42"/>
                </a:solidFill>
                <a:latin typeface="IBM Plex Sans Thai" pitchFamily="34" charset="0"/>
                <a:ea typeface="IBM Plex Sans Thai" pitchFamily="34" charset="-122"/>
                <a:cs typeface="IBM Plex Sans Thai" pitchFamily="34" charset="-120"/>
              </a:rPr>
              <a:t>สต็อกต่อ batch · order + PromptPay · voucher · narrowcast</a:t>
            </a:r>
            <a:endParaRPr lang="en-US" sz="1200" dirty="0"/>
          </a:p>
        </p:txBody>
      </p:sp>
      <p:sp>
        <p:nvSpPr>
          <p:cNvPr id="18" name="Text 16"/>
          <p:cNvSpPr/>
          <p:nvPr/>
        </p:nvSpPr>
        <p:spPr>
          <a:xfrm>
            <a:off x="6324600" y="3266219"/>
            <a:ext cx="2241550" cy="314920"/>
          </a:xfrm>
          <a:prstGeom prst="roundRect">
            <a:avLst>
              <a:gd name="adj" fmla="val 20164"/>
            </a:avLst>
          </a:prstGeom>
          <a:solidFill>
            <a:srgbClr val="EAF0E8"/>
          </a:solidFill>
          <a:ln/>
        </p:spPr>
        <p:txBody>
          <a:bodyPr wrap="square" lIns="70301" tIns="32201" rIns="8389" bIns="6801" rtlCol="0" anchor="t">
            <a:normAutofit/>
          </a:bodyPr>
          <a:lstStyle/>
          <a:p>
            <a:pPr algn="l" indent="0" marL="0">
              <a:lnSpc>
                <a:spcPts val="1680"/>
              </a:lnSpc>
              <a:buNone/>
            </a:pPr>
            <a:r>
              <a:rPr lang="en-US" sz="1200" dirty="0">
                <a:solidFill>
                  <a:srgbClr val="1F2A24"/>
                </a:solidFill>
                <a:latin typeface="IBM Plex Sans Thai" pitchFamily="34" charset="0"/>
                <a:ea typeface="IBM Plex Sans Thai" pitchFamily="34" charset="-122"/>
                <a:cs typeface="IBM Plex Sans Thai" pitchFamily="34" charset="-120"/>
              </a:rPr>
              <a:t>Gate: C2 ≥ 10%, คุ้มทุน</a:t>
            </a:r>
            <a:endParaRPr lang="en-US" sz="1200" dirty="0"/>
          </a:p>
        </p:txBody>
      </p:sp>
      <p:sp>
        <p:nvSpPr>
          <p:cNvPr id="19" name="Shape 17"/>
          <p:cNvSpPr/>
          <p:nvPr/>
        </p:nvSpPr>
        <p:spPr>
          <a:xfrm>
            <a:off x="8832850" y="1808429"/>
            <a:ext cx="2546350" cy="1937808"/>
          </a:xfrm>
          <a:prstGeom prst="roundRect">
            <a:avLst>
              <a:gd name="adj" fmla="val 5898"/>
            </a:avLst>
          </a:prstGeom>
          <a:solidFill>
            <a:srgbClr val="1F3D2B"/>
          </a:solidFill>
          <a:ln/>
        </p:spPr>
      </p:sp>
      <p:sp>
        <p:nvSpPr>
          <p:cNvPr id="20" name="Text 18"/>
          <p:cNvSpPr/>
          <p:nvPr/>
        </p:nvSpPr>
        <p:spPr>
          <a:xfrm>
            <a:off x="8985250" y="1960829"/>
            <a:ext cx="230879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8A07A"/>
                </a:solidFill>
                <a:latin typeface="IBM Plex Sans Thai" pitchFamily="34" charset="0"/>
                <a:ea typeface="IBM Plex Sans Thai" pitchFamily="34" charset="-122"/>
                <a:cs typeface="IBM Plex Sans Thai" pitchFamily="34" charset="-120"/>
              </a:rPr>
              <a:t>2028</a:t>
            </a:r>
            <a:endParaRPr lang="en-US" sz="1200" dirty="0"/>
          </a:p>
        </p:txBody>
      </p:sp>
      <p:sp>
        <p:nvSpPr>
          <p:cNvPr id="21" name="Text 19"/>
          <p:cNvSpPr/>
          <p:nvPr/>
        </p:nvSpPr>
        <p:spPr>
          <a:xfrm>
            <a:off x="8985250" y="2237649"/>
            <a:ext cx="2308796"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7F4EC"/>
                </a:solidFill>
                <a:latin typeface="IBM Plex Sans Thai" pitchFamily="34" charset="0"/>
                <a:ea typeface="IBM Plex Sans Thai" pitchFamily="34" charset="-122"/>
                <a:cs typeface="IBM Plex Sans Thai" pitchFamily="34" charset="-120"/>
              </a:rPr>
              <a:t>3 · CRM Loop</a:t>
            </a:r>
            <a:endParaRPr lang="en-US" sz="1400" dirty="0"/>
          </a:p>
        </p:txBody>
      </p:sp>
      <p:sp>
        <p:nvSpPr>
          <p:cNvPr id="22" name="Text 20"/>
          <p:cNvSpPr/>
          <p:nvPr/>
        </p:nvSpPr>
        <p:spPr>
          <a:xfrm>
            <a:off x="8985250" y="2550058"/>
            <a:ext cx="230879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9E3DA"/>
                </a:solidFill>
                <a:latin typeface="IBM Plex Sans Thai" pitchFamily="34" charset="0"/>
                <a:ea typeface="IBM Plex Sans Thai" pitchFamily="34" charset="-122"/>
                <a:cs typeface="IBM Plex Sans Thai" pitchFamily="34" charset="-120"/>
              </a:rPr>
              <a:t>Repeat reminder · referral · scenario playbook</a:t>
            </a:r>
            <a:endParaRPr lang="en-US" sz="1200" dirty="0"/>
          </a:p>
        </p:txBody>
      </p:sp>
      <p:sp>
        <p:nvSpPr>
          <p:cNvPr id="23" name="Text 21"/>
          <p:cNvSpPr/>
          <p:nvPr/>
        </p:nvSpPr>
        <p:spPr>
          <a:xfrm>
            <a:off x="8985250" y="3040199"/>
            <a:ext cx="2241550" cy="314920"/>
          </a:xfrm>
          <a:prstGeom prst="roundRect">
            <a:avLst>
              <a:gd name="adj" fmla="val 20164"/>
            </a:avLst>
          </a:prstGeom>
          <a:solidFill>
            <a:srgbClr val="2F5D43"/>
          </a:solidFill>
          <a:ln/>
        </p:spPr>
        <p:txBody>
          <a:bodyPr wrap="square" lIns="70301" tIns="32201" rIns="8389" bIns="6801" rtlCol="0" anchor="t">
            <a:normAutofit/>
          </a:bodyPr>
          <a:lstStyle/>
          <a:p>
            <a:pPr algn="l" indent="0" marL="0">
              <a:lnSpc>
                <a:spcPts val="1680"/>
              </a:lnSpc>
              <a:buNone/>
            </a:pPr>
            <a:r>
              <a:rPr lang="en-US" sz="1200" dirty="0">
                <a:solidFill>
                  <a:srgbClr val="F7F4EC"/>
                </a:solidFill>
                <a:latin typeface="IBM Plex Sans Thai" pitchFamily="34" charset="0"/>
                <a:ea typeface="IBM Plex Sans Thai" pitchFamily="34" charset="-122"/>
                <a:cs typeface="IBM Plex Sans Thai" pitchFamily="34" charset="-120"/>
              </a:rPr>
              <a:t>Gate: F2 ≥ 20%</a:t>
            </a:r>
            <a:endParaRPr lang="en-US" sz="1200" dirty="0"/>
          </a:p>
        </p:txBody>
      </p:sp>
      <p:sp>
        <p:nvSpPr>
          <p:cNvPr id="24" name="Text 22"/>
          <p:cNvSpPr/>
          <p:nvPr/>
        </p:nvSpPr>
        <p:spPr>
          <a:xfrm>
            <a:off x="812800" y="3924040"/>
            <a:ext cx="10883392" cy="46990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1F3D2B"/>
                </a:solidFill>
                <a:latin typeface="IBM Plex Sans Thai" pitchFamily="34" charset="0"/>
                <a:ea typeface="IBM Plex Sans Thai" pitchFamily="34" charset="-122"/>
                <a:cs typeface="IBM Plex Sans Thai" pitchFamily="34" charset="-120"/>
              </a:rPr>
              <a:t>Cross-functional (L06 p.10):</a:t>
            </a:r>
            <a:r>
              <a:rPr lang="en-US" sz="1250" dirty="0">
                <a:solidFill>
                  <a:srgbClr val="3D4A42"/>
                </a:solidFill>
                <a:latin typeface="IBM Plex Sans Thai" pitchFamily="34" charset="0"/>
                <a:ea typeface="IBM Plex Sans Thai" pitchFamily="34" charset="-122"/>
                <a:cs typeface="IBM Plex Sans Thai" pitchFamily="34" charset="-120"/>
              </a:rPr>
              <a:t> Founder อนุมัติ voice · Brand &amp; Finance คุมงบ · Production อัปเดตสต็อก · Product &amp; IT ดูระบบ · Marketing ตรวจแชตรายสัปดาห์ · Perfumer รับรองความรู้</a:t>
            </a:r>
            <a:endParaRPr lang="en-US" sz="1250" dirty="0"/>
          </a:p>
        </p:txBody>
      </p:sp>
      <p:sp>
        <p:nvSpPr>
          <p:cNvPr id="25" name="Text 23"/>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F68"/>
                </a:solidFill>
                <a:latin typeface="IBM Plex Sans Thai" pitchFamily="34" charset="0"/>
                <a:ea typeface="IBM Plex Sans Thai" pitchFamily="34" charset="-122"/>
                <a:cs typeface="IBM Plex Sans Thai" pitchFamily="34" charset="-120"/>
              </a:rPr>
              <a:t>BIS609 · BitterSweet × Agentic AI on LINE OA</a:t>
            </a:r>
            <a:endParaRPr lang="en-US" sz="1200" dirty="0"/>
          </a:p>
        </p:txBody>
      </p:sp>
      <p:sp>
        <p:nvSpPr>
          <p:cNvPr id="26" name="Text 2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F68"/>
                </a:solidFill>
                <a:latin typeface="IBM Plex Sans Thai" pitchFamily="34" charset="0"/>
                <a:ea typeface="IBM Plex Sans Thai" pitchFamily="34" charset="-122"/>
                <a:cs typeface="IBM Plex Sans Thai" pitchFamily="34" charset="-120"/>
              </a:rPr>
              <a:t>14 / 16</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4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4532E"/>
                </a:solidFill>
                <a:latin typeface="IBM Plex Sans Thai" pitchFamily="34" charset="0"/>
                <a:ea typeface="IBM Plex Sans Thai" pitchFamily="34" charset="-122"/>
                <a:cs typeface="IBM Plex Sans Thai" pitchFamily="34" charset="-120"/>
              </a:rPr>
              <a:t>C · CONTROL · UNIT ECONOMICS &amp; DECISION GATE (L06 P.6, L08 P.77)</a:t>
            </a:r>
            <a:endParaRPr lang="en-US" sz="1200" dirty="0"/>
          </a:p>
        </p:txBody>
      </p:sp>
      <p:sp>
        <p:nvSpPr>
          <p:cNvPr id="3" name="Text 1"/>
          <p:cNvSpPr/>
          <p:nvPr>
            <p:ph type="title"/>
          </p:nvPr>
        </p:nvSpPr>
        <p:spPr>
          <a:xfrm>
            <a:off x="812800" y="1203920"/>
            <a:ext cx="10883392" cy="452107"/>
          </a:xfrm>
          <a:prstGeom prst="rect">
            <a:avLst/>
          </a:prstGeom>
          <a:noFill/>
          <a:ln/>
        </p:spPr>
        <p:txBody>
          <a:bodyPr wrap="square" lIns="0" tIns="0" rIns="0" bIns="0" rtlCol="0" anchor="t">
            <a:normAutofit/>
          </a:bodyPr>
          <a:lstStyle/>
          <a:p>
            <a:pPr algn="l" indent="0" marL="0">
              <a:lnSpc>
                <a:spcPts val="3360"/>
              </a:lnSpc>
              <a:buNone/>
            </a:pPr>
            <a:r>
              <a:rPr lang="en-US" sz="2800" b="1" i="0" dirty="0">
                <a:solidFill>
                  <a:srgbClr val="1F3D2B"/>
                </a:solidFill>
                <a:latin typeface="Noto Serif Thai" pitchFamily="18" charset="0"/>
                <a:ea typeface="Noto Serif Thai" pitchFamily="18" charset="-122"/>
                <a:cs typeface="Noto Serif Thai" pitchFamily="18" charset="-120"/>
              </a:rPr>
              <a:t>คุ้ม แต่ไม่มาก: คุณค่าหลักอยู่ที่ความทรงจำและเวลา</a:t>
            </a:r>
            <a:endParaRPr lang="en-US" sz="2800" dirty="0"/>
          </a:p>
        </p:txBody>
      </p:sp>
      <p:sp>
        <p:nvSpPr>
          <p:cNvPr id="4" name="Shape 2"/>
          <p:cNvSpPr/>
          <p:nvPr/>
        </p:nvSpPr>
        <p:spPr>
          <a:xfrm>
            <a:off x="819150" y="1814779"/>
            <a:ext cx="3416300" cy="1569575"/>
          </a:xfrm>
          <a:prstGeom prst="roundRect">
            <a:avLst>
              <a:gd name="adj" fmla="val 6878"/>
            </a:avLst>
          </a:prstGeom>
          <a:solidFill>
            <a:srgbClr val="FFFDF8"/>
          </a:solidFill>
          <a:ln w="12700">
            <a:solidFill>
              <a:srgbClr val="E4DED2"/>
            </a:solidFill>
            <a:prstDash val="solid"/>
          </a:ln>
        </p:spPr>
      </p:sp>
      <p:sp>
        <p:nvSpPr>
          <p:cNvPr id="5" name="Text 3"/>
          <p:cNvSpPr/>
          <p:nvPr/>
        </p:nvSpPr>
        <p:spPr>
          <a:xfrm>
            <a:off x="1016000" y="1986229"/>
            <a:ext cx="3113278"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3D4A42"/>
                </a:solidFill>
                <a:latin typeface="IBM Plex Sans Thai" pitchFamily="34" charset="0"/>
                <a:ea typeface="IBM Plex Sans Thai" pitchFamily="34" charset="-122"/>
                <a:cs typeface="IBM Plex Sans Thai" pitchFamily="34" charset="-120"/>
              </a:rPr>
              <a:t>ต้นทุน agent / เดือน (สมมติ)</a:t>
            </a:r>
            <a:endParaRPr lang="en-US" sz="1300" dirty="0"/>
          </a:p>
        </p:txBody>
      </p:sp>
      <p:sp>
        <p:nvSpPr>
          <p:cNvPr id="6" name="Text 4"/>
          <p:cNvSpPr/>
          <p:nvPr/>
        </p:nvSpPr>
        <p:spPr>
          <a:xfrm>
            <a:off x="1016000" y="2268141"/>
            <a:ext cx="3113278"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A4532E"/>
                </a:solidFill>
                <a:latin typeface="Noto Serif Thai" pitchFamily="18" charset="0"/>
                <a:ea typeface="Noto Serif Thai" pitchFamily="18" charset="-122"/>
                <a:cs typeface="Noto Serif Thai" pitchFamily="18" charset="-120"/>
              </a:rPr>
              <a:t>1,500–4,000฿</a:t>
            </a:r>
            <a:endParaRPr lang="en-US" sz="3200" dirty="0"/>
          </a:p>
        </p:txBody>
      </p:sp>
      <p:sp>
        <p:nvSpPr>
          <p:cNvPr id="7" name="Text 5"/>
          <p:cNvSpPr/>
          <p:nvPr/>
        </p:nvSpPr>
        <p:spPr>
          <a:xfrm>
            <a:off x="1016000" y="2786261"/>
            <a:ext cx="311327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42"/>
                </a:solidFill>
                <a:latin typeface="IBM Plex Sans Thai" pitchFamily="34" charset="0"/>
                <a:ea typeface="IBM Plex Sans Thai" pitchFamily="34" charset="-122"/>
                <a:cs typeface="IBM Plex Sans Thai" pitchFamily="34" charset="-120"/>
              </a:rPr>
              <a:t>= ขวดเพิ่ม 7–17 ขวด/เดือน (÷ 236฿)</a:t>
            </a:r>
            <a:endParaRPr lang="en-US" sz="1200" dirty="0"/>
          </a:p>
          <a:p>
            <a:pPr algn="l" indent="0" marL="0">
              <a:lnSpc>
                <a:spcPts val="1680"/>
              </a:lnSpc>
              <a:buNone/>
            </a:pPr>
            <a:r>
              <a:rPr lang="en-US" sz="1200" dirty="0">
                <a:solidFill>
                  <a:srgbClr val="3D4A42"/>
                </a:solidFill>
                <a:latin typeface="IBM Plex Sans Thai" pitchFamily="34" charset="0"/>
                <a:ea typeface="IBM Plex Sans Thai" pitchFamily="34" charset="-122"/>
                <a:cs typeface="IBM Plex Sans Thai" pitchFamily="34" charset="-120"/>
              </a:rPr>
              <a:t>≈ 2–6% ของแผนปีแรก 300 ขวด/เดือน</a:t>
            </a:r>
            <a:endParaRPr lang="en-US" sz="1200" dirty="0"/>
          </a:p>
        </p:txBody>
      </p:sp>
      <p:sp>
        <p:nvSpPr>
          <p:cNvPr id="8" name="Shape 6"/>
          <p:cNvSpPr/>
          <p:nvPr/>
        </p:nvSpPr>
        <p:spPr>
          <a:xfrm>
            <a:off x="4400550" y="1814779"/>
            <a:ext cx="3416300" cy="1569575"/>
          </a:xfrm>
          <a:prstGeom prst="roundRect">
            <a:avLst>
              <a:gd name="adj" fmla="val 6878"/>
            </a:avLst>
          </a:prstGeom>
          <a:solidFill>
            <a:srgbClr val="FFFDF8"/>
          </a:solidFill>
          <a:ln w="12700">
            <a:solidFill>
              <a:srgbClr val="E4DED2"/>
            </a:solidFill>
            <a:prstDash val="solid"/>
          </a:ln>
        </p:spPr>
      </p:sp>
      <p:sp>
        <p:nvSpPr>
          <p:cNvPr id="9" name="Text 7"/>
          <p:cNvSpPr/>
          <p:nvPr/>
        </p:nvSpPr>
        <p:spPr>
          <a:xfrm>
            <a:off x="4597400" y="1986229"/>
            <a:ext cx="3113278"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3D4A42"/>
                </a:solidFill>
                <a:latin typeface="IBM Plex Sans Thai" pitchFamily="34" charset="0"/>
                <a:ea typeface="IBM Plex Sans Thai" pitchFamily="34" charset="-122"/>
                <a:cs typeface="IBM Plex Sans Thai" pitchFamily="34" charset="-120"/>
              </a:rPr>
              <a:t>Contribution ที่เพิ่ม / เดือน (สมมติ)</a:t>
            </a:r>
            <a:endParaRPr lang="en-US" sz="1300" dirty="0"/>
          </a:p>
        </p:txBody>
      </p:sp>
      <p:sp>
        <p:nvSpPr>
          <p:cNvPr id="10" name="Text 8"/>
          <p:cNvSpPr/>
          <p:nvPr/>
        </p:nvSpPr>
        <p:spPr>
          <a:xfrm>
            <a:off x="4597400" y="2268141"/>
            <a:ext cx="3113278"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2F5D43"/>
                </a:solidFill>
                <a:latin typeface="Noto Serif Thai" pitchFamily="18" charset="0"/>
                <a:ea typeface="Noto Serif Thai" pitchFamily="18" charset="-122"/>
                <a:cs typeface="Noto Serif Thai" pitchFamily="18" charset="-120"/>
              </a:rPr>
              <a:t>≈ 5,200฿</a:t>
            </a:r>
            <a:endParaRPr lang="en-US" sz="3200" dirty="0"/>
          </a:p>
        </p:txBody>
      </p:sp>
      <p:sp>
        <p:nvSpPr>
          <p:cNvPr id="11" name="Text 9"/>
          <p:cNvSpPr/>
          <p:nvPr/>
        </p:nvSpPr>
        <p:spPr>
          <a:xfrm>
            <a:off x="4597400" y="2786261"/>
            <a:ext cx="311327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42"/>
                </a:solidFill>
                <a:latin typeface="IBM Plex Sans Thai" pitchFamily="34" charset="0"/>
                <a:ea typeface="IBM Plex Sans Thai" pitchFamily="34" charset="-122"/>
                <a:cs typeface="IBM Plex Sans Thai" pitchFamily="34" charset="-120"/>
              </a:rPr>
              <a:t>C2 10→15%: +10 ขวด (2,360฿)</a:t>
            </a:r>
            <a:endParaRPr lang="en-US" sz="1200" dirty="0"/>
          </a:p>
          <a:p>
            <a:pPr algn="l" indent="0" marL="0">
              <a:lnSpc>
                <a:spcPts val="1680"/>
              </a:lnSpc>
              <a:buNone/>
            </a:pPr>
            <a:r>
              <a:rPr lang="en-US" sz="1200" dirty="0">
                <a:solidFill>
                  <a:srgbClr val="3D4A42"/>
                </a:solidFill>
                <a:latin typeface="IBM Plex Sans Thai" pitchFamily="34" charset="0"/>
                <a:ea typeface="IBM Plex Sans Thai" pitchFamily="34" charset="-122"/>
                <a:cs typeface="IBM Plex Sans Thai" pitchFamily="34" charset="-120"/>
              </a:rPr>
              <a:t>F2 +5 จุด: +12 ขวด (2,832฿)</a:t>
            </a:r>
            <a:endParaRPr lang="en-US" sz="1200" dirty="0"/>
          </a:p>
        </p:txBody>
      </p:sp>
      <p:sp>
        <p:nvSpPr>
          <p:cNvPr id="12" name="Shape 10"/>
          <p:cNvSpPr/>
          <p:nvPr/>
        </p:nvSpPr>
        <p:spPr>
          <a:xfrm>
            <a:off x="7975600" y="1808429"/>
            <a:ext cx="3403600" cy="1582275"/>
          </a:xfrm>
          <a:prstGeom prst="roundRect">
            <a:avLst>
              <a:gd name="adj" fmla="val 7224"/>
            </a:avLst>
          </a:prstGeom>
          <a:solidFill>
            <a:srgbClr val="1F3D2B"/>
          </a:solidFill>
          <a:ln/>
        </p:spPr>
      </p:sp>
      <p:sp>
        <p:nvSpPr>
          <p:cNvPr id="13" name="Text 11"/>
          <p:cNvSpPr/>
          <p:nvPr/>
        </p:nvSpPr>
        <p:spPr>
          <a:xfrm>
            <a:off x="8166100" y="1973529"/>
            <a:ext cx="3113278"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E8A07A"/>
                </a:solidFill>
                <a:latin typeface="IBM Plex Sans Thai" pitchFamily="34" charset="0"/>
                <a:ea typeface="IBM Plex Sans Thai" pitchFamily="34" charset="-122"/>
                <a:cs typeface="IBM Plex Sans Thai" pitchFamily="34" charset="-120"/>
              </a:rPr>
              <a:t>มูลค่าแฝง</a:t>
            </a:r>
            <a:endParaRPr lang="en-US" sz="1300" dirty="0"/>
          </a:p>
        </p:txBody>
      </p:sp>
      <p:sp>
        <p:nvSpPr>
          <p:cNvPr id="14" name="Text 12"/>
          <p:cNvSpPr/>
          <p:nvPr/>
        </p:nvSpPr>
        <p:spPr>
          <a:xfrm>
            <a:off x="8166100" y="2255441"/>
            <a:ext cx="3113278"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F7F4EC"/>
                </a:solidFill>
                <a:latin typeface="Noto Serif Thai" pitchFamily="18" charset="0"/>
                <a:ea typeface="Noto Serif Thai" pitchFamily="18" charset="-122"/>
                <a:cs typeface="Noto Serif Thai" pitchFamily="18" charset="-120"/>
              </a:rPr>
              <a:t>≈ 30 ชม.</a:t>
            </a:r>
            <a:endParaRPr lang="en-US" sz="3200" dirty="0"/>
          </a:p>
        </p:txBody>
      </p:sp>
      <p:sp>
        <p:nvSpPr>
          <p:cNvPr id="15" name="Text 13"/>
          <p:cNvSpPr/>
          <p:nvPr/>
        </p:nvSpPr>
        <p:spPr>
          <a:xfrm>
            <a:off x="8166100" y="2773561"/>
            <a:ext cx="311327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9E3DA"/>
                </a:solidFill>
                <a:latin typeface="IBM Plex Sans Thai" pitchFamily="34" charset="0"/>
                <a:ea typeface="IBM Plex Sans Thai" pitchFamily="34" charset="-122"/>
                <a:cs typeface="IBM Plex Sans Thai" pitchFamily="34" charset="-120"/>
              </a:rPr>
              <a:t>เวลาทีม part-time ต่อเดือน</a:t>
            </a:r>
            <a:endParaRPr lang="en-US" sz="1200" dirty="0"/>
          </a:p>
          <a:p>
            <a:pPr algn="l" indent="0" marL="0">
              <a:lnSpc>
                <a:spcPts val="1680"/>
              </a:lnSpc>
              <a:buNone/>
            </a:pPr>
            <a:r>
              <a:rPr lang="en-US" sz="1200" dirty="0">
                <a:solidFill>
                  <a:srgbClr val="D9E3DA"/>
                </a:solidFill>
                <a:latin typeface="IBM Plex Sans Thai" pitchFamily="34" charset="0"/>
                <a:ea typeface="IBM Plex Sans Thai" pitchFamily="34" charset="-122"/>
                <a:cs typeface="IBM Plex Sans Thai" pitchFamily="34" charset="-120"/>
              </a:rPr>
              <a:t>(≈ 6,000฿ ที่ 200฿/ชม.)</a:t>
            </a:r>
            <a:endParaRPr lang="en-US" sz="1200" dirty="0"/>
          </a:p>
        </p:txBody>
      </p:sp>
      <p:sp>
        <p:nvSpPr>
          <p:cNvPr id="16" name="Text 14"/>
          <p:cNvSpPr/>
          <p:nvPr/>
        </p:nvSpPr>
        <p:spPr>
          <a:xfrm>
            <a:off x="812800" y="3568502"/>
            <a:ext cx="10883392" cy="255588"/>
          </a:xfrm>
          <a:prstGeom prst="rect">
            <a:avLst/>
          </a:prstGeom>
          <a:noFill/>
          <a:ln/>
        </p:spPr>
        <p:txBody>
          <a:bodyPr wrap="square" lIns="0" tIns="0" rIns="0" bIns="0" rtlCol="0" anchor="t">
            <a:normAutofit/>
          </a:bodyPr>
          <a:lstStyle/>
          <a:p>
            <a:pPr algn="l" indent="0" marL="0">
              <a:lnSpc>
                <a:spcPts val="1813"/>
              </a:lnSpc>
              <a:buNone/>
            </a:pPr>
            <a:r>
              <a:rPr lang="en-US" sz="1250" b="1" dirty="0">
                <a:solidFill>
                  <a:srgbClr val="1F3D2B"/>
                </a:solidFill>
                <a:latin typeface="IBM Plex Sans Thai" pitchFamily="34" charset="0"/>
                <a:ea typeface="IBM Plex Sans Thai" pitchFamily="34" charset="-122"/>
                <a:cs typeface="IBM Plex Sans Thai" pitchFamily="34" charset="-120"/>
              </a:rPr>
              <a:t>CLV vs CAC (สมมติ):</a:t>
            </a:r>
            <a:r>
              <a:rPr lang="en-US" sz="1250" dirty="0">
                <a:solidFill>
                  <a:srgbClr val="3D4A42"/>
                </a:solidFill>
                <a:latin typeface="IBM Plex Sans Thai" pitchFamily="34" charset="0"/>
                <a:ea typeface="IBM Plex Sans Thai" pitchFamily="34" charset="-122"/>
                <a:cs typeface="IBM Plex Sans Thai" pitchFamily="34" charset="-120"/>
              </a:rPr>
              <a:t> CAC ≈ 140฿ · CLV ≈ 514฿ → 3.7× ผ่านเกณฑ์ 3× แบบเฉียด · ขวดซ้ำเพิ่มทุก 0.25 ขวดต่อลูกค้า เพิ่ม CLV ~59฿ → </a:t>
            </a:r>
            <a:r>
              <a:rPr lang="en-US" sz="1250" b="1" dirty="0">
                <a:solidFill>
                  <a:srgbClr val="3D4A42"/>
                </a:solidFill>
                <a:latin typeface="IBM Plex Sans Thai" pitchFamily="34" charset="0"/>
                <a:ea typeface="IBM Plex Sans Thai" pitchFamily="34" charset="-122"/>
                <a:cs typeface="IBM Plex Sans Thai" pitchFamily="34" charset="-120"/>
              </a:rPr>
              <a:t>F2 คือคันโยกหลัก</a:t>
            </a:r>
            <a:endParaRPr lang="en-US" sz="1250" dirty="0"/>
          </a:p>
        </p:txBody>
      </p:sp>
      <p:sp>
        <p:nvSpPr>
          <p:cNvPr id="17" name="Text 15"/>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F68"/>
                </a:solidFill>
                <a:latin typeface="IBM Plex Sans Thai" pitchFamily="34" charset="0"/>
                <a:ea typeface="IBM Plex Sans Thai" pitchFamily="34" charset="-122"/>
                <a:cs typeface="IBM Plex Sans Thai" pitchFamily="34" charset="-120"/>
              </a:rPr>
              <a:t>BIS609 · contribution 236฿/ขวด และ labour 200฿/ชม. จาก BIS608 · ต้นทุน agent และ uplift เป็นสมมติฐาน</a:t>
            </a:r>
            <a:endParaRPr lang="en-US" sz="1200" dirty="0"/>
          </a:p>
        </p:txBody>
      </p:sp>
      <p:sp>
        <p:nvSpPr>
          <p:cNvPr id="18" name="Text 16"/>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F68"/>
                </a:solidFill>
                <a:latin typeface="IBM Plex Sans Thai" pitchFamily="34" charset="0"/>
                <a:ea typeface="IBM Plex Sans Thai" pitchFamily="34" charset="-122"/>
                <a:cs typeface="IBM Plex Sans Thai" pitchFamily="34" charset="-120"/>
              </a:rPr>
              <a:t>15 / 16</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F3D2B"/>
        </a:solidFill>
      </p:bgPr>
    </p:bg>
    <p:spTree>
      <p:nvGrpSpPr>
        <p:cNvPr id="1" name=""/>
        <p:cNvGrpSpPr/>
        <p:nvPr/>
      </p:nvGrpSpPr>
      <p:grpSpPr>
        <a:xfrm>
          <a:off x="0" y="0"/>
          <a:ext cx="0" cy="0"/>
          <a:chOff x="0" y="0"/>
          <a:chExt cx="0" cy="0"/>
        </a:xfrm>
      </p:grpSpPr>
      <p:sp>
        <p:nvSpPr>
          <p:cNvPr id="2" name="Shape 0"/>
          <p:cNvSpPr/>
          <p:nvPr/>
        </p:nvSpPr>
        <p:spPr>
          <a:xfrm>
            <a:off x="8255000" y="254000"/>
            <a:ext cx="3937000" cy="3937000"/>
          </a:xfrm>
          <a:prstGeom prst="rect">
            <a:avLst/>
          </a:prstGeom>
          <a:gradFill rotWithShape="1">
            <a:gsLst>
              <a:gs pos="0">
                <a:srgbClr val="E8A07A">
                  <a:alpha val="35000"/>
                </a:srgbClr>
              </a:gs>
              <a:gs pos="70000">
                <a:srgbClr val="E8A07A">
                  <a:alpha val="0"/>
                </a:srgbClr>
              </a:gs>
            </a:gsLst>
            <a:path path="circle">
              <a:fillToRect l="50000" t="50000" r="50000" b="50000"/>
            </a:path>
          </a:gradFill>
          <a:ln/>
        </p:spPr>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8A07A"/>
                </a:solidFill>
                <a:latin typeface="IBM Plex Sans Thai" pitchFamily="34" charset="0"/>
                <a:ea typeface="IBM Plex Sans Thai" pitchFamily="34" charset="-122"/>
                <a:cs typeface="IBM Plex Sans Thai" pitchFamily="34" charset="-120"/>
              </a:rPr>
              <a:t>บทสรุปและข้อเสนอแนะ</a:t>
            </a:r>
            <a:endParaRPr lang="en-US" sz="1200" dirty="0"/>
          </a:p>
        </p:txBody>
      </p:sp>
      <p:sp>
        <p:nvSpPr>
          <p:cNvPr id="4" name="Text 2"/>
          <p:cNvSpPr/>
          <p:nvPr>
            <p:ph type="title"/>
          </p:nvPr>
        </p:nvSpPr>
        <p:spPr>
          <a:xfrm>
            <a:off x="812800" y="1216620"/>
            <a:ext cx="9810750" cy="914400"/>
          </a:xfrm>
          <a:prstGeom prst="rect">
            <a:avLst/>
          </a:prstGeom>
          <a:noFill/>
          <a:ln/>
        </p:spPr>
        <p:txBody>
          <a:bodyPr wrap="square" lIns="0" tIns="0" rIns="0" bIns="0" rtlCol="0" anchor="t">
            <a:normAutofit/>
          </a:bodyPr>
          <a:lstStyle/>
          <a:p>
            <a:pPr algn="l" indent="0" marL="0">
              <a:lnSpc>
                <a:spcPts val="3500"/>
              </a:lnSpc>
              <a:buNone/>
            </a:pPr>
            <a:r>
              <a:rPr lang="en-US" sz="2800" b="1" i="0" dirty="0">
                <a:solidFill>
                  <a:srgbClr val="F7F4EC"/>
                </a:solidFill>
                <a:latin typeface="Noto Serif Thai" pitchFamily="18" charset="0"/>
                <a:ea typeface="Noto Serif Thai" pitchFamily="18" charset="-122"/>
                <a:cs typeface="Noto Serif Thai" pitchFamily="18" charset="-120"/>
              </a:rPr>
              <a:t>ออกแบบ agent จากช่องว่างเชิงกลยุทธ์ ไม่ใช่จากความสามารถของเทคโนโลยี</a:t>
            </a:r>
            <a:endParaRPr lang="en-US" sz="2800" dirty="0"/>
          </a:p>
        </p:txBody>
      </p:sp>
      <p:sp>
        <p:nvSpPr>
          <p:cNvPr id="5" name="Shape 3"/>
          <p:cNvSpPr/>
          <p:nvPr/>
        </p:nvSpPr>
        <p:spPr>
          <a:xfrm>
            <a:off x="812800" y="2305645"/>
            <a:ext cx="5207000" cy="0"/>
          </a:xfrm>
          <a:prstGeom prst="line">
            <a:avLst/>
          </a:prstGeom>
          <a:noFill/>
          <a:ln w="19050">
            <a:solidFill>
              <a:srgbClr val="8FB39A"/>
            </a:solidFill>
            <a:prstDash val="solid"/>
          </a:ln>
        </p:spPr>
      </p:sp>
      <p:sp>
        <p:nvSpPr>
          <p:cNvPr id="6" name="Text 4"/>
          <p:cNvSpPr/>
          <p:nvPr/>
        </p:nvSpPr>
        <p:spPr>
          <a:xfrm>
            <a:off x="812800" y="2401954"/>
            <a:ext cx="5363210"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E8A07A"/>
                </a:solidFill>
                <a:latin typeface="IBM Plex Sans Thai" pitchFamily="34" charset="0"/>
                <a:ea typeface="IBM Plex Sans Thai" pitchFamily="34" charset="-122"/>
                <a:cs typeface="IBM Plex Sans Thai" pitchFamily="34" charset="-120"/>
              </a:rPr>
              <a:t>1</a:t>
            </a:r>
            <a:r>
              <a:rPr lang="en-US" sz="1300" dirty="0">
                <a:solidFill>
                  <a:srgbClr val="F7F4EC"/>
                </a:solidFill>
                <a:latin typeface="IBM Plex Sans Thai" pitchFamily="34" charset="0"/>
                <a:ea typeface="IBM Plex Sans Thai" pitchFamily="34" charset="-122"/>
                <a:cs typeface="IBM Plex Sans Thai" pitchFamily="34" charset="-120"/>
              </a:rPr>
              <a:t> ทำ customer list บน LINE OA ตั้งแต่วันนี้ แม้ยังไม่มี AI</a:t>
            </a:r>
            <a:endParaRPr lang="en-US" sz="1300" dirty="0"/>
          </a:p>
        </p:txBody>
      </p:sp>
      <p:sp>
        <p:nvSpPr>
          <p:cNvPr id="7" name="Shape 5"/>
          <p:cNvSpPr/>
          <p:nvPr/>
        </p:nvSpPr>
        <p:spPr>
          <a:xfrm>
            <a:off x="6172200" y="2305645"/>
            <a:ext cx="5207000" cy="0"/>
          </a:xfrm>
          <a:prstGeom prst="line">
            <a:avLst/>
          </a:prstGeom>
          <a:noFill/>
          <a:ln w="19050">
            <a:solidFill>
              <a:srgbClr val="8FB39A"/>
            </a:solidFill>
            <a:prstDash val="solid"/>
          </a:ln>
        </p:spPr>
      </p:sp>
      <p:sp>
        <p:nvSpPr>
          <p:cNvPr id="8" name="Text 6"/>
          <p:cNvSpPr/>
          <p:nvPr/>
        </p:nvSpPr>
        <p:spPr>
          <a:xfrm>
            <a:off x="6172200" y="2401954"/>
            <a:ext cx="5363210"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E8A07A"/>
                </a:solidFill>
                <a:latin typeface="IBM Plex Sans Thai" pitchFamily="34" charset="0"/>
                <a:ea typeface="IBM Plex Sans Thai" pitchFamily="34" charset="-122"/>
                <a:cs typeface="IBM Plex Sans Thai" pitchFamily="34" charset="-120"/>
              </a:rPr>
              <a:t>2</a:t>
            </a:r>
            <a:r>
              <a:rPr lang="en-US" sz="1300" dirty="0">
                <a:solidFill>
                  <a:srgbClr val="F7F4EC"/>
                </a:solidFill>
                <a:latin typeface="IBM Plex Sans Thai" pitchFamily="34" charset="0"/>
                <a:ea typeface="IBM Plex Sans Thai" pitchFamily="34" charset="-122"/>
                <a:cs typeface="IBM Plex Sans Thai" pitchFamily="34" charset="-120"/>
              </a:rPr>
              <a:t> QR ที่บูธทุกงาน: "บัตรกลิ่นดิจิทัล"</a:t>
            </a:r>
            <a:endParaRPr lang="en-US" sz="1300" dirty="0"/>
          </a:p>
        </p:txBody>
      </p:sp>
      <p:sp>
        <p:nvSpPr>
          <p:cNvPr id="9" name="Shape 7"/>
          <p:cNvSpPr/>
          <p:nvPr/>
        </p:nvSpPr>
        <p:spPr>
          <a:xfrm>
            <a:off x="812800" y="2794992"/>
            <a:ext cx="5207000" cy="0"/>
          </a:xfrm>
          <a:prstGeom prst="line">
            <a:avLst/>
          </a:prstGeom>
          <a:noFill/>
          <a:ln w="19050">
            <a:solidFill>
              <a:srgbClr val="8FB39A"/>
            </a:solidFill>
            <a:prstDash val="solid"/>
          </a:ln>
        </p:spPr>
      </p:sp>
      <p:sp>
        <p:nvSpPr>
          <p:cNvPr id="10" name="Text 8"/>
          <p:cNvSpPr/>
          <p:nvPr/>
        </p:nvSpPr>
        <p:spPr>
          <a:xfrm>
            <a:off x="812800" y="2891301"/>
            <a:ext cx="5363210"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E8A07A"/>
                </a:solidFill>
                <a:latin typeface="IBM Plex Sans Thai" pitchFamily="34" charset="0"/>
                <a:ea typeface="IBM Plex Sans Thai" pitchFamily="34" charset="-122"/>
                <a:cs typeface="IBM Plex Sans Thai" pitchFamily="34" charset="-120"/>
              </a:rPr>
              <a:t>3</a:t>
            </a:r>
            <a:r>
              <a:rPr lang="en-US" sz="1300" dirty="0">
                <a:solidFill>
                  <a:srgbClr val="F7F4EC"/>
                </a:solidFill>
                <a:latin typeface="IBM Plex Sans Thai" pitchFamily="34" charset="0"/>
                <a:ea typeface="IBM Plex Sans Thai" pitchFamily="34" charset="-122"/>
                <a:cs typeface="IBM Plex Sans Thai" pitchFamily="34" charset="-120"/>
              </a:rPr>
              <a:t> เขียน knowledge base ภาษาไทยก่อนเลือกเครื่องมือ</a:t>
            </a:r>
            <a:endParaRPr lang="en-US" sz="1300" dirty="0"/>
          </a:p>
        </p:txBody>
      </p:sp>
      <p:sp>
        <p:nvSpPr>
          <p:cNvPr id="11" name="Shape 9"/>
          <p:cNvSpPr/>
          <p:nvPr/>
        </p:nvSpPr>
        <p:spPr>
          <a:xfrm>
            <a:off x="6172200" y="2794992"/>
            <a:ext cx="5207000" cy="0"/>
          </a:xfrm>
          <a:prstGeom prst="line">
            <a:avLst/>
          </a:prstGeom>
          <a:noFill/>
          <a:ln w="19050">
            <a:solidFill>
              <a:srgbClr val="8FB39A"/>
            </a:solidFill>
            <a:prstDash val="solid"/>
          </a:ln>
        </p:spPr>
      </p:sp>
      <p:sp>
        <p:nvSpPr>
          <p:cNvPr id="12" name="Text 10"/>
          <p:cNvSpPr/>
          <p:nvPr/>
        </p:nvSpPr>
        <p:spPr>
          <a:xfrm>
            <a:off x="6172200" y="2891301"/>
            <a:ext cx="5363210"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E8A07A"/>
                </a:solidFill>
                <a:latin typeface="IBM Plex Sans Thai" pitchFamily="34" charset="0"/>
                <a:ea typeface="IBM Plex Sans Thai" pitchFamily="34" charset="-122"/>
                <a:cs typeface="IBM Plex Sans Thai" pitchFamily="34" charset="-120"/>
              </a:rPr>
              <a:t>4</a:t>
            </a:r>
            <a:r>
              <a:rPr lang="en-US" sz="1300" dirty="0">
                <a:solidFill>
                  <a:srgbClr val="F7F4EC"/>
                </a:solidFill>
                <a:latin typeface="IBM Plex Sans Thai" pitchFamily="34" charset="0"/>
                <a:ea typeface="IBM Plex Sans Thai" pitchFamily="34" charset="-122"/>
                <a:cs typeface="IBM Plex Sans Thai" pitchFamily="34" charset="-120"/>
              </a:rPr>
              <a:t> เริ่ม rule-based แล้วค่อยเป็น agentic ตาม gate C2, F2</a:t>
            </a:r>
            <a:endParaRPr lang="en-US" sz="1300" dirty="0"/>
          </a:p>
        </p:txBody>
      </p:sp>
      <p:sp>
        <p:nvSpPr>
          <p:cNvPr id="13" name="Shape 11"/>
          <p:cNvSpPr/>
          <p:nvPr/>
        </p:nvSpPr>
        <p:spPr>
          <a:xfrm>
            <a:off x="812800" y="3284339"/>
            <a:ext cx="5207000" cy="0"/>
          </a:xfrm>
          <a:prstGeom prst="line">
            <a:avLst/>
          </a:prstGeom>
          <a:noFill/>
          <a:ln w="19050">
            <a:solidFill>
              <a:srgbClr val="8FB39A"/>
            </a:solidFill>
            <a:prstDash val="solid"/>
          </a:ln>
        </p:spPr>
      </p:sp>
      <p:sp>
        <p:nvSpPr>
          <p:cNvPr id="14" name="Text 12"/>
          <p:cNvSpPr/>
          <p:nvPr/>
        </p:nvSpPr>
        <p:spPr>
          <a:xfrm>
            <a:off x="812800" y="3380647"/>
            <a:ext cx="5363210"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E8A07A"/>
                </a:solidFill>
                <a:latin typeface="IBM Plex Sans Thai" pitchFamily="34" charset="0"/>
                <a:ea typeface="IBM Plex Sans Thai" pitchFamily="34" charset="-122"/>
                <a:cs typeface="IBM Plex Sans Thai" pitchFamily="34" charset="-120"/>
              </a:rPr>
              <a:t>5</a:t>
            </a:r>
            <a:r>
              <a:rPr lang="en-US" sz="1300" dirty="0">
                <a:solidFill>
                  <a:srgbClr val="F7F4EC"/>
                </a:solidFill>
                <a:latin typeface="IBM Plex Sans Thai" pitchFamily="34" charset="0"/>
                <a:ea typeface="IBM Plex Sans Thai" pitchFamily="34" charset="-122"/>
                <a:cs typeface="IBM Plex Sans Thai" pitchFamily="34" charset="-120"/>
              </a:rPr>
              <a:t> ใช้ Honesty เป็นอาวุธในการแข่งขัน</a:t>
            </a:r>
            <a:endParaRPr lang="en-US" sz="1300" dirty="0"/>
          </a:p>
        </p:txBody>
      </p:sp>
      <p:sp>
        <p:nvSpPr>
          <p:cNvPr id="15" name="Shape 13"/>
          <p:cNvSpPr/>
          <p:nvPr/>
        </p:nvSpPr>
        <p:spPr>
          <a:xfrm>
            <a:off x="6172200" y="3284339"/>
            <a:ext cx="5207000" cy="0"/>
          </a:xfrm>
          <a:prstGeom prst="line">
            <a:avLst/>
          </a:prstGeom>
          <a:noFill/>
          <a:ln w="19050">
            <a:solidFill>
              <a:srgbClr val="8FB39A"/>
            </a:solidFill>
            <a:prstDash val="solid"/>
          </a:ln>
        </p:spPr>
      </p:sp>
      <p:sp>
        <p:nvSpPr>
          <p:cNvPr id="16" name="Text 14"/>
          <p:cNvSpPr/>
          <p:nvPr/>
        </p:nvSpPr>
        <p:spPr>
          <a:xfrm>
            <a:off x="6172200" y="3380647"/>
            <a:ext cx="5363210"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E8A07A"/>
                </a:solidFill>
                <a:latin typeface="IBM Plex Sans Thai" pitchFamily="34" charset="0"/>
                <a:ea typeface="IBM Plex Sans Thai" pitchFamily="34" charset="-122"/>
                <a:cs typeface="IBM Plex Sans Thai" pitchFamily="34" charset="-120"/>
              </a:rPr>
              <a:t>6</a:t>
            </a:r>
            <a:r>
              <a:rPr lang="en-US" sz="1300" dirty="0">
                <a:solidFill>
                  <a:srgbClr val="F7F4EC"/>
                </a:solidFill>
                <a:latin typeface="IBM Plex Sans Thai" pitchFamily="34" charset="0"/>
                <a:ea typeface="IBM Plex Sans Thai" pitchFamily="34" charset="-122"/>
                <a:cs typeface="IBM Plex Sans Thai" pitchFamily="34" charset="-120"/>
              </a:rPr>
              <a:t> ห้ามขายก่อนจดแจ้ง อย. และขอ consent ตาม PDPA</a:t>
            </a:r>
            <a:endParaRPr lang="en-US" sz="1300" dirty="0"/>
          </a:p>
        </p:txBody>
      </p:sp>
      <p:sp>
        <p:nvSpPr>
          <p:cNvPr id="17" name="Text 15"/>
          <p:cNvSpPr/>
          <p:nvPr/>
        </p:nvSpPr>
        <p:spPr>
          <a:xfrm>
            <a:off x="812800" y="3802261"/>
            <a:ext cx="10883392" cy="381000"/>
          </a:xfrm>
          <a:prstGeom prst="rect">
            <a:avLst/>
          </a:prstGeom>
          <a:noFill/>
          <a:ln/>
        </p:spPr>
        <p:txBody>
          <a:bodyPr wrap="square" lIns="0" tIns="0" rIns="0" bIns="0" rtlCol="0" anchor="t">
            <a:normAutofit/>
          </a:bodyPr>
          <a:lstStyle/>
          <a:p>
            <a:pPr algn="l" indent="0" marL="0">
              <a:lnSpc>
                <a:spcPts val="2800"/>
              </a:lnSpc>
              <a:buNone/>
            </a:pPr>
            <a:r>
              <a:rPr lang="en-US" sz="2000" i="1" dirty="0">
                <a:solidFill>
                  <a:srgbClr val="E8A07A"/>
                </a:solidFill>
                <a:latin typeface="Noto Serif Thai" pitchFamily="18" charset="0"/>
                <a:ea typeface="Noto Serif Thai" pitchFamily="18" charset="-122"/>
                <a:cs typeface="Noto Serif Thai" pitchFamily="18" charset="-120"/>
              </a:rPr>
              <a:t>ขอบคุณครับ/ค่ะ · Q&amp;A</a:t>
            </a:r>
            <a:endParaRPr lang="en-US" sz="2000" dirty="0"/>
          </a:p>
        </p:txBody>
      </p:sp>
      <p:sp>
        <p:nvSpPr>
          <p:cNvPr id="18" name="Text 16"/>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596"/>
                </a:solidFill>
                <a:latin typeface="IBM Plex Sans Thai" pitchFamily="34" charset="0"/>
                <a:ea typeface="IBM Plex Sans Thai" pitchFamily="34" charset="-122"/>
                <a:cs typeface="IBM Plex Sans Thai" pitchFamily="34" charset="-120"/>
              </a:rPr>
              <a:t>BIS609 · BitterSweet × Agentic AI on LINE OA</a:t>
            </a:r>
            <a:endParaRPr lang="en-US" sz="1200" dirty="0"/>
          </a:p>
        </p:txBody>
      </p:sp>
      <p:sp>
        <p:nvSpPr>
          <p:cNvPr id="19" name="Text 17"/>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FA596"/>
                </a:solidFill>
                <a:latin typeface="IBM Plex Sans Thai" pitchFamily="34" charset="0"/>
                <a:ea typeface="IBM Plex Sans Thai" pitchFamily="34" charset="-122"/>
                <a:cs typeface="IBM Plex Sans Thai" pitchFamily="34" charset="-120"/>
              </a:rPr>
              <a:t>16 / 16</a:t>
            </a:r>
            <a:endParaRPr lang="en-US" sz="1200" dirty="0"/>
          </a:p>
        </p:txBody>
      </p:sp>
    </p:spTree>
  </p:cSld>
  <p:clrMapOvr>
    <a:masterClrMapping/>
  </p:clrMapOvr>
</p:sld>
</file>

<file path=ppt/theme/theme1.xml><?xml version="1.0" encoding="utf-8"?>
<a:theme xmlns:a="http://schemas.openxmlformats.org/drawingml/2006/main" name="BitterSweet × Agentic AI on LINE OA">
  <a:themeElements>
    <a:clrScheme name="BitterSweet × Agentic AI on LINE OA">
      <a:dk1>
        <a:srgbClr val="1F3D2B"/>
      </a:dk1>
      <a:lt1>
        <a:srgbClr val="F7F4EC"/>
      </a:lt1>
      <a:dk2>
        <a:srgbClr val="556B5B"/>
      </a:dk2>
      <a:lt2>
        <a:srgbClr val="E1E2D9"/>
      </a:lt2>
      <a:accent1>
        <a:srgbClr val="2F5D43"/>
      </a:accent1>
      <a:accent2>
        <a:srgbClr val="A4532E"/>
      </a:accent2>
      <a:accent3>
        <a:srgbClr val="E8A07A"/>
      </a:accent3>
      <a:accent4>
        <a:srgbClr val="8A3F1F"/>
      </a:accent4>
      <a:accent5>
        <a:srgbClr val="F3DCCB"/>
      </a:accent5>
      <a:accent6>
        <a:srgbClr val="2F6E9E"/>
      </a:accent6>
      <a:hlink>
        <a:srgbClr val="0563C1"/>
      </a:hlink>
      <a:folHlink>
        <a:srgbClr val="954F72"/>
      </a:folHlink>
    </a:clrScheme>
    <a:fontScheme name="BitterSweet × Agentic AI on LINE OA">
      <a:majorFont>
        <a:latin typeface="Noto Serif Tha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Tha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BitterSweet × Agentic AI on LINE OA</dc:title>
  <dc:subject/>
  <dc:creator/>
  <cp:lastModifiedBy/>
  <cp:revision>1</cp:revision>
  <dcterms:created xsi:type="dcterms:W3CDTF">2026-10-08T14:44:07Z</dcterms:created>
  <dcterms:modified xsi:type="dcterms:W3CDTF">2026-10-08T14:44:07Z</dcterms:modified>
</cp:coreProperties>
</file>