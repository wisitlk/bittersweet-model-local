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สวัสดีครับ/ค่ะ วันนี้จะนำเสนอการวิเคราะห์หัวข้อ Agentic AI Chatbot บน LINE OA ที่ใช้ LLMs เพื่อ automate งานขายและ CRM สำหรับธุรกิจไทย โดยวิเคราะห์ตามหลัก digital marketing จากเอกสาร BIS609 สามบท คือ L06 Functional Strategies, L07 Introduction to Marketing และ L08 Introduction to Digital Marketing และใช้ SOSTAC เป็นโครงหลักของการนำเสนอ ใช้เวลาประมาณ 15 นาทีครับ/ค่ะ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[0:20–1:20 · 60 วินาที] เริ่มจากคำถามว่าทำไมต้องเป็น LINE OA ตัวเลขแรกมาจาก L08 สไลด์ที่ 26 คือคนไทยที่ใช้ social media ใช้ LINE ถึง 92.8% เป็นอันดับสองรองจาก Facebook ตัวเลขที่สอง LINE ประเทศไทยรายงานผู้ใช้ประมาณ 56 ล้านคนต่อเดือน และมีบทสนทนาผ่าน LINE OA กว่าหนึ่งหมื่นสองพันล้านครั้งในปี 2025 ตัวเลขที่สาม chat commerce หรือการซื้อขายผ่านแชต คาดว่าจะโตจาก 4.6 แสนล้านเป็น 1.14 ล้านล้านบาทในปี 2028 ประเด็นสำคัญคือพฤติกรรมคนไทยชอบทักแชตถามก่อนซื้อ และ L08 เองก็บอกว่ายุคปัจจุบันของ digital marketing คือ AI และ Automation โดยจัดให้ chatbot เป็นเครื่องมือของขั้น Action ใน AIDA funnel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[1:20–2:10 · 50 วินาที] ก่อนวิเคราะห์ต้องนิยามให้ชัดว่า Agentic AI ต่างจาก chatbot ทั่วไปอย่างไร chatbot แบบ rule-based ตอบตาม keyword หรือปุ่ม LLM chatbot เข้าใจภาษาไทยแบบธรรมชาติแต่ยังทำได้แค่ตอบ ส่วน Agentic AI มีสี่ความสามารถ คือ Perceive เข้าใจความต้องการ Plan วางแผนหลายขั้น Act เรียกใช้เครื่องมือ เช่น เช็กสต็อก สร้างออร์เดอร์ ส่ง QR PromptPay และ Memory จำลูกค้าผ่าน CRM ผลคือ agent ทำงานได้ครบทุกขั้นของ funnel และอัปเดต CRM ได้เองแบบ real-time ซึ่งเป็นจุดที่เปลี่ยนเกมการตลาด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[2:10–2:55 · 45 วินาที] โครงของการวิเคราะห์ใช้ SOSTAC ของ PR Smith จาก L07 คือ Situation, Objectives, Strategy, Tactics, Actions และ Control ในแต่ละขั้นดึงเครื่องมือจากสามบทมาใช้ เช่น Situation ใช้ PESTEL, 5Cs, competitor matrix และ SWOT/TOWS ส่วน Strategy ใช้ STP, segment evaluation matrix, positioning และ value proposition ส่วน Tactics ใช้ 4Ps คู่ 4Cs และเครื่องมือ AIDA จาก L08 ส่วน Actions และ Control ใช้ cross-functional integration, NPV/payback จาก L06 และ CLV เทียบ CAC จาก 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[2:55–3:35 · 40 วินาที] จาก L06 เรื่อง Strategy Hierarchy การนำ AI มาใช้ต้องไล่จากบนลงล่าง ไม่ใช่เริ่มจากเทคโนโลยี ระดับ Corporate คือเติบโตเป็นแบรนด์ D2C ด้วยประสบการณ์ลูกค้าแบบ personal ระดับ Business คือ Differentiation แทนการแข่งราคา ระดับ Functional คือหลายฝ่ายต้องทำงานร่วมกันผ่าน agent และสุดท้ายคือ Action Plans ที่มีเจ้าของ งบ timeline และ KPI สิ่งที่ต้องระวังคือ alignment สองแบบ แนวตั้งคือ KPI ของ agent ต้องโยงถึงเป้าธุรกิจ แนวนอนคือต้องไม่เกิด silo เช่น marketing ให้ agent โปรโมตสินค้าที่ operations ไม่มีสต็อก L06 สไลด์ 8 ยังบอกว่าเทคโนโลยีในยุคนี้เป็น strategic driver ไม่ใช่แค่ support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[3:35–4:25 · 50 วินาที] เข้าสู่ขั้น S คือ Situation ใช้ PESTEL ซึ่งใน L07 คือมิติ Climate ของ 5Cs ด้าน Political รัฐส่งเสริม digital economy ด้าน Economic ต้นทุนแอดมินและค่าโฆษณาสูงขึ้น แต่ chat commerce โตเกือบ 20% ต่อปี ด้าน Social คนไทยชอบคุยก่อนซื้อและคาดหวังคำตอบทันที ด้าน Technological LLM เข้าใจภาษาไทยดีขึ้นและถูกลง ส่วนที่ต้องระวังที่สุดคือ Legal ได้แก่ PDPA ซึ่งบังคับใช้เต็มรูปแบบตั้งแต่มิถุนายน 2565 และกฎหมายโฆษณา เช่น ห้ามกล่าวอ้างสรรพคุณเกินจริง ด้านล่างสรุป 5Cs สั้น ๆ โดยคู่แข่งจริงของ agent ไม่ใช่แค่ร้านอื่น แต่คือทางเลือกอื่นที่ลูกค้าใช้ เช่น แอดมินคน bot แบบ keyword และแชตใน marketplace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[4:25–5:20 · 55 วินาที] สรุปเป็น SWOT จุดแข็งคือตอบได้ตลอด 24 ชั่วโมง ปิดการขายจบในแชต และสร้าง first-party data เข้า CRM อัตโนมัติ จุดอ่อนคือต้นทุนตั้งต้น SME ขาดทักษะ และความเสี่ยงที่ AI ตอบผิดหรือ hallucinate โอกาสคือฐานผู้ใช้ LINE ที่ใหญ่มาก ตลาด chat commerce ที่โต และ GEO หรือ Generative Engine Optimization จาก L08 ภัยคุกคามคือ PDPA ความไม่ไว้ใจ AI และการพึ่งพาแพลตฟอร์ม L07 สไลด์ workshop ให้ใช้ TOWS ต่อจาก SWOT กลยุทธ์หลักที่ได้คือ SO ใช้ agent กับ CRM ทำ personalized narrowcast และ WT ลดความเสี่ยงด้วย guardrails human-in-the-loop และจำกัดให้ agent ตอบจาก knowledge base เท่านั้น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[5:20–6:05 · 45 วินาที] ขั้น O คือ Objectives ตั้งตามหลัก SMART ของ L07 มีสี่ตัวหลัก หนึ่ง ตอบแชตแรกภายใน 30 วินาทีใน 3 เดือน สอง containment rate คือ agent จัดการจบเองได้ 70% ใน 6 เดือน สาม conversion จากแชตเป็นออร์เดอร์จาก 5 เป็น 8 เปอร์เซ็นต์ และสี่ CLV ต่อ CAC อย่างน้อย 3 เท่าตามเกณฑ์ของ L08 ทั้งหมดเชื่อมกับ Hierarchy of Objectives ใน L07 คือระดับธุรกิจ เพิ่มรายได้จาก LINE OA 30% ระดับการตลาด เพิ่มการซื้อซ้ำ และระดับแคมเปญ เพิ่มเพื่อนใหม่สองหมื่นคน ตัวเลขเหล่านี้เป็นเป้าสมมติเพื่อสาธิตวิธีคิด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[6:05–6:55 · 50 วินาที] ขั้น Strategy เริ่มจาก STP ใช้สูตร Market Segment Evaluation Matrix จาก L07 สไลด์ 28 คือขนาดตลาด คูณส่วนแบ่ง คูณ CLV ลบ CAC คูณ Service Available ผลคือ E-commerce SME ด้านแฟชั่นและความงามมีศักยภาพสูงสุดที่ 120 ล้านบาท จึงเป็น primary target ส่วนคลินิกความงามเป็น secondary target เพราะ CLV สูง กลุ่มอสังหาฯ และดีลเลอร์รถมีศักยภาพมาก แต่ Service Available เป็นศูนย์ เพราะต้องเชื่อมกับระบบเฉพาะทางที่ยังไม่พร้อม ซึ่งแสดงว่าทำไม L07 ใส่ตัวแปรนี้ไว้ในสูตร อีกมุมคือฝั่ง B2C agent ทำ segmentation ทั้งห้าแบบใน L07 ได้อัตโนมัติจากข้อมูลบทสนทนา ตัวเลขในตารางเป็นสมมติฐาน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[6:55–7:55 · 60 วินาที] ต่อมาคือ Positioning ใช้ perceptual map จาก L07 โดยแกนตั้งคือต้นทุนต่อการให้บริการ แกนนอนคือระดับ personalization call center กับแอดมินคนเก่ง ๆ อยู่ด้านต้นทุนสูง bot แบบ keyword ถูกแต่ไม่ personal ช่องว่างที่เหลือคือมุมขวาล่าง ต้นทุนต่ำแต่ personal สูง ซึ่งเป็นที่ที่ Agentic AI ควรวางตำแหน่ง positioning statement คือ พนักงานขายดิจิทัลที่เข้าใจภาษาไทยแบบคน จำลูกค้าได้ และปิดการขายได้ตลอด 24 ชั่วโมง L07 แยก functional benefit คือตอบทันที เช็กสต็อก จ่ายในแชต และ emotional benefit คือความรู้สึกว่าร้านจำเราได้ ข้อควรระวังจาก L07 สไลด์ 32 คือ positioning กับ perception ต้องตรงกัน ถ้า agent ตอบผิด ภาพลักษณ์จะพังทันที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[7:55–8:50 · 55 วินาที] ขั้น Tactics ใช้ 4Ps คู่กับ 4Cs ของ Lauterborn ใน L07 ซึ่งมองจากมุมลูกค้า Product กลายเป็น Consumer needs คือ agent ถามความต้องการก่อนแนะนำ Price กลายเป็น Cost to consumer คือไม่ใช่แค่ราคา แต่ลดเวลารอและความเสี่ยงซื้อผิดด้วย และใช้ Rule of 3 จาก L08 ออกแบบแพ็กเกจ Place กลายเป็น Convenience คือซื้อได้ในแอปที่ใช้ทุกวัน จ่ายผ่าน PromptPay Promotion กลายเป็น Communication คือเปลี่ยนจากการยิงโปรทางเดียวเป็นบทสนทนาสองทาง พร้อม upsell และ cross-sell ในจังหวะที่เหมาะสม ส่วน 7Ps ที่เพิ่มมาก็สำคัญ โดยเฉพาะ People ที่แอดมินเปลี่ยนบทบาทเป็นผู้ดูแล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[8:50–10:05 · 75 วินาที · สไลด์หลัก] นี่คือหัวใจของการวิเคราะห์ คือ AIDA funnel จาก L08 ซึ่งแต่ละขั้นมีเครื่องมือของตัวเอง ขั้น Attention ไม่ใช่บทบาทหลักของ agent เราใช้ social ads, SEO, SEM, GEO และ KOL พาคนมากด Add LINE และ agent เป็นปลายทาง ขั้น Interest agent ทำหน้าที่แทน FAQ, Product detail page และ social media engagement ทักทายภายในไม่กี่วินาทีและบันทึก lead ขั้น Desire agent ส่ง personalized content รีวิว และ social proof พร้อมให้คะแนน lead ขั้น Action ตรงกับเครื่องมือ chatbot และ live chat ใน L08 สไลด์ 75 คือปิดการขายและส่ง QR PromptPay ในแชตได้เลย และผมเพิ่มขั้น Loyalty เพราะ L08 บอกว่าลูกค้าที่พอใจจะกลับมาซื้อซ้ำและดึงคนอื่นเข้า funnel สรุปคือเครื่องมือหลายตัวที่ L08 สอนแยกกัน agent ทำได้ในจุดเดียว และ L08 ย้ำว่าจาก Attention ถึง Action อาจใช้เวลาเป็นเดือน agent จึงช่วยดูแลลูกค้าตลอดเส้นทางนั้น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[10:05–10:55 · 50 วินาที] สิ่งที่ทำให้ Agentic AI ต่างจาก chatbot คือ agent อ่านและเขียน CRM ได้เอง จึงเกิดวงจรปิดห้าขั้น เก็บข้อมูลจากแชต คลิก และการซื้อ แบ่งกลุ่มด้วย profile, tag และ RFM ปรับข้อความและข้อเสนอให้ตรงคน ขายผ่าน agent และ narrowcast แล้ววัดผลเพื่อปรับต่อ ในมุมงานขาย agent เลื่อนสถานะลูกค้าตาม pipeline ใน L07 คือ Lead, Prospect, Opportunity และ Close ได้เอง และใช้หลัก tiering by CLV จาก L07 คือลูกค้า 20% สร้างรายได้ 80% เพื่อดูแลลูกค้า VIP เป็นพิเศษ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[10:55–11:40 · 45 วินาที] L08 สอนจิตวิทยาผู้บริโภค เช่น anchoring, rule of 3, decoy, FOMO และ greed กับ fear agent ใช้สิ่งเหล่านี้ได้แนบเนียนมาก จึงต้องมี guardrail เช่น ราคาที่ใช้เป็น anchor ต้องเป็นราคาจริง ความขาดแคลนต้องดึงจากสต็อกจริงเท่านั้น ห้าม AI แต่งตัวเลขขึ้นมาเอง และไม่อ้างสรรพคุณเกินจริงตามกฎหมาย บทเรียนจาก Cambridge Analytica ใน L07 บอกว่า psychographic targeting ที่ไม่มี consent สร้างความเสียหายร้ายแรง ข้อสรุปของ L08 สไลด์ 65 คือ fear ทำให้ปิดการขายเร็ว แต่ greed หรือการเน้นคุณค่า สร้างลูกค้าที่ดีกว่าในระยะยาว ซึ่งตรงกับเป้าหมาย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[11:40–12:35 · 55 วินาที] ขั้น Actions วาง roadmap 12 เดือนสี่ช่วง เดือนแรกเตรียมข้อมูล knowledge base และ consent ตาม PDPA เดือน 2 ถึง 3 ทำ pilot กับลูกค้า 10 ถึง 20% และต้องผ่านเกณฑ์ containment 50% ก่อนไปต่อ เดือน 4 ถึง 6 เชื่อมระบบออร์เดอร์ PromptPay และ CRM เดือน 7 ถึง 12 ขยายเต็มรูปแบบพร้อม re-engagement และ upsell อัตโนมัติ จาก L06 เรื่อง cross-functional integration agent อยู่ตรงกลางของหลายฝ่าย จึงต้องมีเป้าหมายร่วมและ KPI ที่เชื่อมกัน ตั้งแต่ marketing, sales, operations, IT, HR ที่ต้อง reskill แอดมิน ไปจนถึง finance และ legal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[12:35–13:30 · 55 วินาที] ขั้น Control ใช้สูตร CLV เทียบ CAC จาก L08 สไลด์ 77 ซึ่งแนะนำว่า CLV ควรมากกว่า CAC อย่างน้อยสามเท่า ตัวอย่างสมมติ ค่าโฆษณาต่อเพื่อนใหม่ 15 บาท ก่อนมี agent conversion 5% CAC จึงเท่ากับ 300 บาท หลังมี agent conversion เป็น 8% CAC ลดเหลือ 187.5 บาท ฝั่ง CLV กำไรต่อครั้ง 325 บาท จำนวนครั้งที่ซื้อเพิ่มจาก 6 เป็น 8 ครั้งเพราะ re-engagement ratio จึงดีขึ้นจาก 6.5 เป็น 13.9 เท่า ด้านการเงินตาม L06 ลงทุน 600,000 บาท คืนทุนประมาณ 8.5 เดือน และ NPV 3 ปีประมาณ 1.67 ล้านบาท ทั้งหมดติดตามด้วย KPI dashboard รวมถึง block rate และอัตราการตอบผิดของ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[13:30–14:10 · 40 วินาที] ความเสี่ยงหลักมีสี่ข้อ หนึ่ง AI ตอบผิด แก้ด้วยการให้ตอบจาก knowledge base และดึงราคาหรือสต็อกจากระบบจริง ถ้าไม่มั่นใจให้ส่งต่อพนักงาน สอง PDPA ต้องขอ consent ให้ชัดและเก็บข้อมูลเท่าที่จำเป็น สาม ความเชื่อมั่นของลูกค้า ควรบอกตรง ๆ ว่าเป็นผู้ช่วย AI และมีปุ่มคุยกับพนักงานเสมอ สี่ ส่งข้อความถี่จนลูกค้า block ใช้ narrowcast และจำกัดความถี่ ส่วนความท้าทายเชิงองค์กรจาก L06 คือแรงต้านจากพนักงานและ incentive ที่ไม่ตรงกัน แก้ด้วยการ reskill และใช้ KPI ร่วมกัน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[14:10–15:00 · 50 วินาที] สรุปคือ Agentic AI บน LINE OA สอดคล้องกับหลัก digital marketing ทั้งสามบท ในเชิงกลยุทธ์ตาม L06 เป็น technology as a strategic driver ที่ต้องอาศัย cross-functional integration ในเชิงการตลาดตาม L07 เปลี่ยน STP และ 4Ps จากการวางแผนเป็นกลุ่ม ให้เป็น segment of one ในทุกบทสนทนา และในเชิง digital marketing ตาม L08 ทำงานแทนเครื่องมือ AIDA หลายตัวและทำให้ CLV/CAC ดีขึ้นทั้งสองด้าน ข้อเสนอแนะหกข้อ คือ เริ่มจากลูกค้าเดิม ลงทุนเรื่องข้อมูลก่อน มีคนดูแล AI ตั้งแต่วันแรก วัดผลด้วย CLV/CAC ใช้ PDPA สร้างความเชื่อมั่น และโน้มน้าวด้วยคุณค่าไม่ใช่ความกลัว ขอบคุณครับ/ค่ะ ยินดีรับคำถาม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39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Prompt" pitchFamily="34" charset="0"/>
                <a:ea typeface="Prompt" pitchFamily="34" charset="-122"/>
                <a:cs typeface="Prompt"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46870"/>
            <a:ext cx="10566400" cy="409833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Thai" pitchFamily="34" charset="0"/>
                <a:ea typeface="IBM Plex Sans Thai" pitchFamily="34" charset="-122"/>
                <a:cs typeface="IBM Plex Sans Tha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8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039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4213D"/>
                </a:solidFill>
                <a:latin typeface="Prompt" pitchFamily="34" charset="0"/>
                <a:ea typeface="Prompt" pitchFamily="34" charset="-122"/>
                <a:cs typeface="Prompt"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46870"/>
            <a:ext cx="10566400" cy="409833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Thai" pitchFamily="34" charset="0"/>
                <a:ea typeface="IBM Plex Sans Thai" pitchFamily="34" charset="-122"/>
                <a:cs typeface="IBM Plex Sans Tha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FA866"/>
          </a:solidFill>
          <a:ln/>
        </p:spPr>
      </p:sp>
      <p:sp>
        <p:nvSpPr>
          <p:cNvPr id="3" name="Text 1"/>
          <p:cNvSpPr/>
          <p:nvPr/>
        </p:nvSpPr>
        <p:spPr>
          <a:xfrm>
            <a:off x="812800" y="1775487"/>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7FD3A1"/>
                </a:solidFill>
                <a:latin typeface="IBM Plex Sans Thai" pitchFamily="34" charset="0"/>
                <a:ea typeface="IBM Plex Sans Thai" pitchFamily="34" charset="-122"/>
                <a:cs typeface="IBM Plex Sans Thai" pitchFamily="34" charset="-120"/>
              </a:rPr>
              <a:t>BIS609 · DIGITAL MARKETING ANALYSIS</a:t>
            </a:r>
            <a:endParaRPr lang="en-US" sz="1400" dirty="0"/>
          </a:p>
        </p:txBody>
      </p:sp>
      <p:sp>
        <p:nvSpPr>
          <p:cNvPr id="4" name="Text 2"/>
          <p:cNvSpPr/>
          <p:nvPr>
            <p:ph type="title"/>
          </p:nvPr>
        </p:nvSpPr>
        <p:spPr>
          <a:xfrm>
            <a:off x="812800" y="2278393"/>
            <a:ext cx="10883392" cy="1590014"/>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7F8F4"/>
                </a:solidFill>
                <a:latin typeface="Prompt" pitchFamily="34" charset="0"/>
                <a:ea typeface="Prompt" pitchFamily="34" charset="-122"/>
                <a:cs typeface="Prompt" pitchFamily="34" charset="-120"/>
              </a:rPr>
              <a:t>Agentic AI Chatbot</a:t>
            </a:r>
            <a:endParaRPr lang="en-US" sz="5600" dirty="0"/>
          </a:p>
          <a:p>
            <a:pPr algn="l" indent="0" marL="0">
              <a:lnSpc>
                <a:spcPts val="6160"/>
              </a:lnSpc>
              <a:buNone/>
            </a:pPr>
            <a:r>
              <a:rPr lang="en-US" sz="5600" b="1" i="0" dirty="0">
                <a:solidFill>
                  <a:srgbClr val="F7F8F4"/>
                </a:solidFill>
                <a:latin typeface="Prompt" pitchFamily="34" charset="0"/>
                <a:ea typeface="Prompt" pitchFamily="34" charset="-122"/>
                <a:cs typeface="Prompt" pitchFamily="34" charset="-120"/>
              </a:rPr>
              <a:t>on LINE OA</a:t>
            </a:r>
            <a:endParaRPr lang="en-US" sz="5600" dirty="0"/>
          </a:p>
        </p:txBody>
      </p:sp>
      <p:sp>
        <p:nvSpPr>
          <p:cNvPr id="5" name="Text 3"/>
          <p:cNvSpPr/>
          <p:nvPr/>
        </p:nvSpPr>
        <p:spPr>
          <a:xfrm>
            <a:off x="812800" y="4097007"/>
            <a:ext cx="981075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CE6DF"/>
                </a:solidFill>
                <a:latin typeface="IBM Plex Sans Thai" pitchFamily="34" charset="0"/>
                <a:ea typeface="IBM Plex Sans Thai" pitchFamily="34" charset="-122"/>
                <a:cs typeface="IBM Plex Sans Thai" pitchFamily="34" charset="-120"/>
              </a:rPr>
              <a:t>การใช้ LLMs เพื่อ Automate Sales และ CRM สำหรับธุรกิจไทย</a:t>
            </a:r>
            <a:endParaRPr lang="en-US" sz="2200" dirty="0"/>
          </a:p>
        </p:txBody>
      </p:sp>
      <p:sp>
        <p:nvSpPr>
          <p:cNvPr id="6" name="Text 4"/>
          <p:cNvSpPr/>
          <p:nvPr/>
        </p:nvSpPr>
        <p:spPr>
          <a:xfrm>
            <a:off x="812800" y="4742127"/>
            <a:ext cx="1708415" cy="340320"/>
          </a:xfrm>
          <a:prstGeom prst="roundRect">
            <a:avLst>
              <a:gd name="adj" fmla="val 50000"/>
            </a:avLst>
          </a:prstGeom>
          <a:solidFill>
            <a:srgbClr val="2FA866"/>
          </a:solidFill>
          <a:ln/>
        </p:spPr>
        <p:txBody>
          <a:bodyPr wrap="none" lIns="0" tIns="0" rIns="0" bIns="0" rtlCol="0" anchor="ctr">
            <a:normAutofit/>
          </a:bodyPr>
          <a:lstStyle/>
          <a:p>
            <a:pPr algn="ctr" indent="0" marL="0">
              <a:lnSpc>
                <a:spcPts val="1680"/>
              </a:lnSpc>
              <a:buNone/>
            </a:pPr>
            <a:r>
              <a:rPr lang="en-US" sz="1200" b="1" dirty="0">
                <a:solidFill>
                  <a:srgbClr val="14213D"/>
                </a:solidFill>
                <a:latin typeface="IBM Plex Sans Thai" pitchFamily="34" charset="0"/>
                <a:ea typeface="IBM Plex Sans Thai" pitchFamily="34" charset="-122"/>
                <a:cs typeface="IBM Plex Sans Thai" pitchFamily="34" charset="-120"/>
              </a:rPr>
              <a:t>SOSTAC Framework</a:t>
            </a:r>
            <a:endParaRPr lang="en-US" sz="1200" dirty="0"/>
          </a:p>
        </p:txBody>
      </p:sp>
      <p:sp>
        <p:nvSpPr>
          <p:cNvPr id="7" name="Text 5"/>
          <p:cNvSpPr/>
          <p:nvPr/>
        </p:nvSpPr>
        <p:spPr>
          <a:xfrm>
            <a:off x="2629165" y="4748477"/>
            <a:ext cx="2057929" cy="327620"/>
          </a:xfrm>
          <a:prstGeom prst="roundRect">
            <a:avLst>
              <a:gd name="adj" fmla="val 50000"/>
            </a:avLst>
          </a:prstGeom>
          <a:noFill/>
          <a:ln w="12700">
            <a:solidFill>
              <a:srgbClr val="7FD3A1"/>
            </a:solidFill>
            <a:prstDash val="solid"/>
          </a:ln>
        </p:spPr>
        <p:txBody>
          <a:bodyPr wrap="none" lIns="0" tIns="0" rIns="0" bIns="0" rtlCol="0" anchor="ctr">
            <a:normAutofit/>
          </a:bodyPr>
          <a:lstStyle/>
          <a:p>
            <a:pPr algn="ctr" indent="0" marL="0">
              <a:lnSpc>
                <a:spcPts val="1680"/>
              </a:lnSpc>
              <a:buNone/>
            </a:pPr>
            <a:r>
              <a:rPr lang="en-US" sz="1200" dirty="0">
                <a:solidFill>
                  <a:srgbClr val="DCE6DF"/>
                </a:solidFill>
                <a:latin typeface="IBM Plex Sans Thai" pitchFamily="34" charset="0"/>
                <a:ea typeface="IBM Plex Sans Thai" pitchFamily="34" charset="-122"/>
                <a:cs typeface="IBM Plex Sans Thai" pitchFamily="34" charset="-120"/>
              </a:rPr>
              <a:t>L06 Functional Strategies</a:t>
            </a:r>
            <a:endParaRPr lang="en-US" sz="1200" dirty="0"/>
          </a:p>
        </p:txBody>
      </p:sp>
      <p:sp>
        <p:nvSpPr>
          <p:cNvPr id="8" name="Text 6"/>
          <p:cNvSpPr/>
          <p:nvPr/>
        </p:nvSpPr>
        <p:spPr>
          <a:xfrm>
            <a:off x="4801394" y="4748477"/>
            <a:ext cx="1293813" cy="327620"/>
          </a:xfrm>
          <a:prstGeom prst="roundRect">
            <a:avLst>
              <a:gd name="adj" fmla="val 50000"/>
            </a:avLst>
          </a:prstGeom>
          <a:noFill/>
          <a:ln w="12700">
            <a:solidFill>
              <a:srgbClr val="7FD3A1"/>
            </a:solidFill>
            <a:prstDash val="solid"/>
          </a:ln>
        </p:spPr>
        <p:txBody>
          <a:bodyPr wrap="none" lIns="0" tIns="0" rIns="0" bIns="0" rtlCol="0" anchor="ctr">
            <a:normAutofit/>
          </a:bodyPr>
          <a:lstStyle/>
          <a:p>
            <a:pPr algn="ctr" indent="0" marL="0">
              <a:lnSpc>
                <a:spcPts val="1680"/>
              </a:lnSpc>
              <a:buNone/>
            </a:pPr>
            <a:r>
              <a:rPr lang="en-US" sz="1200" dirty="0">
                <a:solidFill>
                  <a:srgbClr val="DCE6DF"/>
                </a:solidFill>
                <a:latin typeface="IBM Plex Sans Thai" pitchFamily="34" charset="0"/>
                <a:ea typeface="IBM Plex Sans Thai" pitchFamily="34" charset="-122"/>
                <a:cs typeface="IBM Plex Sans Thai" pitchFamily="34" charset="-120"/>
              </a:rPr>
              <a:t>L07 Marketing</a:t>
            </a:r>
            <a:endParaRPr lang="en-US" sz="1200" dirty="0"/>
          </a:p>
        </p:txBody>
      </p:sp>
      <p:sp>
        <p:nvSpPr>
          <p:cNvPr id="9" name="Text 7"/>
          <p:cNvSpPr/>
          <p:nvPr/>
        </p:nvSpPr>
        <p:spPr>
          <a:xfrm>
            <a:off x="6209506" y="4748477"/>
            <a:ext cx="1765035" cy="327620"/>
          </a:xfrm>
          <a:prstGeom prst="roundRect">
            <a:avLst>
              <a:gd name="adj" fmla="val 50000"/>
            </a:avLst>
          </a:prstGeom>
          <a:noFill/>
          <a:ln w="12700">
            <a:solidFill>
              <a:srgbClr val="7FD3A1"/>
            </a:solidFill>
            <a:prstDash val="solid"/>
          </a:ln>
        </p:spPr>
        <p:txBody>
          <a:bodyPr wrap="none" lIns="0" tIns="0" rIns="0" bIns="0" rtlCol="0" anchor="ctr">
            <a:normAutofit/>
          </a:bodyPr>
          <a:lstStyle/>
          <a:p>
            <a:pPr algn="ctr" indent="0" marL="0">
              <a:lnSpc>
                <a:spcPts val="1680"/>
              </a:lnSpc>
              <a:buNone/>
            </a:pPr>
            <a:r>
              <a:rPr lang="en-US" sz="1200" dirty="0">
                <a:solidFill>
                  <a:srgbClr val="DCE6DF"/>
                </a:solidFill>
                <a:latin typeface="IBM Plex Sans Thai" pitchFamily="34" charset="0"/>
                <a:ea typeface="IBM Plex Sans Thai" pitchFamily="34" charset="-122"/>
                <a:cs typeface="IBM Plex Sans Thai" pitchFamily="34" charset="-120"/>
              </a:rPr>
              <a:t>L08 Digital Marketing</a:t>
            </a:r>
            <a:endParaRPr lang="en-US" sz="12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EBBB3"/>
                </a:solidFill>
                <a:latin typeface="IBM Plex Sans Thai" pitchFamily="34" charset="0"/>
                <a:ea typeface="IBM Plex Sans Thai" pitchFamily="34" charset="-122"/>
                <a:cs typeface="IBM Plex Sans Thai" pitchFamily="34" charset="-120"/>
              </a:rPr>
              <a:t>School of Information Technology, KMUTT · ตุลาคม 2569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28534"/>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1F7A45"/>
                </a:solidFill>
                <a:latin typeface="IBM Plex Sans Thai" pitchFamily="34" charset="0"/>
                <a:ea typeface="IBM Plex Sans Thai" pitchFamily="34" charset="-122"/>
                <a:cs typeface="IBM Plex Sans Thai" pitchFamily="34" charset="-120"/>
              </a:rPr>
              <a:t>บริบท · WHY LINE OA</a:t>
            </a:r>
            <a:endParaRPr lang="en-US" sz="1159" dirty="0"/>
          </a:p>
        </p:txBody>
      </p:sp>
      <p:sp>
        <p:nvSpPr>
          <p:cNvPr id="3" name="Text 1"/>
          <p:cNvSpPr/>
          <p:nvPr>
            <p:ph type="title"/>
          </p:nvPr>
        </p:nvSpPr>
        <p:spPr>
          <a:xfrm>
            <a:off x="812800" y="1244534"/>
            <a:ext cx="10883392" cy="442582"/>
          </a:xfrm>
          <a:prstGeom prst="rect">
            <a:avLst/>
          </a:prstGeom>
          <a:noFill/>
          <a:ln/>
        </p:spPr>
        <p:txBody>
          <a:bodyPr wrap="square" lIns="0" tIns="0" rIns="0" bIns="0" rtlCol="0" anchor="t">
            <a:normAutofit/>
          </a:bodyPr>
          <a:lstStyle/>
          <a:p>
            <a:pPr algn="l" indent="0" marL="0">
              <a:lnSpc>
                <a:spcPts val="3321"/>
              </a:lnSpc>
              <a:buNone/>
            </a:pPr>
            <a:r>
              <a:rPr lang="en-US" sz="2887" b="1" i="0" dirty="0">
                <a:solidFill>
                  <a:srgbClr val="14213D"/>
                </a:solidFill>
                <a:latin typeface="Prompt" pitchFamily="34" charset="0"/>
                <a:ea typeface="Prompt" pitchFamily="34" charset="-122"/>
                <a:cs typeface="Prompt" pitchFamily="34" charset="-120"/>
              </a:rPr>
              <a:t>คนไทย "ทักแชตก่อนซื้อ" และแชตนั้นอยู่บน LINE</a:t>
            </a:r>
            <a:endParaRPr lang="en-US" sz="2887" dirty="0"/>
          </a:p>
        </p:txBody>
      </p:sp>
      <p:sp>
        <p:nvSpPr>
          <p:cNvPr id="4" name="Shape 2"/>
          <p:cNvSpPr/>
          <p:nvPr/>
        </p:nvSpPr>
        <p:spPr>
          <a:xfrm>
            <a:off x="819150" y="1896666"/>
            <a:ext cx="3373967" cy="2813182"/>
          </a:xfrm>
          <a:prstGeom prst="roundRect">
            <a:avLst>
              <a:gd name="adj" fmla="val 4289"/>
            </a:avLst>
          </a:prstGeom>
          <a:solidFill>
            <a:srgbClr val="FDFDFB"/>
          </a:solidFill>
          <a:ln w="12700">
            <a:solidFill>
              <a:srgbClr val="DDE3DA"/>
            </a:solidFill>
            <a:prstDash val="solid"/>
          </a:ln>
        </p:spPr>
      </p:sp>
      <p:sp>
        <p:nvSpPr>
          <p:cNvPr id="5" name="Text 3"/>
          <p:cNvSpPr/>
          <p:nvPr/>
        </p:nvSpPr>
        <p:spPr>
          <a:xfrm>
            <a:off x="1079500" y="2157016"/>
            <a:ext cx="2938865"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F7A45"/>
                </a:solidFill>
                <a:latin typeface="Prompt" pitchFamily="34" charset="0"/>
                <a:ea typeface="Prompt" pitchFamily="34" charset="-122"/>
                <a:cs typeface="Prompt" pitchFamily="34" charset="-120"/>
              </a:rPr>
              <a:t>92.8%</a:t>
            </a:r>
            <a:endParaRPr lang="en-US" sz="4800" dirty="0"/>
          </a:p>
        </p:txBody>
      </p:sp>
      <p:sp>
        <p:nvSpPr>
          <p:cNvPr id="6" name="Text 4"/>
          <p:cNvSpPr/>
          <p:nvPr/>
        </p:nvSpPr>
        <p:spPr>
          <a:xfrm>
            <a:off x="1079500" y="2903736"/>
            <a:ext cx="2938865"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Thai" pitchFamily="34" charset="0"/>
                <a:ea typeface="IBM Plex Sans Thai" pitchFamily="34" charset="-122"/>
                <a:cs typeface="IBM Plex Sans Thai" pitchFamily="34" charset="-120"/>
              </a:rPr>
              <a:t>ผู้ใช้ social media ไทย ใช้ LINE</a:t>
            </a:r>
            <a:endParaRPr lang="en-US" sz="1500" dirty="0"/>
          </a:p>
        </p:txBody>
      </p:sp>
      <p:sp>
        <p:nvSpPr>
          <p:cNvPr id="7" name="Text 5"/>
          <p:cNvSpPr/>
          <p:nvPr/>
        </p:nvSpPr>
        <p:spPr>
          <a:xfrm>
            <a:off x="1079500" y="3237111"/>
            <a:ext cx="29388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อันดับ 2 รองจาก Facebook (93.3%) · L08 p.26, DataReportal</a:t>
            </a:r>
            <a:endParaRPr lang="en-US" sz="1200" dirty="0"/>
          </a:p>
        </p:txBody>
      </p:sp>
      <p:sp>
        <p:nvSpPr>
          <p:cNvPr id="8" name="Shape 6"/>
          <p:cNvSpPr/>
          <p:nvPr/>
        </p:nvSpPr>
        <p:spPr>
          <a:xfrm>
            <a:off x="4409017" y="1896666"/>
            <a:ext cx="3373967" cy="2813182"/>
          </a:xfrm>
          <a:prstGeom prst="roundRect">
            <a:avLst>
              <a:gd name="adj" fmla="val 4289"/>
            </a:avLst>
          </a:prstGeom>
          <a:solidFill>
            <a:srgbClr val="FDFDFB"/>
          </a:solidFill>
          <a:ln w="12700">
            <a:solidFill>
              <a:srgbClr val="DDE3DA"/>
            </a:solidFill>
            <a:prstDash val="solid"/>
          </a:ln>
        </p:spPr>
      </p:sp>
      <p:sp>
        <p:nvSpPr>
          <p:cNvPr id="9" name="Text 7"/>
          <p:cNvSpPr/>
          <p:nvPr/>
        </p:nvSpPr>
        <p:spPr>
          <a:xfrm>
            <a:off x="4669367" y="2157016"/>
            <a:ext cx="2938865"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F7A45"/>
                </a:solidFill>
                <a:latin typeface="Prompt" pitchFamily="34" charset="0"/>
                <a:ea typeface="Prompt" pitchFamily="34" charset="-122"/>
                <a:cs typeface="Prompt" pitchFamily="34" charset="-120"/>
              </a:rPr>
              <a:t>56 ล้าน</a:t>
            </a:r>
            <a:endParaRPr lang="en-US" sz="4800" dirty="0"/>
          </a:p>
        </p:txBody>
      </p:sp>
      <p:sp>
        <p:nvSpPr>
          <p:cNvPr id="10" name="Text 8"/>
          <p:cNvSpPr/>
          <p:nvPr/>
        </p:nvSpPr>
        <p:spPr>
          <a:xfrm>
            <a:off x="4669367" y="2903736"/>
            <a:ext cx="2938865"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4213D"/>
                </a:solidFill>
                <a:latin typeface="IBM Plex Sans Thai" pitchFamily="34" charset="0"/>
                <a:ea typeface="IBM Plex Sans Thai" pitchFamily="34" charset="-122"/>
                <a:cs typeface="IBM Plex Sans Thai" pitchFamily="34" charset="-120"/>
              </a:rPr>
              <a:t>ผู้ใช้ LINE ในไทยต่อเดือน</a:t>
            </a:r>
            <a:endParaRPr lang="en-US" sz="1500" dirty="0"/>
          </a:p>
        </p:txBody>
      </p:sp>
      <p:sp>
        <p:nvSpPr>
          <p:cNvPr id="11" name="Text 9"/>
          <p:cNvSpPr/>
          <p:nvPr/>
        </p:nvSpPr>
        <p:spPr>
          <a:xfrm>
            <a:off x="4669367" y="3237111"/>
            <a:ext cx="293886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บทสนทนาผ่าน LINE OA กว่า 12,000 ล้านครั้งในปี 2025 · LINE Thailand</a:t>
            </a:r>
            <a:endParaRPr lang="en-US" sz="1200" dirty="0"/>
          </a:p>
        </p:txBody>
      </p:sp>
      <p:sp>
        <p:nvSpPr>
          <p:cNvPr id="12" name="Shape 10"/>
          <p:cNvSpPr/>
          <p:nvPr/>
        </p:nvSpPr>
        <p:spPr>
          <a:xfrm>
            <a:off x="7998884" y="1896666"/>
            <a:ext cx="3373967" cy="2813182"/>
          </a:xfrm>
          <a:prstGeom prst="roundRect">
            <a:avLst>
              <a:gd name="adj" fmla="val 4289"/>
            </a:avLst>
          </a:prstGeom>
          <a:solidFill>
            <a:srgbClr val="FDFDFB"/>
          </a:solidFill>
          <a:ln w="12700">
            <a:solidFill>
              <a:srgbClr val="DDE3DA"/>
            </a:solidFill>
            <a:prstDash val="solid"/>
          </a:ln>
        </p:spPr>
      </p:sp>
      <p:sp>
        <p:nvSpPr>
          <p:cNvPr id="13" name="Text 11"/>
          <p:cNvSpPr/>
          <p:nvPr/>
        </p:nvSpPr>
        <p:spPr>
          <a:xfrm>
            <a:off x="8259234" y="2157016"/>
            <a:ext cx="2938865" cy="1283031"/>
          </a:xfrm>
          <a:prstGeom prst="rect">
            <a:avLst/>
          </a:prstGeom>
          <a:noFill/>
          <a:ln/>
        </p:spPr>
        <p:txBody>
          <a:bodyPr wrap="square" lIns="0" tIns="0" rIns="0" bIns="0" rtlCol="0" anchor="t">
            <a:normAutofit/>
          </a:bodyPr>
          <a:lstStyle/>
          <a:p>
            <a:pPr algn="l" indent="0" marL="0">
              <a:lnSpc>
                <a:spcPts val="4950"/>
              </a:lnSpc>
              <a:buNone/>
            </a:pPr>
            <a:r>
              <a:rPr lang="en-US" sz="4500" b="1" dirty="0">
                <a:solidFill>
                  <a:srgbClr val="1F7A45"/>
                </a:solidFill>
                <a:latin typeface="Prompt" pitchFamily="34" charset="0"/>
                <a:ea typeface="Prompt" pitchFamily="34" charset="-122"/>
                <a:cs typeface="Prompt" pitchFamily="34" charset="-120"/>
              </a:rPr>
              <a:t>1.14 ล้านล้าน</a:t>
            </a:r>
            <a:endParaRPr lang="en-US" sz="4500" dirty="0"/>
          </a:p>
        </p:txBody>
      </p:sp>
      <p:sp>
        <p:nvSpPr>
          <p:cNvPr id="14" name="Text 12"/>
          <p:cNvSpPr/>
          <p:nvPr/>
        </p:nvSpPr>
        <p:spPr>
          <a:xfrm>
            <a:off x="8259234" y="3490847"/>
            <a:ext cx="2938865" cy="507735"/>
          </a:xfrm>
          <a:prstGeom prst="rect">
            <a:avLst/>
          </a:prstGeom>
          <a:noFill/>
          <a:ln/>
        </p:spPr>
        <p:txBody>
          <a:bodyPr wrap="square" lIns="0" tIns="0" rIns="0" bIns="0" rtlCol="0" anchor="t">
            <a:normAutofit/>
          </a:bodyPr>
          <a:lstStyle/>
          <a:p>
            <a:pPr algn="l" indent="0" marL="0">
              <a:lnSpc>
                <a:spcPts val="1911"/>
              </a:lnSpc>
              <a:buNone/>
            </a:pPr>
            <a:r>
              <a:rPr lang="en-US" sz="1416" b="1" dirty="0">
                <a:solidFill>
                  <a:srgbClr val="14213D"/>
                </a:solidFill>
                <a:latin typeface="IBM Plex Sans Thai" pitchFamily="34" charset="0"/>
                <a:ea typeface="IBM Plex Sans Thai" pitchFamily="34" charset="-122"/>
                <a:cs typeface="IBM Plex Sans Thai" pitchFamily="34" charset="-120"/>
              </a:rPr>
              <a:t>มูลค่า chat commerce ไทย ปี 2028 (บาท)</a:t>
            </a:r>
            <a:endParaRPr lang="en-US" sz="1416" dirty="0"/>
          </a:p>
        </p:txBody>
      </p:sp>
      <p:sp>
        <p:nvSpPr>
          <p:cNvPr id="15" name="Text 13"/>
          <p:cNvSpPr/>
          <p:nvPr/>
        </p:nvSpPr>
        <p:spPr>
          <a:xfrm>
            <a:off x="8259234" y="4049382"/>
            <a:ext cx="2938865" cy="425516"/>
          </a:xfrm>
          <a:prstGeom prst="rect">
            <a:avLst/>
          </a:prstGeom>
          <a:noFill/>
          <a:ln/>
        </p:spPr>
        <p:txBody>
          <a:bodyPr wrap="square" lIns="0" tIns="0" rIns="0" bIns="0" rtlCol="0" anchor="t">
            <a:normAutofit/>
          </a:bodyPr>
          <a:lstStyle/>
          <a:p>
            <a:pPr algn="l" indent="0" marL="0">
              <a:lnSpc>
                <a:spcPts val="1585"/>
              </a:lnSpc>
              <a:buNone/>
            </a:pPr>
            <a:r>
              <a:rPr lang="en-US" sz="1133" dirty="0">
                <a:solidFill>
                  <a:srgbClr val="4A5568"/>
                </a:solidFill>
                <a:latin typeface="IBM Plex Sans Thai" pitchFamily="34" charset="0"/>
                <a:ea typeface="IBM Plex Sans Thai" pitchFamily="34" charset="-122"/>
                <a:cs typeface="IBM Plex Sans Thai" pitchFamily="34" charset="-120"/>
              </a:rPr>
              <a:t>จาก 4.62 แสนล้านบาทในปี 2023 · CAGR 19.2% · LINE Thailand</a:t>
            </a:r>
            <a:endParaRPr lang="en-US" sz="1133" dirty="0"/>
          </a:p>
        </p:txBody>
      </p:sp>
      <p:sp>
        <p:nvSpPr>
          <p:cNvPr id="16" name="Text 14"/>
          <p:cNvSpPr/>
          <p:nvPr/>
        </p:nvSpPr>
        <p:spPr>
          <a:xfrm>
            <a:off x="812800" y="4944798"/>
            <a:ext cx="10566400" cy="897202"/>
          </a:xfrm>
          <a:prstGeom prst="roundRect">
            <a:avLst>
              <a:gd name="adj" fmla="val 11324"/>
            </a:avLst>
          </a:prstGeom>
          <a:solidFill>
            <a:srgbClr val="14213D"/>
          </a:solidFill>
          <a:ln/>
        </p:spPr>
        <p:txBody>
          <a:bodyPr wrap="square" lIns="224242" tIns="148042" rIns="0" bIns="122642" rtlCol="0" anchor="t">
            <a:normAutofit/>
          </a:bodyPr>
          <a:lstStyle/>
          <a:p>
            <a:pPr algn="l" indent="0" marL="0">
              <a:lnSpc>
                <a:spcPts val="2135"/>
              </a:lnSpc>
              <a:buNone/>
            </a:pPr>
            <a:r>
              <a:rPr lang="en-US" sz="1525" dirty="0">
                <a:solidFill>
                  <a:srgbClr val="F7F8F4"/>
                </a:solidFill>
                <a:latin typeface="IBM Plex Sans Thai" pitchFamily="34" charset="0"/>
                <a:ea typeface="IBM Plex Sans Thai" pitchFamily="34" charset="-122"/>
                <a:cs typeface="IBM Plex Sans Thai" pitchFamily="34" charset="-120"/>
              </a:rPr>
              <a:t>ยุคที่ 4 ของ digital marketing คือ </a:t>
            </a:r>
            <a:r>
              <a:rPr lang="en-US" sz="1525" b="1" dirty="0">
                <a:solidFill>
                  <a:srgbClr val="F7F8F4"/>
                </a:solidFill>
                <a:latin typeface="IBM Plex Sans Thai" pitchFamily="34" charset="0"/>
                <a:ea typeface="IBM Plex Sans Thai" pitchFamily="34" charset="-122"/>
                <a:cs typeface="IBM Plex Sans Thai" pitchFamily="34" charset="-120"/>
              </a:rPr>
              <a:t>"AI &amp; Automation"</a:t>
            </a:r>
            <a:r>
              <a:rPr lang="en-US" sz="1525" dirty="0">
                <a:solidFill>
                  <a:srgbClr val="F7F8F4"/>
                </a:solidFill>
                <a:latin typeface="IBM Plex Sans Thai" pitchFamily="34" charset="0"/>
                <a:ea typeface="IBM Plex Sans Thai" pitchFamily="34" charset="-122"/>
                <a:cs typeface="IBM Plex Sans Thai" pitchFamily="34" charset="-120"/>
              </a:rPr>
              <a:t> (L08 p.5) และ L08 ระบุ </a:t>
            </a:r>
            <a:r>
              <a:rPr lang="en-US" sz="1525" b="1" dirty="0">
                <a:solidFill>
                  <a:srgbClr val="F7F8F4"/>
                </a:solidFill>
                <a:latin typeface="IBM Plex Sans Thai" pitchFamily="34" charset="0"/>
                <a:ea typeface="IBM Plex Sans Thai" pitchFamily="34" charset="-122"/>
                <a:cs typeface="IBM Plex Sans Thai" pitchFamily="34" charset="-120"/>
              </a:rPr>
              <a:t>Chatbots &amp; Live Chat</a:t>
            </a:r>
            <a:r>
              <a:rPr lang="en-US" sz="1525" dirty="0">
                <a:solidFill>
                  <a:srgbClr val="F7F8F4"/>
                </a:solidFill>
                <a:latin typeface="IBM Plex Sans Thai" pitchFamily="34" charset="0"/>
                <a:ea typeface="IBM Plex Sans Thai" pitchFamily="34" charset="-122"/>
                <a:cs typeface="IBM Plex Sans Thai" pitchFamily="34" charset="-120"/>
              </a:rPr>
              <a:t> เป็นเครื่องมือขั้น Action (p.75)</a:t>
            </a:r>
            <a:endParaRPr lang="en-US" sz="1525"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02 / 18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นิยาม · DEFINITION</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จาก Chatbot ที่ "ตอบ" สู่ Agent ที่ "ลงมือทำ"</a:t>
            </a:r>
            <a:endParaRPr lang="en-US" sz="3000" dirty="0"/>
          </a:p>
        </p:txBody>
      </p:sp>
      <p:sp>
        <p:nvSpPr>
          <p:cNvPr id="4" name="Text 2"/>
          <p:cNvSpPr/>
          <p:nvPr/>
        </p:nvSpPr>
        <p:spPr>
          <a:xfrm>
            <a:off x="812800" y="1870670"/>
            <a:ext cx="2064478" cy="358114"/>
          </a:xfrm>
          <a:prstGeom prst="roundRect">
            <a:avLst>
              <a:gd name="adj" fmla="val 50000"/>
            </a:avLst>
          </a:prstGeom>
          <a:solidFill>
            <a:srgbClr val="14213D"/>
          </a:solidFill>
          <a:ln/>
        </p:spPr>
        <p:txBody>
          <a:bodyPr wrap="none" lIns="0" tIns="0" rIns="0" bIns="0" rtlCol="0" anchor="ctr">
            <a:normAutofit/>
          </a:bodyPr>
          <a:lstStyle/>
          <a:p>
            <a:pPr algn="ct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1 Perceive: เข้าใจ intent</a:t>
            </a:r>
            <a:endParaRPr lang="en-US" sz="1300" dirty="0"/>
          </a:p>
        </p:txBody>
      </p:sp>
      <p:sp>
        <p:nvSpPr>
          <p:cNvPr id="5" name="Text 3"/>
          <p:cNvSpPr/>
          <p:nvPr/>
        </p:nvSpPr>
        <p:spPr>
          <a:xfrm>
            <a:off x="2978878" y="1870670"/>
            <a:ext cx="2032132" cy="358114"/>
          </a:xfrm>
          <a:prstGeom prst="roundRect">
            <a:avLst>
              <a:gd name="adj" fmla="val 50000"/>
            </a:avLst>
          </a:prstGeom>
          <a:solidFill>
            <a:srgbClr val="14213D"/>
          </a:solidFill>
          <a:ln/>
        </p:spPr>
        <p:txBody>
          <a:bodyPr wrap="none" lIns="0" tIns="0" rIns="0" bIns="0" rtlCol="0" anchor="ctr">
            <a:normAutofit/>
          </a:bodyPr>
          <a:lstStyle/>
          <a:p>
            <a:pPr algn="ct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2 Plan: วางแผนหลายขั้น</a:t>
            </a:r>
            <a:endParaRPr lang="en-US" sz="1300" dirty="0"/>
          </a:p>
        </p:txBody>
      </p:sp>
      <p:sp>
        <p:nvSpPr>
          <p:cNvPr id="6" name="Text 4"/>
          <p:cNvSpPr/>
          <p:nvPr/>
        </p:nvSpPr>
        <p:spPr>
          <a:xfrm>
            <a:off x="5112610" y="1870670"/>
            <a:ext cx="1701932" cy="358114"/>
          </a:xfrm>
          <a:prstGeom prst="roundRect">
            <a:avLst>
              <a:gd name="adj" fmla="val 50000"/>
            </a:avLst>
          </a:prstGeom>
          <a:solidFill>
            <a:srgbClr val="1F7A45"/>
          </a:solidFill>
          <a:ln/>
        </p:spPr>
        <p:txBody>
          <a:bodyPr wrap="none" lIns="0" tIns="0" rIns="0" bIns="0" rtlCol="0" anchor="ctr">
            <a:normAutofit/>
          </a:bodyPr>
          <a:lstStyle/>
          <a:p>
            <a:pPr algn="ct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3 Act: เรียกใช้ tools</a:t>
            </a:r>
            <a:endParaRPr lang="en-US" sz="1300" dirty="0"/>
          </a:p>
        </p:txBody>
      </p:sp>
      <p:sp>
        <p:nvSpPr>
          <p:cNvPr id="7" name="Text 5"/>
          <p:cNvSpPr/>
          <p:nvPr/>
        </p:nvSpPr>
        <p:spPr>
          <a:xfrm>
            <a:off x="6916142" y="1870670"/>
            <a:ext cx="1723364" cy="358114"/>
          </a:xfrm>
          <a:prstGeom prst="roundRect">
            <a:avLst>
              <a:gd name="adj" fmla="val 50000"/>
            </a:avLst>
          </a:prstGeom>
          <a:solidFill>
            <a:srgbClr val="14213D"/>
          </a:solidFill>
          <a:ln/>
        </p:spPr>
        <p:txBody>
          <a:bodyPr wrap="none" lIns="0" tIns="0" rIns="0" bIns="0" rtlCol="0" anchor="ctr">
            <a:normAutofit/>
          </a:bodyPr>
          <a:lstStyle/>
          <a:p>
            <a:pPr algn="ct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4 Memory: จำลูกค้า</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444685"/>
          <a:ext cx="10553700" cy="2489862"/>
        </p:xfrm>
        <a:graphic>
          <a:graphicData uri="http://schemas.openxmlformats.org/drawingml/2006/table">
            <a:tbl>
              <a:tblPr/>
              <a:tblGrid>
                <a:gridCol w="2005203"/>
                <a:gridCol w="2638425"/>
                <a:gridCol w="2638425"/>
                <a:gridCol w="3271647"/>
              </a:tblGrid>
              <a:tr h="359304">
                <a:tc>
                  <a:txBody>
                    <a:bodyPr/>
                    <a:lstStyle/>
                    <a:p>
                      <a:pP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มิติ</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5BBB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5BBB4"/>
                      </a:solidFill>
                      <a:prstDash val="solid"/>
                      <a:round/>
                      <a:headEnd type="none" w="med" len="med"/>
                      <a:tailEnd type="none" w="med" len="med"/>
                    </a:lnB>
                    <a:solidFill>
                      <a:srgbClr val="E3EAE1"/>
                    </a:solidFill>
                  </a:tcPr>
                </a:tc>
                <a:tc>
                  <a:txBody>
                    <a:bodyPr/>
                    <a:lstStyle/>
                    <a:p>
                      <a:pP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Rule-based Chatbot</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5BBB4"/>
                      </a:solidFill>
                      <a:prstDash val="solid"/>
                      <a:round/>
                      <a:headEnd type="none" w="med" len="med"/>
                      <a:tailEnd type="none" w="med" len="med"/>
                    </a:lnL>
                    <a:lnR w="12700" cap="flat" cmpd="sng" algn="ctr">
                      <a:solidFill>
                        <a:srgbClr val="B5BBB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5BBB4"/>
                      </a:solidFill>
                      <a:prstDash val="solid"/>
                      <a:round/>
                      <a:headEnd type="none" w="med" len="med"/>
                      <a:tailEnd type="none" w="med" len="med"/>
                    </a:lnB>
                    <a:solidFill>
                      <a:srgbClr val="E3EAE1"/>
                    </a:solidFill>
                  </a:tcPr>
                </a:tc>
                <a:tc>
                  <a:txBody>
                    <a:bodyPr/>
                    <a:lstStyle/>
                    <a:p>
                      <a:pP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LLM Chatbot</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5BBB4"/>
                      </a:solidFill>
                      <a:prstDash val="solid"/>
                      <a:round/>
                      <a:headEnd type="none" w="med" len="med"/>
                      <a:tailEnd type="none" w="med" len="med"/>
                    </a:lnL>
                    <a:lnR w="12700" cap="flat" cmpd="sng" algn="ctr">
                      <a:solidFill>
                        <a:srgbClr val="B5BBB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5BBB4"/>
                      </a:solidFill>
                      <a:prstDash val="solid"/>
                      <a:round/>
                      <a:headEnd type="none" w="med" len="med"/>
                      <a:tailEnd type="none" w="med" len="med"/>
                    </a:lnB>
                    <a:solidFill>
                      <a:srgbClr val="E3EAE1"/>
                    </a:solidFill>
                  </a:tcPr>
                </a:tc>
                <a:tc>
                  <a:txBody>
                    <a:bodyPr/>
                    <a:lstStyle/>
                    <a:p>
                      <a:pP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Agentic AI Chatbot</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5BBB4"/>
                      </a:solidFill>
                      <a:prstDash val="solid"/>
                      <a:round/>
                      <a:headEnd type="none" w="med" len="med"/>
                      <a:tailEnd type="none" w="med" len="med"/>
                    </a:lnL>
                    <a:lnR w="12700" cap="flat" cmpd="sng" algn="ctr">
                      <a:solidFill>
                        <a:srgbClr val="B5BBB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5BBB4"/>
                      </a:solidFill>
                      <a:prstDash val="solid"/>
                      <a:round/>
                      <a:headEnd type="none" w="med" len="med"/>
                      <a:tailEnd type="none" w="med" len="med"/>
                    </a:lnB>
                    <a:solidFill>
                      <a:srgbClr val="E3EAE1"/>
                    </a:solidFill>
                  </a:tcPr>
                </a:tc>
              </a:tr>
              <a:tr h="590418">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วิธีทำงาน</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5BBB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Keyword / ปุ่มเมนู</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5BBB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เข้าใจภาษาไทย ตอบจาก knowledge base</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5BBB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เข้าใจ + วางแผน + ทำธุรกรรมผ่าน tools</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5BBB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590418">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ตัวอย่างบน LINE OA</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Auto-reply ตาม keyword</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ตอบ FAQ เป็นธรรมชาติ</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เช็กสต็อก แนะนำสินค้า สร้าง order ส่ง PromptPay QR</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r>
              <a:tr h="359304">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บทบาทใน AIDA</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Interest</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Interest – Desire</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Interest → Desire → Action → Loyalty</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590418">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ผลต่อ CRM</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แทบไม่มี</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เก็บบทสนทนา</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อัปเดต profile, tag, lead score แบบ real-time</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r>
            </a:tbl>
          </a:graphicData>
        </a:graphic>
      </p:graphicFrame>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10"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03 / 18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กรอบการวิเคราะห์ · L07 P.87–96</a:t>
            </a:r>
            <a:endParaRPr lang="en-US" sz="1200" dirty="0"/>
          </a:p>
        </p:txBody>
      </p:sp>
      <p:sp>
        <p:nvSpPr>
          <p:cNvPr id="3" name="Text 1"/>
          <p:cNvSpPr/>
          <p:nvPr>
            <p:ph type="title"/>
          </p:nvPr>
        </p:nvSpPr>
        <p:spPr>
          <a:xfrm>
            <a:off x="812800" y="12547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SOSTAC เป็นแกน และดึงเครื่องมือจาก 3 Lectures</a:t>
            </a:r>
            <a:endParaRPr lang="en-US" sz="3000" dirty="0"/>
          </a:p>
        </p:txBody>
      </p:sp>
      <p:sp>
        <p:nvSpPr>
          <p:cNvPr id="4" name="Shape 2"/>
          <p:cNvSpPr/>
          <p:nvPr/>
        </p:nvSpPr>
        <p:spPr>
          <a:xfrm>
            <a:off x="812800" y="1921470"/>
            <a:ext cx="1655233" cy="3920530"/>
          </a:xfrm>
          <a:prstGeom prst="roundRect">
            <a:avLst>
              <a:gd name="adj" fmla="val 6905"/>
            </a:avLst>
          </a:prstGeom>
          <a:solidFill>
            <a:srgbClr val="FDFDFB"/>
          </a:solidFill>
          <a:ln/>
        </p:spPr>
      </p:sp>
      <p:sp>
        <p:nvSpPr>
          <p:cNvPr id="5" name="Shape 3"/>
          <p:cNvSpPr/>
          <p:nvPr/>
        </p:nvSpPr>
        <p:spPr>
          <a:xfrm>
            <a:off x="812800" y="1921470"/>
            <a:ext cx="1655233" cy="3920530"/>
          </a:xfrm>
          <a:custGeom>
            <a:avLst/>
            <a:gdLst/>
            <a:ahLst/>
            <a:cxnLst/>
            <a:rect l="l" t="t" r="r" b="b"/>
            <a:pathLst>
              <a:path w="1655233" h="3920530">
                <a:moveTo>
                  <a:pt x="0" y="114300"/>
                </a:moveTo>
                <a:lnTo>
                  <a:pt x="0" y="114300"/>
                </a:lnTo>
                <a:arcTo hR="114300" wR="114300" stAng="10800000" swAng="5400000"/>
                <a:lnTo>
                  <a:pt x="1540933" y="0"/>
                </a:lnTo>
                <a:arcTo hR="114300" wR="114300" stAng="16200000" swAng="5400000"/>
                <a:lnTo>
                  <a:pt x="1655233" y="114300"/>
                </a:lnTo>
                <a:arcTo hR="63500" wR="114300" stAng="0" swAng="-5400000"/>
                <a:lnTo>
                  <a:pt x="114300" y="50800"/>
                </a:lnTo>
                <a:arcTo hR="63500" wR="114300" stAng="16200000" swAng="-5400000"/>
                <a:close/>
              </a:path>
            </a:pathLst>
          </a:custGeom>
          <a:solidFill>
            <a:srgbClr val="1F7A45"/>
          </a:solidFill>
          <a:ln/>
        </p:spPr>
      </p:sp>
      <p:sp>
        <p:nvSpPr>
          <p:cNvPr id="6" name="Text 4"/>
          <p:cNvSpPr/>
          <p:nvPr/>
        </p:nvSpPr>
        <p:spPr>
          <a:xfrm>
            <a:off x="990600" y="2150070"/>
            <a:ext cx="1350433"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7A45"/>
                </a:solidFill>
                <a:latin typeface="Prompt" pitchFamily="34" charset="0"/>
                <a:ea typeface="Prompt" pitchFamily="34" charset="-122"/>
                <a:cs typeface="Prompt" pitchFamily="34" charset="-120"/>
              </a:rPr>
              <a:t>S</a:t>
            </a:r>
            <a:endParaRPr lang="en-US" sz="3200" dirty="0"/>
          </a:p>
        </p:txBody>
      </p:sp>
      <p:sp>
        <p:nvSpPr>
          <p:cNvPr id="7" name="Text 5"/>
          <p:cNvSpPr/>
          <p:nvPr/>
        </p:nvSpPr>
        <p:spPr>
          <a:xfrm>
            <a:off x="990600" y="2660585"/>
            <a:ext cx="135043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Situation</a:t>
            </a:r>
            <a:endParaRPr lang="en-US" sz="1400" dirty="0"/>
          </a:p>
        </p:txBody>
      </p:sp>
      <p:sp>
        <p:nvSpPr>
          <p:cNvPr id="8" name="Text 6"/>
          <p:cNvSpPr/>
          <p:nvPr/>
        </p:nvSpPr>
        <p:spPr>
          <a:xfrm>
            <a:off x="990600" y="2972991"/>
            <a:ext cx="135043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PESTEL · 5Cs · Competitor Matrix · SWOT/TOWS</a:t>
            </a:r>
            <a:endParaRPr lang="en-US" sz="1200" dirty="0"/>
          </a:p>
        </p:txBody>
      </p:sp>
      <p:sp>
        <p:nvSpPr>
          <p:cNvPr id="9" name="Shape 7"/>
          <p:cNvSpPr/>
          <p:nvPr/>
        </p:nvSpPr>
        <p:spPr>
          <a:xfrm>
            <a:off x="2595033" y="1921470"/>
            <a:ext cx="1655233" cy="3920530"/>
          </a:xfrm>
          <a:prstGeom prst="roundRect">
            <a:avLst>
              <a:gd name="adj" fmla="val 6905"/>
            </a:avLst>
          </a:prstGeom>
          <a:solidFill>
            <a:srgbClr val="FDFDFB"/>
          </a:solidFill>
          <a:ln/>
        </p:spPr>
      </p:sp>
      <p:sp>
        <p:nvSpPr>
          <p:cNvPr id="10" name="Shape 8"/>
          <p:cNvSpPr/>
          <p:nvPr/>
        </p:nvSpPr>
        <p:spPr>
          <a:xfrm>
            <a:off x="2595033" y="1921470"/>
            <a:ext cx="1655233" cy="3920530"/>
          </a:xfrm>
          <a:custGeom>
            <a:avLst/>
            <a:gdLst/>
            <a:ahLst/>
            <a:cxnLst/>
            <a:rect l="l" t="t" r="r" b="b"/>
            <a:pathLst>
              <a:path w="1655233" h="3920530">
                <a:moveTo>
                  <a:pt x="0" y="114300"/>
                </a:moveTo>
                <a:lnTo>
                  <a:pt x="0" y="114300"/>
                </a:lnTo>
                <a:arcTo hR="114300" wR="114300" stAng="10800000" swAng="5400000"/>
                <a:lnTo>
                  <a:pt x="1540933" y="0"/>
                </a:lnTo>
                <a:arcTo hR="114300" wR="114300" stAng="16200000" swAng="5400000"/>
                <a:lnTo>
                  <a:pt x="1655233" y="114300"/>
                </a:lnTo>
                <a:arcTo hR="63500" wR="114300" stAng="0" swAng="-5400000"/>
                <a:lnTo>
                  <a:pt x="114300" y="50800"/>
                </a:lnTo>
                <a:arcTo hR="63500" wR="114300" stAng="16200000" swAng="-5400000"/>
                <a:close/>
              </a:path>
            </a:pathLst>
          </a:custGeom>
          <a:solidFill>
            <a:srgbClr val="1F7A45"/>
          </a:solidFill>
          <a:ln/>
        </p:spPr>
      </p:sp>
      <p:sp>
        <p:nvSpPr>
          <p:cNvPr id="11" name="Text 9"/>
          <p:cNvSpPr/>
          <p:nvPr/>
        </p:nvSpPr>
        <p:spPr>
          <a:xfrm>
            <a:off x="2772833" y="2150070"/>
            <a:ext cx="1350433"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7A45"/>
                </a:solidFill>
                <a:latin typeface="Prompt" pitchFamily="34" charset="0"/>
                <a:ea typeface="Prompt" pitchFamily="34" charset="-122"/>
                <a:cs typeface="Prompt" pitchFamily="34" charset="-120"/>
              </a:rPr>
              <a:t>O</a:t>
            </a:r>
            <a:endParaRPr lang="en-US" sz="3200" dirty="0"/>
          </a:p>
        </p:txBody>
      </p:sp>
      <p:sp>
        <p:nvSpPr>
          <p:cNvPr id="12" name="Text 10"/>
          <p:cNvSpPr/>
          <p:nvPr/>
        </p:nvSpPr>
        <p:spPr>
          <a:xfrm>
            <a:off x="2772833" y="2660585"/>
            <a:ext cx="135043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Objectives</a:t>
            </a:r>
            <a:endParaRPr lang="en-US" sz="1400" dirty="0"/>
          </a:p>
        </p:txBody>
      </p:sp>
      <p:sp>
        <p:nvSpPr>
          <p:cNvPr id="13" name="Text 11"/>
          <p:cNvSpPr/>
          <p:nvPr/>
        </p:nvSpPr>
        <p:spPr>
          <a:xfrm>
            <a:off x="2772833" y="2972991"/>
            <a:ext cx="13504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SMART · OKRs &amp; KPIs (L06)</a:t>
            </a:r>
            <a:endParaRPr lang="en-US" sz="1200" dirty="0"/>
          </a:p>
        </p:txBody>
      </p:sp>
      <p:sp>
        <p:nvSpPr>
          <p:cNvPr id="14" name="Shape 12"/>
          <p:cNvSpPr/>
          <p:nvPr/>
        </p:nvSpPr>
        <p:spPr>
          <a:xfrm>
            <a:off x="4377267" y="1921470"/>
            <a:ext cx="1655233" cy="3920530"/>
          </a:xfrm>
          <a:prstGeom prst="roundRect">
            <a:avLst>
              <a:gd name="adj" fmla="val 6905"/>
            </a:avLst>
          </a:prstGeom>
          <a:solidFill>
            <a:srgbClr val="FDFDFB"/>
          </a:solidFill>
          <a:ln/>
        </p:spPr>
      </p:sp>
      <p:sp>
        <p:nvSpPr>
          <p:cNvPr id="15" name="Shape 13"/>
          <p:cNvSpPr/>
          <p:nvPr/>
        </p:nvSpPr>
        <p:spPr>
          <a:xfrm>
            <a:off x="4377267" y="1921470"/>
            <a:ext cx="1655233" cy="3920530"/>
          </a:xfrm>
          <a:custGeom>
            <a:avLst/>
            <a:gdLst/>
            <a:ahLst/>
            <a:cxnLst/>
            <a:rect l="l" t="t" r="r" b="b"/>
            <a:pathLst>
              <a:path w="1655233" h="3920530">
                <a:moveTo>
                  <a:pt x="0" y="114300"/>
                </a:moveTo>
                <a:lnTo>
                  <a:pt x="0" y="114300"/>
                </a:lnTo>
                <a:arcTo hR="114300" wR="114300" stAng="10800000" swAng="5400000"/>
                <a:lnTo>
                  <a:pt x="1540933" y="0"/>
                </a:lnTo>
                <a:arcTo hR="114300" wR="114300" stAng="16200000" swAng="5400000"/>
                <a:lnTo>
                  <a:pt x="1655233" y="114300"/>
                </a:lnTo>
                <a:arcTo hR="63500" wR="114300" stAng="0" swAng="-5400000"/>
                <a:lnTo>
                  <a:pt x="114300" y="50800"/>
                </a:lnTo>
                <a:arcTo hR="63500" wR="114300" stAng="16200000" swAng="-5400000"/>
                <a:close/>
              </a:path>
            </a:pathLst>
          </a:custGeom>
          <a:solidFill>
            <a:srgbClr val="1F7A45"/>
          </a:solidFill>
          <a:ln/>
        </p:spPr>
      </p:sp>
      <p:sp>
        <p:nvSpPr>
          <p:cNvPr id="16" name="Text 14"/>
          <p:cNvSpPr/>
          <p:nvPr/>
        </p:nvSpPr>
        <p:spPr>
          <a:xfrm>
            <a:off x="4555067" y="2150070"/>
            <a:ext cx="1350433"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7A45"/>
                </a:solidFill>
                <a:latin typeface="Prompt" pitchFamily="34" charset="0"/>
                <a:ea typeface="Prompt" pitchFamily="34" charset="-122"/>
                <a:cs typeface="Prompt" pitchFamily="34" charset="-120"/>
              </a:rPr>
              <a:t>S</a:t>
            </a:r>
            <a:endParaRPr lang="en-US" sz="3200" dirty="0"/>
          </a:p>
        </p:txBody>
      </p:sp>
      <p:sp>
        <p:nvSpPr>
          <p:cNvPr id="17" name="Text 15"/>
          <p:cNvSpPr/>
          <p:nvPr/>
        </p:nvSpPr>
        <p:spPr>
          <a:xfrm>
            <a:off x="4555067" y="2660585"/>
            <a:ext cx="135043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Strategy</a:t>
            </a:r>
            <a:endParaRPr lang="en-US" sz="1400" dirty="0"/>
          </a:p>
        </p:txBody>
      </p:sp>
      <p:sp>
        <p:nvSpPr>
          <p:cNvPr id="18" name="Text 16"/>
          <p:cNvSpPr/>
          <p:nvPr/>
        </p:nvSpPr>
        <p:spPr>
          <a:xfrm>
            <a:off x="4555067" y="2972991"/>
            <a:ext cx="1350433"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STP · Segment Matrix · Positioning · Value Proposition · Ansoff</a:t>
            </a:r>
            <a:endParaRPr lang="en-US" sz="1200" dirty="0"/>
          </a:p>
        </p:txBody>
      </p:sp>
      <p:sp>
        <p:nvSpPr>
          <p:cNvPr id="19" name="Shape 17"/>
          <p:cNvSpPr/>
          <p:nvPr/>
        </p:nvSpPr>
        <p:spPr>
          <a:xfrm>
            <a:off x="6159500" y="1921470"/>
            <a:ext cx="1655233" cy="3920530"/>
          </a:xfrm>
          <a:prstGeom prst="roundRect">
            <a:avLst>
              <a:gd name="adj" fmla="val 6905"/>
            </a:avLst>
          </a:prstGeom>
          <a:solidFill>
            <a:srgbClr val="FDFDFB"/>
          </a:solidFill>
          <a:ln/>
        </p:spPr>
      </p:sp>
      <p:sp>
        <p:nvSpPr>
          <p:cNvPr id="20" name="Shape 18"/>
          <p:cNvSpPr/>
          <p:nvPr/>
        </p:nvSpPr>
        <p:spPr>
          <a:xfrm>
            <a:off x="6159500" y="1921470"/>
            <a:ext cx="1655233" cy="3920530"/>
          </a:xfrm>
          <a:custGeom>
            <a:avLst/>
            <a:gdLst/>
            <a:ahLst/>
            <a:cxnLst/>
            <a:rect l="l" t="t" r="r" b="b"/>
            <a:pathLst>
              <a:path w="1655233" h="3920530">
                <a:moveTo>
                  <a:pt x="0" y="114300"/>
                </a:moveTo>
                <a:lnTo>
                  <a:pt x="0" y="114300"/>
                </a:lnTo>
                <a:arcTo hR="114300" wR="114300" stAng="10800000" swAng="5400000"/>
                <a:lnTo>
                  <a:pt x="1540933" y="0"/>
                </a:lnTo>
                <a:arcTo hR="114300" wR="114300" stAng="16200000" swAng="5400000"/>
                <a:lnTo>
                  <a:pt x="1655233" y="114300"/>
                </a:lnTo>
                <a:arcTo hR="63500" wR="114300" stAng="0" swAng="-5400000"/>
                <a:lnTo>
                  <a:pt x="114300" y="50800"/>
                </a:lnTo>
                <a:arcTo hR="63500" wR="114300" stAng="16200000" swAng="-5400000"/>
                <a:close/>
              </a:path>
            </a:pathLst>
          </a:custGeom>
          <a:solidFill>
            <a:srgbClr val="1F7A45"/>
          </a:solidFill>
          <a:ln/>
        </p:spPr>
      </p:sp>
      <p:sp>
        <p:nvSpPr>
          <p:cNvPr id="21" name="Text 19"/>
          <p:cNvSpPr/>
          <p:nvPr/>
        </p:nvSpPr>
        <p:spPr>
          <a:xfrm>
            <a:off x="6337300" y="2150070"/>
            <a:ext cx="1350433"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7A45"/>
                </a:solidFill>
                <a:latin typeface="Prompt" pitchFamily="34" charset="0"/>
                <a:ea typeface="Prompt" pitchFamily="34" charset="-122"/>
                <a:cs typeface="Prompt" pitchFamily="34" charset="-120"/>
              </a:rPr>
              <a:t>T</a:t>
            </a:r>
            <a:endParaRPr lang="en-US" sz="3200" dirty="0"/>
          </a:p>
        </p:txBody>
      </p:sp>
      <p:sp>
        <p:nvSpPr>
          <p:cNvPr id="22" name="Text 20"/>
          <p:cNvSpPr/>
          <p:nvPr/>
        </p:nvSpPr>
        <p:spPr>
          <a:xfrm>
            <a:off x="6337300" y="2660585"/>
            <a:ext cx="135043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Tactics</a:t>
            </a:r>
            <a:endParaRPr lang="en-US" sz="1400" dirty="0"/>
          </a:p>
        </p:txBody>
      </p:sp>
      <p:sp>
        <p:nvSpPr>
          <p:cNvPr id="23" name="Text 21"/>
          <p:cNvSpPr/>
          <p:nvPr/>
        </p:nvSpPr>
        <p:spPr>
          <a:xfrm>
            <a:off x="6337300" y="2972991"/>
            <a:ext cx="135043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4Ps ↔ 4Cs · AIDA tools · Channels (L08)</a:t>
            </a:r>
            <a:endParaRPr lang="en-US" sz="1200" dirty="0"/>
          </a:p>
        </p:txBody>
      </p:sp>
      <p:sp>
        <p:nvSpPr>
          <p:cNvPr id="24" name="Shape 22"/>
          <p:cNvSpPr/>
          <p:nvPr/>
        </p:nvSpPr>
        <p:spPr>
          <a:xfrm>
            <a:off x="7941734" y="1921470"/>
            <a:ext cx="1655233" cy="3920530"/>
          </a:xfrm>
          <a:prstGeom prst="roundRect">
            <a:avLst>
              <a:gd name="adj" fmla="val 6905"/>
            </a:avLst>
          </a:prstGeom>
          <a:solidFill>
            <a:srgbClr val="FDFDFB"/>
          </a:solidFill>
          <a:ln/>
        </p:spPr>
      </p:sp>
      <p:sp>
        <p:nvSpPr>
          <p:cNvPr id="25" name="Shape 23"/>
          <p:cNvSpPr/>
          <p:nvPr/>
        </p:nvSpPr>
        <p:spPr>
          <a:xfrm>
            <a:off x="7941734" y="1921470"/>
            <a:ext cx="1655233" cy="3920530"/>
          </a:xfrm>
          <a:custGeom>
            <a:avLst/>
            <a:gdLst/>
            <a:ahLst/>
            <a:cxnLst/>
            <a:rect l="l" t="t" r="r" b="b"/>
            <a:pathLst>
              <a:path w="1655233" h="3920530">
                <a:moveTo>
                  <a:pt x="0" y="114300"/>
                </a:moveTo>
                <a:lnTo>
                  <a:pt x="0" y="114300"/>
                </a:lnTo>
                <a:arcTo hR="114300" wR="114300" stAng="10800000" swAng="5400000"/>
                <a:lnTo>
                  <a:pt x="1540933" y="0"/>
                </a:lnTo>
                <a:arcTo hR="114300" wR="114300" stAng="16200000" swAng="5400000"/>
                <a:lnTo>
                  <a:pt x="1655233" y="114300"/>
                </a:lnTo>
                <a:arcTo hR="63500" wR="114300" stAng="0" swAng="-5400000"/>
                <a:lnTo>
                  <a:pt x="114300" y="50800"/>
                </a:lnTo>
                <a:arcTo hR="63500" wR="114300" stAng="16200000" swAng="-5400000"/>
                <a:close/>
              </a:path>
            </a:pathLst>
          </a:custGeom>
          <a:solidFill>
            <a:srgbClr val="1F7A45"/>
          </a:solidFill>
          <a:ln/>
        </p:spPr>
      </p:sp>
      <p:sp>
        <p:nvSpPr>
          <p:cNvPr id="26" name="Text 24"/>
          <p:cNvSpPr/>
          <p:nvPr/>
        </p:nvSpPr>
        <p:spPr>
          <a:xfrm>
            <a:off x="8119534" y="2150070"/>
            <a:ext cx="1350433"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7A45"/>
                </a:solidFill>
                <a:latin typeface="Prompt" pitchFamily="34" charset="0"/>
                <a:ea typeface="Prompt" pitchFamily="34" charset="-122"/>
                <a:cs typeface="Prompt" pitchFamily="34" charset="-120"/>
              </a:rPr>
              <a:t>A</a:t>
            </a:r>
            <a:endParaRPr lang="en-US" sz="3200" dirty="0"/>
          </a:p>
        </p:txBody>
      </p:sp>
      <p:sp>
        <p:nvSpPr>
          <p:cNvPr id="27" name="Text 25"/>
          <p:cNvSpPr/>
          <p:nvPr/>
        </p:nvSpPr>
        <p:spPr>
          <a:xfrm>
            <a:off x="8119534" y="2660585"/>
            <a:ext cx="135043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Actions</a:t>
            </a:r>
            <a:endParaRPr lang="en-US" sz="1400" dirty="0"/>
          </a:p>
        </p:txBody>
      </p:sp>
      <p:sp>
        <p:nvSpPr>
          <p:cNvPr id="28" name="Text 26"/>
          <p:cNvSpPr/>
          <p:nvPr/>
        </p:nvSpPr>
        <p:spPr>
          <a:xfrm>
            <a:off x="8119534" y="2972991"/>
            <a:ext cx="135043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Roadmap · Cross-functional · NPV/Payback (L06)</a:t>
            </a:r>
            <a:endParaRPr lang="en-US" sz="1200" dirty="0"/>
          </a:p>
        </p:txBody>
      </p:sp>
      <p:sp>
        <p:nvSpPr>
          <p:cNvPr id="29" name="Shape 27"/>
          <p:cNvSpPr/>
          <p:nvPr/>
        </p:nvSpPr>
        <p:spPr>
          <a:xfrm>
            <a:off x="9723967" y="1921470"/>
            <a:ext cx="1655233" cy="3920530"/>
          </a:xfrm>
          <a:prstGeom prst="roundRect">
            <a:avLst>
              <a:gd name="adj" fmla="val 6905"/>
            </a:avLst>
          </a:prstGeom>
          <a:solidFill>
            <a:srgbClr val="FDFDFB"/>
          </a:solidFill>
          <a:ln/>
        </p:spPr>
      </p:sp>
      <p:sp>
        <p:nvSpPr>
          <p:cNvPr id="30" name="Shape 28"/>
          <p:cNvSpPr/>
          <p:nvPr/>
        </p:nvSpPr>
        <p:spPr>
          <a:xfrm>
            <a:off x="9723967" y="1921470"/>
            <a:ext cx="1655233" cy="3920530"/>
          </a:xfrm>
          <a:custGeom>
            <a:avLst/>
            <a:gdLst/>
            <a:ahLst/>
            <a:cxnLst/>
            <a:rect l="l" t="t" r="r" b="b"/>
            <a:pathLst>
              <a:path w="1655233" h="3920530">
                <a:moveTo>
                  <a:pt x="0" y="114300"/>
                </a:moveTo>
                <a:lnTo>
                  <a:pt x="0" y="114300"/>
                </a:lnTo>
                <a:arcTo hR="114300" wR="114300" stAng="10800000" swAng="5400000"/>
                <a:lnTo>
                  <a:pt x="1540933" y="0"/>
                </a:lnTo>
                <a:arcTo hR="114300" wR="114300" stAng="16200000" swAng="5400000"/>
                <a:lnTo>
                  <a:pt x="1655233" y="114300"/>
                </a:lnTo>
                <a:arcTo hR="63500" wR="114300" stAng="0" swAng="-5400000"/>
                <a:lnTo>
                  <a:pt x="114300" y="50800"/>
                </a:lnTo>
                <a:arcTo hR="63500" wR="114300" stAng="16200000" swAng="-5400000"/>
                <a:close/>
              </a:path>
            </a:pathLst>
          </a:custGeom>
          <a:solidFill>
            <a:srgbClr val="1F7A45"/>
          </a:solidFill>
          <a:ln/>
        </p:spPr>
      </p:sp>
      <p:sp>
        <p:nvSpPr>
          <p:cNvPr id="31" name="Text 29"/>
          <p:cNvSpPr/>
          <p:nvPr/>
        </p:nvSpPr>
        <p:spPr>
          <a:xfrm>
            <a:off x="9901767" y="2150070"/>
            <a:ext cx="1350433"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F7A45"/>
                </a:solidFill>
                <a:latin typeface="Prompt" pitchFamily="34" charset="0"/>
                <a:ea typeface="Prompt" pitchFamily="34" charset="-122"/>
                <a:cs typeface="Prompt" pitchFamily="34" charset="-120"/>
              </a:rPr>
              <a:t>C</a:t>
            </a:r>
            <a:endParaRPr lang="en-US" sz="3200" dirty="0"/>
          </a:p>
        </p:txBody>
      </p:sp>
      <p:sp>
        <p:nvSpPr>
          <p:cNvPr id="32" name="Text 30"/>
          <p:cNvSpPr/>
          <p:nvPr/>
        </p:nvSpPr>
        <p:spPr>
          <a:xfrm>
            <a:off x="9901767" y="2660585"/>
            <a:ext cx="135043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Control</a:t>
            </a:r>
            <a:endParaRPr lang="en-US" sz="1400" dirty="0"/>
          </a:p>
        </p:txBody>
      </p:sp>
      <p:sp>
        <p:nvSpPr>
          <p:cNvPr id="33" name="Text 31"/>
          <p:cNvSpPr/>
          <p:nvPr/>
        </p:nvSpPr>
        <p:spPr>
          <a:xfrm>
            <a:off x="9901767" y="2972991"/>
            <a:ext cx="135043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KPI Dashboard · CLV vs CAC (L08)</a:t>
            </a:r>
            <a:endParaRPr lang="en-US" sz="1200" dirty="0"/>
          </a:p>
        </p:txBody>
      </p:sp>
      <p:sp>
        <p:nvSpPr>
          <p:cNvPr id="34" name="Text 3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35" name="Text 3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04 / 18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บริบทเชิงกลยุทธ์ · L06 P.3, 8</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เริ่มจากกลยุทธ์ ไม่ใช่เริ่มจากเทคโนโลยี</a:t>
            </a:r>
            <a:endParaRPr lang="en-US" sz="3000" dirty="0"/>
          </a:p>
        </p:txBody>
      </p:sp>
      <p:sp>
        <p:nvSpPr>
          <p:cNvPr id="4" name="Shape 2"/>
          <p:cNvSpPr/>
          <p:nvPr/>
        </p:nvSpPr>
        <p:spPr>
          <a:xfrm>
            <a:off x="819150" y="1877020"/>
            <a:ext cx="10553700" cy="541007"/>
          </a:xfrm>
          <a:prstGeom prst="roundRect">
            <a:avLst>
              <a:gd name="adj" fmla="val 15259"/>
            </a:avLst>
          </a:prstGeom>
          <a:noFill/>
          <a:ln w="12700">
            <a:solidFill>
              <a:srgbClr val="DDE3DA"/>
            </a:solidFill>
            <a:prstDash val="solid"/>
          </a:ln>
        </p:spPr>
      </p:sp>
      <p:sp>
        <p:nvSpPr>
          <p:cNvPr id="5" name="Text 3"/>
          <p:cNvSpPr/>
          <p:nvPr/>
        </p:nvSpPr>
        <p:spPr>
          <a:xfrm>
            <a:off x="825500" y="1883370"/>
            <a:ext cx="2413000" cy="528307"/>
          </a:xfrm>
          <a:custGeom>
            <a:avLst/>
            <a:gdLst/>
            <a:ahLst/>
            <a:cxnLst/>
            <a:rect l="l" t="t" r="r" b="b"/>
            <a:pathLst>
              <a:path w="2413000" h="528307">
                <a:moveTo>
                  <a:pt x="0" y="76200"/>
                </a:moveTo>
                <a:arcTo hR="76200" wR="76200" stAng="10800000" swAng="5400000"/>
                <a:lnTo>
                  <a:pt x="2413000" y="0"/>
                </a:lnTo>
                <a:lnTo>
                  <a:pt x="2413000" y="528307"/>
                </a:lnTo>
                <a:lnTo>
                  <a:pt x="76200" y="528307"/>
                </a:lnTo>
                <a:arcTo hR="76200" wR="76200" stAng="5400000" swAng="5400000"/>
                <a:close/>
              </a:path>
            </a:pathLst>
          </a:custGeom>
          <a:solidFill>
            <a:srgbClr val="14213D"/>
          </a:solidFill>
          <a:ln/>
        </p:spPr>
        <p:txBody>
          <a:bodyPr wrap="square" lIns="177800" tIns="139700" rIns="116078" bIns="114300"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Corporate</a:t>
            </a:r>
            <a:endParaRPr lang="en-US" sz="1400" dirty="0"/>
          </a:p>
        </p:txBody>
      </p:sp>
      <p:sp>
        <p:nvSpPr>
          <p:cNvPr id="6" name="Text 4"/>
          <p:cNvSpPr/>
          <p:nvPr/>
        </p:nvSpPr>
        <p:spPr>
          <a:xfrm>
            <a:off x="3238500" y="1883370"/>
            <a:ext cx="8128000" cy="528307"/>
          </a:xfrm>
          <a:custGeom>
            <a:avLst/>
            <a:gdLst/>
            <a:ahLst/>
            <a:cxnLst/>
            <a:rect l="l" t="t" r="r" b="b"/>
            <a:pathLst>
              <a:path w="8128000" h="528307">
                <a:moveTo>
                  <a:pt x="8051800" y="0"/>
                </a:moveTo>
                <a:arcTo hR="76200" wR="76200" stAng="16200000" swAng="5400000"/>
                <a:lnTo>
                  <a:pt x="8128000" y="452107"/>
                </a:lnTo>
                <a:arcTo hR="76200" wR="76200" stAng="0" swAng="5400000"/>
                <a:lnTo>
                  <a:pt x="0" y="528307"/>
                </a:lnTo>
                <a:lnTo>
                  <a:pt x="0" y="0"/>
                </a:lnTo>
                <a:close/>
              </a:path>
            </a:pathLst>
          </a:custGeom>
          <a:solidFill>
            <a:srgbClr val="FDFDFB"/>
          </a:solidFill>
          <a:ln/>
        </p:spPr>
        <p:txBody>
          <a:bodyPr wrap="square" lIns="177800" tIns="139700" rIns="0" bIns="114300"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เติบโตเป็นแบรนด์ D2C ไทย ด้วยประสบการณ์ลูกค้าแบบ personal ที่ขยายขนาดได้</a:t>
            </a:r>
            <a:endParaRPr lang="en-US" sz="1300" dirty="0"/>
          </a:p>
        </p:txBody>
      </p:sp>
      <p:sp>
        <p:nvSpPr>
          <p:cNvPr id="7" name="Shape 5"/>
          <p:cNvSpPr/>
          <p:nvPr/>
        </p:nvSpPr>
        <p:spPr>
          <a:xfrm>
            <a:off x="819150" y="2506929"/>
            <a:ext cx="10553700" cy="541007"/>
          </a:xfrm>
          <a:prstGeom prst="roundRect">
            <a:avLst>
              <a:gd name="adj" fmla="val 15259"/>
            </a:avLst>
          </a:prstGeom>
          <a:noFill/>
          <a:ln w="12700">
            <a:solidFill>
              <a:srgbClr val="DDE3DA"/>
            </a:solidFill>
            <a:prstDash val="solid"/>
          </a:ln>
        </p:spPr>
      </p:sp>
      <p:sp>
        <p:nvSpPr>
          <p:cNvPr id="8" name="Text 6"/>
          <p:cNvSpPr/>
          <p:nvPr/>
        </p:nvSpPr>
        <p:spPr>
          <a:xfrm>
            <a:off x="825500" y="2513279"/>
            <a:ext cx="2413000" cy="528307"/>
          </a:xfrm>
          <a:custGeom>
            <a:avLst/>
            <a:gdLst/>
            <a:ahLst/>
            <a:cxnLst/>
            <a:rect l="l" t="t" r="r" b="b"/>
            <a:pathLst>
              <a:path w="2413000" h="528307">
                <a:moveTo>
                  <a:pt x="0" y="76200"/>
                </a:moveTo>
                <a:arcTo hR="76200" wR="76200" stAng="10800000" swAng="5400000"/>
                <a:lnTo>
                  <a:pt x="2413000" y="0"/>
                </a:lnTo>
                <a:lnTo>
                  <a:pt x="2413000" y="528307"/>
                </a:lnTo>
                <a:lnTo>
                  <a:pt x="76200" y="528307"/>
                </a:lnTo>
                <a:arcTo hR="76200" wR="76200" stAng="5400000" swAng="5400000"/>
                <a:close/>
              </a:path>
            </a:pathLst>
          </a:custGeom>
          <a:solidFill>
            <a:srgbClr val="2B3A5C"/>
          </a:solidFill>
          <a:ln/>
        </p:spPr>
        <p:txBody>
          <a:bodyPr wrap="square" lIns="177800" tIns="139700" rIns="116078" bIns="114300"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Business</a:t>
            </a:r>
            <a:endParaRPr lang="en-US" sz="1400" dirty="0"/>
          </a:p>
        </p:txBody>
      </p:sp>
      <p:sp>
        <p:nvSpPr>
          <p:cNvPr id="9" name="Text 7"/>
          <p:cNvSpPr/>
          <p:nvPr/>
        </p:nvSpPr>
        <p:spPr>
          <a:xfrm>
            <a:off x="3238500" y="2513279"/>
            <a:ext cx="8128000" cy="528307"/>
          </a:xfrm>
          <a:custGeom>
            <a:avLst/>
            <a:gdLst/>
            <a:ahLst/>
            <a:cxnLst/>
            <a:rect l="l" t="t" r="r" b="b"/>
            <a:pathLst>
              <a:path w="8128000" h="528307">
                <a:moveTo>
                  <a:pt x="8051800" y="0"/>
                </a:moveTo>
                <a:arcTo hR="76200" wR="76200" stAng="16200000" swAng="5400000"/>
                <a:lnTo>
                  <a:pt x="8128000" y="452107"/>
                </a:lnTo>
                <a:arcTo hR="76200" wR="76200" stAng="0" swAng="5400000"/>
                <a:lnTo>
                  <a:pt x="0" y="528307"/>
                </a:lnTo>
                <a:lnTo>
                  <a:pt x="0" y="0"/>
                </a:lnTo>
                <a:close/>
              </a:path>
            </a:pathLst>
          </a:custGeom>
          <a:solidFill>
            <a:srgbClr val="FDFDFB"/>
          </a:solidFill>
          <a:ln/>
        </p:spPr>
        <p:txBody>
          <a:bodyPr wrap="square" lIns="177800" tIns="139700" rIns="0" bIns="114300"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Differentiation ด้วยคำแนะนำส่วนตัว 24/7 แทนการแข่งราคาบน marketplace</a:t>
            </a:r>
            <a:endParaRPr lang="en-US" sz="1300" dirty="0"/>
          </a:p>
        </p:txBody>
      </p:sp>
      <p:sp>
        <p:nvSpPr>
          <p:cNvPr id="10" name="Shape 8"/>
          <p:cNvSpPr/>
          <p:nvPr/>
        </p:nvSpPr>
        <p:spPr>
          <a:xfrm>
            <a:off x="819150" y="3136835"/>
            <a:ext cx="10553700" cy="541007"/>
          </a:xfrm>
          <a:prstGeom prst="roundRect">
            <a:avLst>
              <a:gd name="adj" fmla="val 15259"/>
            </a:avLst>
          </a:prstGeom>
          <a:noFill/>
          <a:ln w="12700">
            <a:solidFill>
              <a:srgbClr val="1F7A45"/>
            </a:solidFill>
            <a:prstDash val="solid"/>
          </a:ln>
        </p:spPr>
      </p:sp>
      <p:sp>
        <p:nvSpPr>
          <p:cNvPr id="11" name="Text 9"/>
          <p:cNvSpPr/>
          <p:nvPr/>
        </p:nvSpPr>
        <p:spPr>
          <a:xfrm>
            <a:off x="825500" y="3143185"/>
            <a:ext cx="2413000" cy="528307"/>
          </a:xfrm>
          <a:custGeom>
            <a:avLst/>
            <a:gdLst/>
            <a:ahLst/>
            <a:cxnLst/>
            <a:rect l="l" t="t" r="r" b="b"/>
            <a:pathLst>
              <a:path w="2413000" h="528307">
                <a:moveTo>
                  <a:pt x="0" y="76200"/>
                </a:moveTo>
                <a:arcTo hR="76200" wR="76200" stAng="10800000" swAng="5400000"/>
                <a:lnTo>
                  <a:pt x="2413000" y="0"/>
                </a:lnTo>
                <a:lnTo>
                  <a:pt x="2413000" y="528307"/>
                </a:lnTo>
                <a:lnTo>
                  <a:pt x="76200" y="528307"/>
                </a:lnTo>
                <a:arcTo hR="76200" wR="76200" stAng="5400000" swAng="5400000"/>
                <a:close/>
              </a:path>
            </a:pathLst>
          </a:custGeom>
          <a:solidFill>
            <a:srgbClr val="1F7A45"/>
          </a:solidFill>
          <a:ln/>
        </p:spPr>
        <p:txBody>
          <a:bodyPr wrap="square" lIns="177800" tIns="139700" rIns="116078" bIns="114300"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Functional</a:t>
            </a:r>
            <a:endParaRPr lang="en-US" sz="1400" dirty="0"/>
          </a:p>
        </p:txBody>
      </p:sp>
      <p:sp>
        <p:nvSpPr>
          <p:cNvPr id="12" name="Text 10"/>
          <p:cNvSpPr/>
          <p:nvPr/>
        </p:nvSpPr>
        <p:spPr>
          <a:xfrm>
            <a:off x="3238500" y="3143185"/>
            <a:ext cx="8128000" cy="528307"/>
          </a:xfrm>
          <a:custGeom>
            <a:avLst/>
            <a:gdLst/>
            <a:ahLst/>
            <a:cxnLst/>
            <a:rect l="l" t="t" r="r" b="b"/>
            <a:pathLst>
              <a:path w="8128000" h="528307">
                <a:moveTo>
                  <a:pt x="8051800" y="0"/>
                </a:moveTo>
                <a:arcTo hR="76200" wR="76200" stAng="16200000" swAng="5400000"/>
                <a:lnTo>
                  <a:pt x="8128000" y="452107"/>
                </a:lnTo>
                <a:arcTo hR="76200" wR="76200" stAng="0" swAng="5400000"/>
                <a:lnTo>
                  <a:pt x="0" y="528307"/>
                </a:lnTo>
                <a:lnTo>
                  <a:pt x="0" y="0"/>
                </a:lnTo>
                <a:close/>
              </a:path>
            </a:pathLst>
          </a:custGeom>
          <a:solidFill>
            <a:srgbClr val="FDFDFB"/>
          </a:solidFill>
          <a:ln/>
        </p:spPr>
        <p:txBody>
          <a:bodyPr wrap="square" lIns="177800" tIns="139700" rIns="0" bIns="114300"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Marketing · Sales · Operations · IT/Digital · HR · Finance ทำงานร่วมกันผ่าน AI agent</a:t>
            </a:r>
            <a:endParaRPr lang="en-US" sz="1300" dirty="0"/>
          </a:p>
        </p:txBody>
      </p:sp>
      <p:sp>
        <p:nvSpPr>
          <p:cNvPr id="13" name="Shape 11"/>
          <p:cNvSpPr/>
          <p:nvPr/>
        </p:nvSpPr>
        <p:spPr>
          <a:xfrm>
            <a:off x="819150" y="3766741"/>
            <a:ext cx="10553700" cy="541007"/>
          </a:xfrm>
          <a:prstGeom prst="roundRect">
            <a:avLst>
              <a:gd name="adj" fmla="val 15259"/>
            </a:avLst>
          </a:prstGeom>
          <a:noFill/>
          <a:ln w="12700">
            <a:solidFill>
              <a:srgbClr val="DDE3DA"/>
            </a:solidFill>
            <a:prstDash val="solid"/>
          </a:ln>
        </p:spPr>
      </p:sp>
      <p:sp>
        <p:nvSpPr>
          <p:cNvPr id="14" name="Text 12"/>
          <p:cNvSpPr/>
          <p:nvPr/>
        </p:nvSpPr>
        <p:spPr>
          <a:xfrm>
            <a:off x="825500" y="3773091"/>
            <a:ext cx="2413000" cy="528307"/>
          </a:xfrm>
          <a:custGeom>
            <a:avLst/>
            <a:gdLst/>
            <a:ahLst/>
            <a:cxnLst/>
            <a:rect l="l" t="t" r="r" b="b"/>
            <a:pathLst>
              <a:path w="2413000" h="528307">
                <a:moveTo>
                  <a:pt x="0" y="76200"/>
                </a:moveTo>
                <a:arcTo hR="76200" wR="76200" stAng="10800000" swAng="5400000"/>
                <a:lnTo>
                  <a:pt x="2413000" y="0"/>
                </a:lnTo>
                <a:lnTo>
                  <a:pt x="2413000" y="528307"/>
                </a:lnTo>
                <a:lnTo>
                  <a:pt x="76200" y="528307"/>
                </a:lnTo>
                <a:arcTo hR="76200" wR="76200" stAng="5400000" swAng="5400000"/>
                <a:close/>
              </a:path>
            </a:pathLst>
          </a:custGeom>
          <a:solidFill>
            <a:srgbClr val="4A5568"/>
          </a:solidFill>
          <a:ln/>
        </p:spPr>
        <p:txBody>
          <a:bodyPr wrap="square" lIns="177800" tIns="139700" rIns="116078" bIns="114300"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Action Plans</a:t>
            </a:r>
            <a:endParaRPr lang="en-US" sz="1400" dirty="0"/>
          </a:p>
        </p:txBody>
      </p:sp>
      <p:sp>
        <p:nvSpPr>
          <p:cNvPr id="15" name="Text 13"/>
          <p:cNvSpPr/>
          <p:nvPr/>
        </p:nvSpPr>
        <p:spPr>
          <a:xfrm>
            <a:off x="3238500" y="3773091"/>
            <a:ext cx="8128000" cy="528307"/>
          </a:xfrm>
          <a:custGeom>
            <a:avLst/>
            <a:gdLst/>
            <a:ahLst/>
            <a:cxnLst/>
            <a:rect l="l" t="t" r="r" b="b"/>
            <a:pathLst>
              <a:path w="8128000" h="528307">
                <a:moveTo>
                  <a:pt x="8051800" y="0"/>
                </a:moveTo>
                <a:arcTo hR="76200" wR="76200" stAng="16200000" swAng="5400000"/>
                <a:lnTo>
                  <a:pt x="8128000" y="452107"/>
                </a:lnTo>
                <a:arcTo hR="76200" wR="76200" stAng="0" swAng="5400000"/>
                <a:lnTo>
                  <a:pt x="0" y="528307"/>
                </a:lnTo>
                <a:lnTo>
                  <a:pt x="0" y="0"/>
                </a:lnTo>
                <a:close/>
              </a:path>
            </a:pathLst>
          </a:custGeom>
          <a:solidFill>
            <a:srgbClr val="FDFDFB"/>
          </a:solidFill>
          <a:ln/>
        </p:spPr>
        <p:txBody>
          <a:bodyPr wrap="square" lIns="177800" tIns="139700" rIns="0" bIns="114300"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Projects · owners · budgets · timelines · KPIs</a:t>
            </a:r>
            <a:endParaRPr lang="en-US" sz="1300" dirty="0"/>
          </a:p>
        </p:txBody>
      </p:sp>
      <p:sp>
        <p:nvSpPr>
          <p:cNvPr id="16" name="Text 14"/>
          <p:cNvSpPr/>
          <p:nvPr/>
        </p:nvSpPr>
        <p:spPr>
          <a:xfrm>
            <a:off x="812800" y="4517299"/>
            <a:ext cx="5207000" cy="485114"/>
          </a:xfrm>
          <a:prstGeom prst="roundRect">
            <a:avLst>
              <a:gd name="adj" fmla="val 18326"/>
            </a:avLst>
          </a:prstGeom>
          <a:solidFill>
            <a:srgbClr val="E3EAE1"/>
          </a:solidFill>
          <a:ln/>
        </p:spPr>
        <p:txBody>
          <a:bodyPr wrap="square" lIns="151762" tIns="100962" rIns="6220" bIns="75562"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Vertical alignment:</a:t>
            </a:r>
            <a:r>
              <a:rPr lang="en-US" sz="1300" dirty="0">
                <a:solidFill>
                  <a:srgbClr val="14213D"/>
                </a:solidFill>
                <a:latin typeface="IBM Plex Sans Thai" pitchFamily="34" charset="0"/>
                <a:ea typeface="IBM Plex Sans Thai" pitchFamily="34" charset="-122"/>
                <a:cs typeface="IBM Plex Sans Thai" pitchFamily="34" charset="-120"/>
              </a:rPr>
              <a:t> KPI ของ agent ต้องโยงถึงเป้าธุรกิจ</a:t>
            </a:r>
            <a:endParaRPr lang="en-US" sz="1300" dirty="0"/>
          </a:p>
        </p:txBody>
      </p:sp>
      <p:sp>
        <p:nvSpPr>
          <p:cNvPr id="17" name="Text 15"/>
          <p:cNvSpPr/>
          <p:nvPr/>
        </p:nvSpPr>
        <p:spPr>
          <a:xfrm>
            <a:off x="6172200" y="4517299"/>
            <a:ext cx="5207000" cy="485114"/>
          </a:xfrm>
          <a:prstGeom prst="roundRect">
            <a:avLst>
              <a:gd name="adj" fmla="val 18326"/>
            </a:avLst>
          </a:prstGeom>
          <a:solidFill>
            <a:srgbClr val="E3EAE1"/>
          </a:solidFill>
          <a:ln/>
        </p:spPr>
        <p:txBody>
          <a:bodyPr wrap="square" lIns="151762" tIns="100962" rIns="6220" bIns="75562"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Horizontal alignment:</a:t>
            </a:r>
            <a:r>
              <a:rPr lang="en-US" sz="1300" dirty="0">
                <a:solidFill>
                  <a:srgbClr val="14213D"/>
                </a:solidFill>
                <a:latin typeface="IBM Plex Sans Thai" pitchFamily="34" charset="0"/>
                <a:ea typeface="IBM Plex Sans Thai" pitchFamily="34" charset="-122"/>
                <a:cs typeface="IBM Plex Sans Thai" pitchFamily="34" charset="-120"/>
              </a:rPr>
              <a:t> ป้องกัน silo เช่น agent ขายของที่หมดสต็อก</a:t>
            </a:r>
            <a:endParaRPr lang="en-US" sz="13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05 / 18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S · SITUATION · PESTEL (L07 P.71)</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บริบทเอื้อ แต่กฎหมายและความเชื่อมั่นคือเงื่อนไข</a:t>
            </a:r>
            <a:endParaRPr lang="en-US" sz="3000" dirty="0"/>
          </a:p>
        </p:txBody>
      </p:sp>
      <p:sp>
        <p:nvSpPr>
          <p:cNvPr id="4" name="Shape 2"/>
          <p:cNvSpPr/>
          <p:nvPr/>
        </p:nvSpPr>
        <p:spPr>
          <a:xfrm>
            <a:off x="819150" y="1877020"/>
            <a:ext cx="3424767" cy="1043847"/>
          </a:xfrm>
          <a:prstGeom prst="roundRect">
            <a:avLst>
              <a:gd name="adj" fmla="val 9125"/>
            </a:avLst>
          </a:prstGeom>
          <a:solidFill>
            <a:srgbClr val="FDFDFB"/>
          </a:solidFill>
          <a:ln w="12700">
            <a:solidFill>
              <a:srgbClr val="DDE3DA"/>
            </a:solidFill>
            <a:prstDash val="solid"/>
          </a:ln>
        </p:spPr>
      </p:sp>
      <p:sp>
        <p:nvSpPr>
          <p:cNvPr id="5" name="Text 3"/>
          <p:cNvSpPr/>
          <p:nvPr/>
        </p:nvSpPr>
        <p:spPr>
          <a:xfrm>
            <a:off x="1003300" y="2035770"/>
            <a:ext cx="314816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45"/>
                </a:solidFill>
                <a:latin typeface="IBM Plex Sans Thai" pitchFamily="34" charset="0"/>
                <a:ea typeface="IBM Plex Sans Thai" pitchFamily="34" charset="-122"/>
                <a:cs typeface="IBM Plex Sans Thai" pitchFamily="34" charset="-120"/>
              </a:rPr>
              <a:t>P · Political</a:t>
            </a:r>
            <a:endParaRPr lang="en-US" sz="1400" dirty="0"/>
          </a:p>
        </p:txBody>
      </p:sp>
      <p:sp>
        <p:nvSpPr>
          <p:cNvPr id="6" name="Text 4"/>
          <p:cNvSpPr/>
          <p:nvPr/>
        </p:nvSpPr>
        <p:spPr>
          <a:xfrm>
            <a:off x="1003300" y="2335479"/>
            <a:ext cx="32342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C"/>
                </a:solidFill>
                <a:latin typeface="IBM Plex Sans Thai" pitchFamily="34" charset="0"/>
                <a:ea typeface="IBM Plex Sans Thai" pitchFamily="34" charset="-122"/>
                <a:cs typeface="IBM Plex Sans Thai" pitchFamily="34" charset="-120"/>
              </a:rPr>
              <a:t>รัฐส่งเสริม digital economy และ AI สำหรับ SME</a:t>
            </a:r>
            <a:endParaRPr lang="en-US" sz="1200" dirty="0"/>
          </a:p>
        </p:txBody>
      </p:sp>
      <p:sp>
        <p:nvSpPr>
          <p:cNvPr id="7" name="Shape 5"/>
          <p:cNvSpPr/>
          <p:nvPr/>
        </p:nvSpPr>
        <p:spPr>
          <a:xfrm>
            <a:off x="4383617" y="1877020"/>
            <a:ext cx="3424767" cy="1043847"/>
          </a:xfrm>
          <a:prstGeom prst="roundRect">
            <a:avLst>
              <a:gd name="adj" fmla="val 9125"/>
            </a:avLst>
          </a:prstGeom>
          <a:solidFill>
            <a:srgbClr val="FDFDFB"/>
          </a:solidFill>
          <a:ln w="12700">
            <a:solidFill>
              <a:srgbClr val="DDE3DA"/>
            </a:solidFill>
            <a:prstDash val="solid"/>
          </a:ln>
        </p:spPr>
      </p:sp>
      <p:sp>
        <p:nvSpPr>
          <p:cNvPr id="8" name="Text 6"/>
          <p:cNvSpPr/>
          <p:nvPr/>
        </p:nvSpPr>
        <p:spPr>
          <a:xfrm>
            <a:off x="4567767" y="2035770"/>
            <a:ext cx="314816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45"/>
                </a:solidFill>
                <a:latin typeface="IBM Plex Sans Thai" pitchFamily="34" charset="0"/>
                <a:ea typeface="IBM Plex Sans Thai" pitchFamily="34" charset="-122"/>
                <a:cs typeface="IBM Plex Sans Thai" pitchFamily="34" charset="-120"/>
              </a:rPr>
              <a:t>E · Economic</a:t>
            </a:r>
            <a:endParaRPr lang="en-US" sz="1400" dirty="0"/>
          </a:p>
        </p:txBody>
      </p:sp>
      <p:sp>
        <p:nvSpPr>
          <p:cNvPr id="9" name="Text 7"/>
          <p:cNvSpPr/>
          <p:nvPr/>
        </p:nvSpPr>
        <p:spPr>
          <a:xfrm>
            <a:off x="4567767" y="2335479"/>
            <a:ext cx="31481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C"/>
                </a:solidFill>
                <a:latin typeface="IBM Plex Sans Thai" pitchFamily="34" charset="0"/>
                <a:ea typeface="IBM Plex Sans Thai" pitchFamily="34" charset="-122"/>
                <a:cs typeface="IBM Plex Sans Thai" pitchFamily="34" charset="-120"/>
              </a:rPr>
              <a:t>ต้นทุนแอดมินและค่าโฆษณาสูงขึ้น chat commerce โต ~19% ต่อปี</a:t>
            </a:r>
            <a:endParaRPr lang="en-US" sz="1200" dirty="0"/>
          </a:p>
        </p:txBody>
      </p:sp>
      <p:sp>
        <p:nvSpPr>
          <p:cNvPr id="10" name="Shape 8"/>
          <p:cNvSpPr/>
          <p:nvPr/>
        </p:nvSpPr>
        <p:spPr>
          <a:xfrm>
            <a:off x="7948084" y="1877020"/>
            <a:ext cx="3424767" cy="1043847"/>
          </a:xfrm>
          <a:prstGeom prst="roundRect">
            <a:avLst>
              <a:gd name="adj" fmla="val 9125"/>
            </a:avLst>
          </a:prstGeom>
          <a:solidFill>
            <a:srgbClr val="FDFDFB"/>
          </a:solidFill>
          <a:ln w="12700">
            <a:solidFill>
              <a:srgbClr val="DDE3DA"/>
            </a:solidFill>
            <a:prstDash val="solid"/>
          </a:ln>
        </p:spPr>
      </p:sp>
      <p:sp>
        <p:nvSpPr>
          <p:cNvPr id="11" name="Text 9"/>
          <p:cNvSpPr/>
          <p:nvPr/>
        </p:nvSpPr>
        <p:spPr>
          <a:xfrm>
            <a:off x="8132234" y="2035770"/>
            <a:ext cx="314816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45"/>
                </a:solidFill>
                <a:latin typeface="IBM Plex Sans Thai" pitchFamily="34" charset="0"/>
                <a:ea typeface="IBM Plex Sans Thai" pitchFamily="34" charset="-122"/>
                <a:cs typeface="IBM Plex Sans Thai" pitchFamily="34" charset="-120"/>
              </a:rPr>
              <a:t>S · Social</a:t>
            </a:r>
            <a:endParaRPr lang="en-US" sz="1400" dirty="0"/>
          </a:p>
        </p:txBody>
      </p:sp>
      <p:sp>
        <p:nvSpPr>
          <p:cNvPr id="12" name="Text 10"/>
          <p:cNvSpPr/>
          <p:nvPr/>
        </p:nvSpPr>
        <p:spPr>
          <a:xfrm>
            <a:off x="8132234" y="2335479"/>
            <a:ext cx="31481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C"/>
                </a:solidFill>
                <a:latin typeface="IBM Plex Sans Thai" pitchFamily="34" charset="0"/>
                <a:ea typeface="IBM Plex Sans Thai" pitchFamily="34" charset="-122"/>
                <a:cs typeface="IBM Plex Sans Thai" pitchFamily="34" charset="-120"/>
              </a:rPr>
              <a:t>ชอบคุยก่อนซื้อ ใช้สแลง คาดหวังคำตอบทันที</a:t>
            </a:r>
            <a:endParaRPr lang="en-US" sz="1200" dirty="0"/>
          </a:p>
        </p:txBody>
      </p:sp>
      <p:sp>
        <p:nvSpPr>
          <p:cNvPr id="13" name="Shape 11"/>
          <p:cNvSpPr/>
          <p:nvPr/>
        </p:nvSpPr>
        <p:spPr>
          <a:xfrm>
            <a:off x="819150" y="3060570"/>
            <a:ext cx="3424767" cy="1043847"/>
          </a:xfrm>
          <a:prstGeom prst="roundRect">
            <a:avLst>
              <a:gd name="adj" fmla="val 9125"/>
            </a:avLst>
          </a:prstGeom>
          <a:solidFill>
            <a:srgbClr val="FDFDFB"/>
          </a:solidFill>
          <a:ln w="12700">
            <a:solidFill>
              <a:srgbClr val="DDE3DA"/>
            </a:solidFill>
            <a:prstDash val="solid"/>
          </a:ln>
        </p:spPr>
      </p:sp>
      <p:sp>
        <p:nvSpPr>
          <p:cNvPr id="14" name="Text 12"/>
          <p:cNvSpPr/>
          <p:nvPr/>
        </p:nvSpPr>
        <p:spPr>
          <a:xfrm>
            <a:off x="1003300" y="3219320"/>
            <a:ext cx="314816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45"/>
                </a:solidFill>
                <a:latin typeface="IBM Plex Sans Thai" pitchFamily="34" charset="0"/>
                <a:ea typeface="IBM Plex Sans Thai" pitchFamily="34" charset="-122"/>
                <a:cs typeface="IBM Plex Sans Thai" pitchFamily="34" charset="-120"/>
              </a:rPr>
              <a:t>T · Technological</a:t>
            </a:r>
            <a:endParaRPr lang="en-US" sz="1400" dirty="0"/>
          </a:p>
        </p:txBody>
      </p:sp>
      <p:sp>
        <p:nvSpPr>
          <p:cNvPr id="15" name="Text 13"/>
          <p:cNvSpPr/>
          <p:nvPr/>
        </p:nvSpPr>
        <p:spPr>
          <a:xfrm>
            <a:off x="1003300" y="3519026"/>
            <a:ext cx="31481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C"/>
                </a:solidFill>
                <a:latin typeface="IBM Plex Sans Thai" pitchFamily="34" charset="0"/>
                <a:ea typeface="IBM Plex Sans Thai" pitchFamily="34" charset="-122"/>
                <a:cs typeface="IBM Plex Sans Thai" pitchFamily="34" charset="-120"/>
              </a:rPr>
              <a:t>LLM เข้าใจภาษาไทยดีขึ้น ต้นทุนลดลง LINE มี Messaging API, LIFF</a:t>
            </a:r>
            <a:endParaRPr lang="en-US" sz="1200" dirty="0"/>
          </a:p>
        </p:txBody>
      </p:sp>
      <p:sp>
        <p:nvSpPr>
          <p:cNvPr id="16" name="Shape 14"/>
          <p:cNvSpPr/>
          <p:nvPr/>
        </p:nvSpPr>
        <p:spPr>
          <a:xfrm>
            <a:off x="4383617" y="3060570"/>
            <a:ext cx="3424767" cy="1043847"/>
          </a:xfrm>
          <a:prstGeom prst="roundRect">
            <a:avLst>
              <a:gd name="adj" fmla="val 9125"/>
            </a:avLst>
          </a:prstGeom>
          <a:solidFill>
            <a:srgbClr val="FDFDFB"/>
          </a:solidFill>
          <a:ln w="12700">
            <a:solidFill>
              <a:srgbClr val="DDE3DA"/>
            </a:solidFill>
            <a:prstDash val="solid"/>
          </a:ln>
        </p:spPr>
      </p:sp>
      <p:sp>
        <p:nvSpPr>
          <p:cNvPr id="17" name="Text 15"/>
          <p:cNvSpPr/>
          <p:nvPr/>
        </p:nvSpPr>
        <p:spPr>
          <a:xfrm>
            <a:off x="4567767" y="3219320"/>
            <a:ext cx="314816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45"/>
                </a:solidFill>
                <a:latin typeface="IBM Plex Sans Thai" pitchFamily="34" charset="0"/>
                <a:ea typeface="IBM Plex Sans Thai" pitchFamily="34" charset="-122"/>
                <a:cs typeface="IBM Plex Sans Thai" pitchFamily="34" charset="-120"/>
              </a:rPr>
              <a:t>E · Environmental</a:t>
            </a:r>
            <a:endParaRPr lang="en-US" sz="1400" dirty="0"/>
          </a:p>
        </p:txBody>
      </p:sp>
      <p:sp>
        <p:nvSpPr>
          <p:cNvPr id="18" name="Text 16"/>
          <p:cNvSpPr/>
          <p:nvPr/>
        </p:nvSpPr>
        <p:spPr>
          <a:xfrm>
            <a:off x="4567767" y="3519026"/>
            <a:ext cx="31481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C"/>
                </a:solidFill>
                <a:latin typeface="IBM Plex Sans Thai" pitchFamily="34" charset="0"/>
                <a:ea typeface="IBM Plex Sans Thai" pitchFamily="34" charset="-122"/>
                <a:cs typeface="IBM Plex Sans Thai" pitchFamily="34" charset="-120"/>
              </a:rPr>
              <a:t>ใบเสร็จดิจิทัล และ e-catalog ลดกระดาษ (ผลกระทบต่ำ)</a:t>
            </a:r>
            <a:endParaRPr lang="en-US" sz="1200" dirty="0"/>
          </a:p>
        </p:txBody>
      </p:sp>
      <p:sp>
        <p:nvSpPr>
          <p:cNvPr id="19" name="Shape 17"/>
          <p:cNvSpPr/>
          <p:nvPr/>
        </p:nvSpPr>
        <p:spPr>
          <a:xfrm>
            <a:off x="7948084" y="3060570"/>
            <a:ext cx="3424767" cy="1043847"/>
          </a:xfrm>
          <a:prstGeom prst="roundRect">
            <a:avLst>
              <a:gd name="adj" fmla="val 9125"/>
            </a:avLst>
          </a:prstGeom>
          <a:solidFill>
            <a:srgbClr val="FBEBD0"/>
          </a:solidFill>
          <a:ln w="12700">
            <a:solidFill>
              <a:srgbClr val="C9821B"/>
            </a:solidFill>
            <a:prstDash val="solid"/>
          </a:ln>
        </p:spPr>
      </p:sp>
      <p:sp>
        <p:nvSpPr>
          <p:cNvPr id="20" name="Text 18"/>
          <p:cNvSpPr/>
          <p:nvPr/>
        </p:nvSpPr>
        <p:spPr>
          <a:xfrm>
            <a:off x="8132234" y="3219320"/>
            <a:ext cx="3148161"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A5410"/>
                </a:solidFill>
                <a:latin typeface="IBM Plex Sans Thai" pitchFamily="34" charset="0"/>
                <a:ea typeface="IBM Plex Sans Thai" pitchFamily="34" charset="-122"/>
                <a:cs typeface="IBM Plex Sans Thai" pitchFamily="34" charset="-120"/>
              </a:rPr>
              <a:t>L · Legal (ความเสี่ยงหลัก)</a:t>
            </a:r>
            <a:endParaRPr lang="en-US" sz="1400" dirty="0"/>
          </a:p>
        </p:txBody>
      </p:sp>
      <p:sp>
        <p:nvSpPr>
          <p:cNvPr id="21" name="Text 19"/>
          <p:cNvSpPr/>
          <p:nvPr/>
        </p:nvSpPr>
        <p:spPr>
          <a:xfrm>
            <a:off x="8132234" y="3519026"/>
            <a:ext cx="314816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3415C"/>
                </a:solidFill>
                <a:latin typeface="IBM Plex Sans Thai" pitchFamily="34" charset="0"/>
                <a:ea typeface="IBM Plex Sans Thai" pitchFamily="34" charset="-122"/>
                <a:cs typeface="IBM Plex Sans Thai" pitchFamily="34" charset="-120"/>
              </a:rPr>
              <a:t>PDPA พ.ศ. 2562 (บังคับใช้เต็ม 1 มิ.ย. 2565) และกฎโฆษณา อย./สคบ.</a:t>
            </a:r>
            <a:endParaRPr lang="en-US" sz="1200" dirty="0"/>
          </a:p>
        </p:txBody>
      </p:sp>
      <p:sp>
        <p:nvSpPr>
          <p:cNvPr id="22" name="Text 20"/>
          <p:cNvSpPr/>
          <p:nvPr/>
        </p:nvSpPr>
        <p:spPr>
          <a:xfrm>
            <a:off x="812800" y="4313966"/>
            <a:ext cx="10883392" cy="4876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5Cs:</a:t>
            </a:r>
            <a:r>
              <a:rPr lang="en-US" sz="1300" dirty="0">
                <a:solidFill>
                  <a:srgbClr val="4A5568"/>
                </a:solidFill>
                <a:latin typeface="IBM Plex Sans Thai" pitchFamily="34" charset="0"/>
                <a:ea typeface="IBM Plex Sans Thai" pitchFamily="34" charset="-122"/>
                <a:cs typeface="IBM Plex Sans Thai" pitchFamily="34" charset="-120"/>
              </a:rPr>
              <a:t> Customer อยากได้คำตอบเร็วแบบ personal · Company มีฐานเพื่อน LINE OA · Competition คือแอดมินคน, bot แบบ keyword, marketplace chat · Collaborators คือ LINE, LLM, payment · Climate ดู PESTEL</a:t>
            </a:r>
            <a:endParaRPr lang="en-US" sz="13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06 / 18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S · SITUATION · SWOT → TOWS (L07 P.120)</a:t>
            </a:r>
            <a:endParaRPr lang="en-US" sz="1200" dirty="0"/>
          </a:p>
        </p:txBody>
      </p:sp>
      <p:sp>
        <p:nvSpPr>
          <p:cNvPr id="3" name="Text 1"/>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จุดแข็งคือข้อมูลและความเร็ว จุดอ่อนคือความเสี่ยงของ AI</a:t>
            </a:r>
            <a:endParaRPr lang="en-US" sz="3000" dirty="0"/>
          </a:p>
        </p:txBody>
      </p:sp>
      <p:sp>
        <p:nvSpPr>
          <p:cNvPr id="4" name="Shape 2"/>
          <p:cNvSpPr/>
          <p:nvPr/>
        </p:nvSpPr>
        <p:spPr>
          <a:xfrm>
            <a:off x="812800" y="1819870"/>
            <a:ext cx="5232400" cy="779727"/>
          </a:xfrm>
          <a:prstGeom prst="roundRect">
            <a:avLst>
              <a:gd name="adj" fmla="val 13030"/>
            </a:avLst>
          </a:prstGeom>
          <a:solidFill>
            <a:srgbClr val="E3EAE1"/>
          </a:solidFill>
          <a:ln/>
        </p:spPr>
      </p:sp>
      <p:sp>
        <p:nvSpPr>
          <p:cNvPr id="5" name="Text 3"/>
          <p:cNvSpPr/>
          <p:nvPr/>
        </p:nvSpPr>
        <p:spPr>
          <a:xfrm>
            <a:off x="990600" y="1959570"/>
            <a:ext cx="5023104"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45"/>
                </a:solidFill>
                <a:latin typeface="IBM Plex Sans Thai" pitchFamily="34" charset="0"/>
                <a:ea typeface="IBM Plex Sans Thai" pitchFamily="34" charset="-122"/>
                <a:cs typeface="IBM Plex Sans Thai" pitchFamily="34" charset="-120"/>
              </a:rPr>
              <a:t>Strengths</a:t>
            </a:r>
            <a:endParaRPr lang="en-US" sz="1400" dirty="0"/>
          </a:p>
        </p:txBody>
      </p:sp>
      <p:sp>
        <p:nvSpPr>
          <p:cNvPr id="6" name="Text 4"/>
          <p:cNvSpPr/>
          <p:nvPr/>
        </p:nvSpPr>
        <p:spPr>
          <a:xfrm>
            <a:off x="990600" y="2246579"/>
            <a:ext cx="50231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Thai" pitchFamily="34" charset="0"/>
                <a:ea typeface="IBM Plex Sans Thai" pitchFamily="34" charset="-122"/>
                <a:cs typeface="IBM Plex Sans Thai" pitchFamily="34" charset="-120"/>
              </a:rPr>
              <a:t>ตอบ 24/7 ในไม่กี่วินาที · ขายจบในแชต · สร้าง first-party data เข้า CRM</a:t>
            </a:r>
            <a:endParaRPr lang="en-US" sz="1200" dirty="0"/>
          </a:p>
        </p:txBody>
      </p:sp>
      <p:sp>
        <p:nvSpPr>
          <p:cNvPr id="7" name="Shape 5"/>
          <p:cNvSpPr/>
          <p:nvPr/>
        </p:nvSpPr>
        <p:spPr>
          <a:xfrm>
            <a:off x="6146800" y="1819870"/>
            <a:ext cx="5232400" cy="779727"/>
          </a:xfrm>
          <a:prstGeom prst="roundRect">
            <a:avLst>
              <a:gd name="adj" fmla="val 13030"/>
            </a:avLst>
          </a:prstGeom>
          <a:solidFill>
            <a:srgbClr val="FBEBD0"/>
          </a:solidFill>
          <a:ln/>
        </p:spPr>
      </p:sp>
      <p:sp>
        <p:nvSpPr>
          <p:cNvPr id="8" name="Text 6"/>
          <p:cNvSpPr/>
          <p:nvPr/>
        </p:nvSpPr>
        <p:spPr>
          <a:xfrm>
            <a:off x="6324600" y="1959570"/>
            <a:ext cx="5023104"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A5410"/>
                </a:solidFill>
                <a:latin typeface="IBM Plex Sans Thai" pitchFamily="34" charset="0"/>
                <a:ea typeface="IBM Plex Sans Thai" pitchFamily="34" charset="-122"/>
                <a:cs typeface="IBM Plex Sans Thai" pitchFamily="34" charset="-120"/>
              </a:rPr>
              <a:t>Weaknesses</a:t>
            </a:r>
            <a:endParaRPr lang="en-US" sz="1400" dirty="0"/>
          </a:p>
        </p:txBody>
      </p:sp>
      <p:sp>
        <p:nvSpPr>
          <p:cNvPr id="9" name="Text 7"/>
          <p:cNvSpPr/>
          <p:nvPr/>
        </p:nvSpPr>
        <p:spPr>
          <a:xfrm>
            <a:off x="6324600" y="2246579"/>
            <a:ext cx="50231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Thai" pitchFamily="34" charset="0"/>
                <a:ea typeface="IBM Plex Sans Thai" pitchFamily="34" charset="-122"/>
                <a:cs typeface="IBM Plex Sans Thai" pitchFamily="34" charset="-120"/>
              </a:rPr>
              <a:t>ต้นทุน setup · SME ขาดทักษะ AI · เสี่ยง hallucination</a:t>
            </a:r>
            <a:endParaRPr lang="en-US" sz="1200" dirty="0"/>
          </a:p>
        </p:txBody>
      </p:sp>
      <p:sp>
        <p:nvSpPr>
          <p:cNvPr id="10" name="Shape 8"/>
          <p:cNvSpPr/>
          <p:nvPr/>
        </p:nvSpPr>
        <p:spPr>
          <a:xfrm>
            <a:off x="812800" y="2701199"/>
            <a:ext cx="5232400" cy="779727"/>
          </a:xfrm>
          <a:prstGeom prst="roundRect">
            <a:avLst>
              <a:gd name="adj" fmla="val 13030"/>
            </a:avLst>
          </a:prstGeom>
          <a:solidFill>
            <a:srgbClr val="E3EAE1"/>
          </a:solidFill>
          <a:ln/>
        </p:spPr>
      </p:sp>
      <p:sp>
        <p:nvSpPr>
          <p:cNvPr id="11" name="Text 9"/>
          <p:cNvSpPr/>
          <p:nvPr/>
        </p:nvSpPr>
        <p:spPr>
          <a:xfrm>
            <a:off x="990600" y="2840899"/>
            <a:ext cx="5023104"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45"/>
                </a:solidFill>
                <a:latin typeface="IBM Plex Sans Thai" pitchFamily="34" charset="0"/>
                <a:ea typeface="IBM Plex Sans Thai" pitchFamily="34" charset="-122"/>
                <a:cs typeface="IBM Plex Sans Thai" pitchFamily="34" charset="-120"/>
              </a:rPr>
              <a:t>Opportunities</a:t>
            </a:r>
            <a:endParaRPr lang="en-US" sz="1400" dirty="0"/>
          </a:p>
        </p:txBody>
      </p:sp>
      <p:sp>
        <p:nvSpPr>
          <p:cNvPr id="12" name="Text 10"/>
          <p:cNvSpPr/>
          <p:nvPr/>
        </p:nvSpPr>
        <p:spPr>
          <a:xfrm>
            <a:off x="990600" y="3127905"/>
            <a:ext cx="50231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Thai" pitchFamily="34" charset="0"/>
                <a:ea typeface="IBM Plex Sans Thai" pitchFamily="34" charset="-122"/>
                <a:cs typeface="IBM Plex Sans Thai" pitchFamily="34" charset="-120"/>
              </a:rPr>
              <a:t>LINE 92.8% · chat commerce โต · ต้นทุน LLM ลดลง · GEO</a:t>
            </a:r>
            <a:endParaRPr lang="en-US" sz="1200" dirty="0"/>
          </a:p>
        </p:txBody>
      </p:sp>
      <p:sp>
        <p:nvSpPr>
          <p:cNvPr id="13" name="Shape 11"/>
          <p:cNvSpPr/>
          <p:nvPr/>
        </p:nvSpPr>
        <p:spPr>
          <a:xfrm>
            <a:off x="6146800" y="2701199"/>
            <a:ext cx="5232400" cy="779727"/>
          </a:xfrm>
          <a:prstGeom prst="roundRect">
            <a:avLst>
              <a:gd name="adj" fmla="val 13030"/>
            </a:avLst>
          </a:prstGeom>
          <a:solidFill>
            <a:srgbClr val="FBEBD0"/>
          </a:solidFill>
          <a:ln/>
        </p:spPr>
      </p:sp>
      <p:sp>
        <p:nvSpPr>
          <p:cNvPr id="14" name="Text 12"/>
          <p:cNvSpPr/>
          <p:nvPr/>
        </p:nvSpPr>
        <p:spPr>
          <a:xfrm>
            <a:off x="6324600" y="2840899"/>
            <a:ext cx="5023104"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A5410"/>
                </a:solidFill>
                <a:latin typeface="IBM Plex Sans Thai" pitchFamily="34" charset="0"/>
                <a:ea typeface="IBM Plex Sans Thai" pitchFamily="34" charset="-122"/>
                <a:cs typeface="IBM Plex Sans Thai" pitchFamily="34" charset="-120"/>
              </a:rPr>
              <a:t>Threats</a:t>
            </a:r>
            <a:endParaRPr lang="en-US" sz="1400" dirty="0"/>
          </a:p>
        </p:txBody>
      </p:sp>
      <p:sp>
        <p:nvSpPr>
          <p:cNvPr id="15" name="Text 13"/>
          <p:cNvSpPr/>
          <p:nvPr/>
        </p:nvSpPr>
        <p:spPr>
          <a:xfrm>
            <a:off x="6324600" y="3127905"/>
            <a:ext cx="50231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Thai" pitchFamily="34" charset="0"/>
                <a:ea typeface="IBM Plex Sans Thai" pitchFamily="34" charset="-122"/>
                <a:cs typeface="IBM Plex Sans Thai" pitchFamily="34" charset="-120"/>
              </a:rPr>
              <a:t>PDPA · ลูกค้าไม่ไว้ใจ AI · พึ่งพาแพลตฟอร์ม · ลอกเลียนง่าย</a:t>
            </a:r>
            <a:endParaRPr lang="en-US" sz="1200" dirty="0"/>
          </a:p>
        </p:txBody>
      </p:sp>
      <p:sp>
        <p:nvSpPr>
          <p:cNvPr id="16" name="Text 14"/>
          <p:cNvSpPr/>
          <p:nvPr/>
        </p:nvSpPr>
        <p:spPr>
          <a:xfrm>
            <a:off x="812800" y="3658726"/>
            <a:ext cx="5232400" cy="680641"/>
          </a:xfrm>
          <a:prstGeom prst="roundRect">
            <a:avLst>
              <a:gd name="adj" fmla="val 14927"/>
            </a:avLst>
          </a:prstGeom>
          <a:solidFill>
            <a:srgbClr val="14213D"/>
          </a:solidFill>
          <a:ln/>
        </p:spPr>
        <p:txBody>
          <a:bodyPr wrap="square" lIns="148042" tIns="97242" rIns="1738" bIns="71842" rtlCol="0" anchor="t">
            <a:normAutofit/>
          </a:bodyPr>
          <a:lstStyle/>
          <a:p>
            <a:pPr algn="l" indent="0" marL="0">
              <a:lnSpc>
                <a:spcPts val="1680"/>
              </a:lnSpc>
              <a:buNone/>
            </a:pPr>
            <a:r>
              <a:rPr lang="en-US" sz="1200" b="1" dirty="0">
                <a:solidFill>
                  <a:srgbClr val="7FD3A1"/>
                </a:solidFill>
                <a:latin typeface="IBM Plex Sans Thai" pitchFamily="34" charset="0"/>
                <a:ea typeface="IBM Plex Sans Thai" pitchFamily="34" charset="-122"/>
                <a:cs typeface="IBM Plex Sans Thai" pitchFamily="34" charset="-120"/>
              </a:rPr>
              <a:t>SO:</a:t>
            </a:r>
            <a:r>
              <a:rPr lang="en-US" sz="1200" dirty="0">
                <a:solidFill>
                  <a:srgbClr val="F7F8F4"/>
                </a:solidFill>
                <a:latin typeface="IBM Plex Sans Thai" pitchFamily="34" charset="0"/>
                <a:ea typeface="IBM Plex Sans Thai" pitchFamily="34" charset="-122"/>
                <a:cs typeface="IBM Plex Sans Thai" pitchFamily="34" charset="-120"/>
              </a:rPr>
              <a:t> agent + CRM จับกระแส chat commerce ด้วย personalized narrowcast</a:t>
            </a:r>
            <a:endParaRPr lang="en-US" sz="1200" dirty="0"/>
          </a:p>
        </p:txBody>
      </p:sp>
      <p:sp>
        <p:nvSpPr>
          <p:cNvPr id="17" name="Text 15"/>
          <p:cNvSpPr/>
          <p:nvPr/>
        </p:nvSpPr>
        <p:spPr>
          <a:xfrm>
            <a:off x="6146800" y="3658726"/>
            <a:ext cx="5232400" cy="680641"/>
          </a:xfrm>
          <a:prstGeom prst="roundRect">
            <a:avLst>
              <a:gd name="adj" fmla="val 14927"/>
            </a:avLst>
          </a:prstGeom>
          <a:solidFill>
            <a:srgbClr val="14213D"/>
          </a:solidFill>
          <a:ln/>
        </p:spPr>
        <p:txBody>
          <a:bodyPr wrap="square" lIns="148042" tIns="97242" rIns="1738" bIns="71842" rtlCol="0" anchor="t">
            <a:normAutofit/>
          </a:bodyPr>
          <a:lstStyle/>
          <a:p>
            <a:pPr algn="l" indent="0" marL="0">
              <a:lnSpc>
                <a:spcPts val="1680"/>
              </a:lnSpc>
              <a:buNone/>
            </a:pPr>
            <a:r>
              <a:rPr lang="en-US" sz="1200" b="1" dirty="0">
                <a:solidFill>
                  <a:srgbClr val="F2C46D"/>
                </a:solidFill>
                <a:latin typeface="IBM Plex Sans Thai" pitchFamily="34" charset="0"/>
                <a:ea typeface="IBM Plex Sans Thai" pitchFamily="34" charset="-122"/>
                <a:cs typeface="IBM Plex Sans Thai" pitchFamily="34" charset="-120"/>
              </a:rPr>
              <a:t>WT:</a:t>
            </a:r>
            <a:r>
              <a:rPr lang="en-US" sz="1200" dirty="0">
                <a:solidFill>
                  <a:srgbClr val="F7F8F4"/>
                </a:solidFill>
                <a:latin typeface="IBM Plex Sans Thai" pitchFamily="34" charset="0"/>
                <a:ea typeface="IBM Plex Sans Thai" pitchFamily="34" charset="-122"/>
                <a:cs typeface="IBM Plex Sans Thai" pitchFamily="34" charset="-120"/>
              </a:rPr>
              <a:t> guardrails + human-in-the-loop + ตอบเฉพาะจาก knowledge base</a:t>
            </a:r>
            <a:endParaRPr lang="en-US" sz="12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07 / 18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3A1"/>
                </a:solidFill>
                <a:latin typeface="IBM Plex Sans Thai" pitchFamily="34" charset="0"/>
                <a:ea typeface="IBM Plex Sans Thai" pitchFamily="34" charset="-122"/>
                <a:cs typeface="IBM Plex Sans Thai" pitchFamily="34" charset="-120"/>
              </a:rPr>
              <a:t>O · OBJECTIVES · SMART (L07 P.92, 103)</a:t>
            </a:r>
            <a:endParaRPr lang="en-US" sz="1200" dirty="0"/>
          </a:p>
        </p:txBody>
      </p:sp>
      <p:sp>
        <p:nvSpPr>
          <p:cNvPr id="3" name="Text 1"/>
          <p:cNvSpPr/>
          <p:nvPr>
            <p:ph type="title"/>
          </p:nvPr>
        </p:nvSpPr>
        <p:spPr>
          <a:xfrm>
            <a:off x="812800" y="1280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F7F8F4"/>
                </a:solidFill>
                <a:latin typeface="Prompt" pitchFamily="34" charset="0"/>
                <a:ea typeface="Prompt" pitchFamily="34" charset="-122"/>
                <a:cs typeface="Prompt" pitchFamily="34" charset="-120"/>
              </a:rPr>
              <a:t>4 เป้าหมายที่วัดได้ ภายใน 3–12 เดือน</a:t>
            </a:r>
            <a:endParaRPr lang="en-US" sz="3000" dirty="0"/>
          </a:p>
        </p:txBody>
      </p:sp>
      <p:sp>
        <p:nvSpPr>
          <p:cNvPr id="4" name="Shape 2"/>
          <p:cNvSpPr/>
          <p:nvPr/>
        </p:nvSpPr>
        <p:spPr>
          <a:xfrm>
            <a:off x="812800" y="1991320"/>
            <a:ext cx="2527300" cy="0"/>
          </a:xfrm>
          <a:prstGeom prst="line">
            <a:avLst/>
          </a:prstGeom>
          <a:noFill/>
          <a:ln w="38100">
            <a:solidFill>
              <a:srgbClr val="7FD3A1"/>
            </a:solidFill>
            <a:prstDash val="solid"/>
          </a:ln>
        </p:spPr>
      </p:sp>
      <p:sp>
        <p:nvSpPr>
          <p:cNvPr id="5" name="Text 3"/>
          <p:cNvSpPr/>
          <p:nvPr/>
        </p:nvSpPr>
        <p:spPr>
          <a:xfrm>
            <a:off x="812800" y="2188170"/>
            <a:ext cx="2550795" cy="640027"/>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7FD3A1"/>
                </a:solidFill>
                <a:latin typeface="Prompt" pitchFamily="34" charset="0"/>
                <a:ea typeface="Prompt" pitchFamily="34" charset="-122"/>
                <a:cs typeface="Prompt" pitchFamily="34" charset="-120"/>
              </a:rPr>
              <a:t>&lt;30 วิ</a:t>
            </a:r>
            <a:endParaRPr lang="en-US" sz="4400" dirty="0"/>
          </a:p>
        </p:txBody>
      </p:sp>
      <p:sp>
        <p:nvSpPr>
          <p:cNvPr id="6" name="Text 4"/>
          <p:cNvSpPr/>
          <p:nvPr/>
        </p:nvSpPr>
        <p:spPr>
          <a:xfrm>
            <a:off x="812800" y="2866299"/>
            <a:ext cx="25507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First response time</a:t>
            </a:r>
            <a:endParaRPr lang="en-US" sz="1400" dirty="0"/>
          </a:p>
        </p:txBody>
      </p:sp>
      <p:sp>
        <p:nvSpPr>
          <p:cNvPr id="7" name="Text 5"/>
          <p:cNvSpPr/>
          <p:nvPr/>
        </p:nvSpPr>
        <p:spPr>
          <a:xfrm>
            <a:off x="812800" y="3178705"/>
            <a:ext cx="25507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5"/>
                </a:solidFill>
                <a:latin typeface="IBM Plex Sans Thai" pitchFamily="34" charset="0"/>
                <a:ea typeface="IBM Plex Sans Thai" pitchFamily="34" charset="-122"/>
                <a:cs typeface="IBM Plex Sans Thai" pitchFamily="34" charset="-120"/>
              </a:rPr>
              <a:t>≥ 95% ของแชต ภายใน 3 เดือน</a:t>
            </a:r>
            <a:endParaRPr lang="en-US" sz="1200" dirty="0"/>
          </a:p>
        </p:txBody>
      </p:sp>
      <p:sp>
        <p:nvSpPr>
          <p:cNvPr id="8" name="Shape 6"/>
          <p:cNvSpPr/>
          <p:nvPr/>
        </p:nvSpPr>
        <p:spPr>
          <a:xfrm>
            <a:off x="3492500" y="1991320"/>
            <a:ext cx="2527300" cy="0"/>
          </a:xfrm>
          <a:prstGeom prst="line">
            <a:avLst/>
          </a:prstGeom>
          <a:noFill/>
          <a:ln w="38100">
            <a:solidFill>
              <a:srgbClr val="7FD3A1"/>
            </a:solidFill>
            <a:prstDash val="solid"/>
          </a:ln>
        </p:spPr>
      </p:sp>
      <p:sp>
        <p:nvSpPr>
          <p:cNvPr id="9" name="Text 7"/>
          <p:cNvSpPr/>
          <p:nvPr/>
        </p:nvSpPr>
        <p:spPr>
          <a:xfrm>
            <a:off x="3492500" y="2188170"/>
            <a:ext cx="2550795" cy="640027"/>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7FD3A1"/>
                </a:solidFill>
                <a:latin typeface="Prompt" pitchFamily="34" charset="0"/>
                <a:ea typeface="Prompt" pitchFamily="34" charset="-122"/>
                <a:cs typeface="Prompt" pitchFamily="34" charset="-120"/>
              </a:rPr>
              <a:t>70%</a:t>
            </a:r>
            <a:endParaRPr lang="en-US" sz="4400" dirty="0"/>
          </a:p>
        </p:txBody>
      </p:sp>
      <p:sp>
        <p:nvSpPr>
          <p:cNvPr id="10" name="Text 8"/>
          <p:cNvSpPr/>
          <p:nvPr/>
        </p:nvSpPr>
        <p:spPr>
          <a:xfrm>
            <a:off x="3492500" y="2866299"/>
            <a:ext cx="25507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Containment rate</a:t>
            </a:r>
            <a:endParaRPr lang="en-US" sz="1400" dirty="0"/>
          </a:p>
        </p:txBody>
      </p:sp>
      <p:sp>
        <p:nvSpPr>
          <p:cNvPr id="11" name="Text 9"/>
          <p:cNvSpPr/>
          <p:nvPr/>
        </p:nvSpPr>
        <p:spPr>
          <a:xfrm>
            <a:off x="3492500" y="3178705"/>
            <a:ext cx="25507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5"/>
                </a:solidFill>
                <a:latin typeface="IBM Plex Sans Thai" pitchFamily="34" charset="0"/>
                <a:ea typeface="IBM Plex Sans Thai" pitchFamily="34" charset="-122"/>
                <a:cs typeface="IBM Plex Sans Thai" pitchFamily="34" charset="-120"/>
              </a:rPr>
              <a:t>แชตที่ agent จัดการจบเอง ภายใน 6 เดือน</a:t>
            </a:r>
            <a:endParaRPr lang="en-US" sz="1200" dirty="0"/>
          </a:p>
        </p:txBody>
      </p:sp>
      <p:sp>
        <p:nvSpPr>
          <p:cNvPr id="12" name="Shape 10"/>
          <p:cNvSpPr/>
          <p:nvPr/>
        </p:nvSpPr>
        <p:spPr>
          <a:xfrm>
            <a:off x="6172200" y="1991320"/>
            <a:ext cx="2527300" cy="0"/>
          </a:xfrm>
          <a:prstGeom prst="line">
            <a:avLst/>
          </a:prstGeom>
          <a:noFill/>
          <a:ln w="38100">
            <a:solidFill>
              <a:srgbClr val="7FD3A1"/>
            </a:solidFill>
            <a:prstDash val="solid"/>
          </a:ln>
        </p:spPr>
      </p:sp>
      <p:sp>
        <p:nvSpPr>
          <p:cNvPr id="13" name="Text 11"/>
          <p:cNvSpPr/>
          <p:nvPr/>
        </p:nvSpPr>
        <p:spPr>
          <a:xfrm>
            <a:off x="6172200" y="2188170"/>
            <a:ext cx="2550795" cy="640027"/>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7FD3A1"/>
                </a:solidFill>
                <a:latin typeface="Prompt" pitchFamily="34" charset="0"/>
                <a:ea typeface="Prompt" pitchFamily="34" charset="-122"/>
                <a:cs typeface="Prompt" pitchFamily="34" charset="-120"/>
              </a:rPr>
              <a:t>5→8%</a:t>
            </a:r>
            <a:endParaRPr lang="en-US" sz="4400" dirty="0"/>
          </a:p>
        </p:txBody>
      </p:sp>
      <p:sp>
        <p:nvSpPr>
          <p:cNvPr id="14" name="Text 12"/>
          <p:cNvSpPr/>
          <p:nvPr/>
        </p:nvSpPr>
        <p:spPr>
          <a:xfrm>
            <a:off x="6172200" y="2866299"/>
            <a:ext cx="25507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Chat-to-order conversion</a:t>
            </a:r>
            <a:endParaRPr lang="en-US" sz="1400" dirty="0"/>
          </a:p>
        </p:txBody>
      </p:sp>
      <p:sp>
        <p:nvSpPr>
          <p:cNvPr id="15" name="Text 13"/>
          <p:cNvSpPr/>
          <p:nvPr/>
        </p:nvSpPr>
        <p:spPr>
          <a:xfrm>
            <a:off x="6172200" y="3178705"/>
            <a:ext cx="25507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5"/>
                </a:solidFill>
                <a:latin typeface="IBM Plex Sans Thai" pitchFamily="34" charset="0"/>
                <a:ea typeface="IBM Plex Sans Thai" pitchFamily="34" charset="-122"/>
                <a:cs typeface="IBM Plex Sans Thai" pitchFamily="34" charset="-120"/>
              </a:rPr>
              <a:t>ด้วย personal recommendation ภายใน 6 เดือน</a:t>
            </a:r>
            <a:endParaRPr lang="en-US" sz="1200" dirty="0"/>
          </a:p>
        </p:txBody>
      </p:sp>
      <p:sp>
        <p:nvSpPr>
          <p:cNvPr id="16" name="Shape 14"/>
          <p:cNvSpPr/>
          <p:nvPr/>
        </p:nvSpPr>
        <p:spPr>
          <a:xfrm>
            <a:off x="8851900" y="1991320"/>
            <a:ext cx="2527300" cy="0"/>
          </a:xfrm>
          <a:prstGeom prst="line">
            <a:avLst/>
          </a:prstGeom>
          <a:noFill/>
          <a:ln w="38100">
            <a:solidFill>
              <a:srgbClr val="F2C46D"/>
            </a:solidFill>
            <a:prstDash val="solid"/>
          </a:ln>
        </p:spPr>
      </p:sp>
      <p:sp>
        <p:nvSpPr>
          <p:cNvPr id="17" name="Text 15"/>
          <p:cNvSpPr/>
          <p:nvPr/>
        </p:nvSpPr>
        <p:spPr>
          <a:xfrm>
            <a:off x="8851900" y="2188170"/>
            <a:ext cx="2550795" cy="640027"/>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2C46D"/>
                </a:solidFill>
                <a:latin typeface="Prompt" pitchFamily="34" charset="0"/>
                <a:ea typeface="Prompt" pitchFamily="34" charset="-122"/>
                <a:cs typeface="Prompt" pitchFamily="34" charset="-120"/>
              </a:rPr>
              <a:t>≥ 3×</a:t>
            </a:r>
            <a:endParaRPr lang="en-US" sz="4400" dirty="0"/>
          </a:p>
        </p:txBody>
      </p:sp>
      <p:sp>
        <p:nvSpPr>
          <p:cNvPr id="18" name="Text 16"/>
          <p:cNvSpPr/>
          <p:nvPr/>
        </p:nvSpPr>
        <p:spPr>
          <a:xfrm>
            <a:off x="8851900" y="2866299"/>
            <a:ext cx="255079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CLV / CAC</a:t>
            </a:r>
            <a:endParaRPr lang="en-US" sz="1400" dirty="0"/>
          </a:p>
        </p:txBody>
      </p:sp>
      <p:sp>
        <p:nvSpPr>
          <p:cNvPr id="19" name="Text 17"/>
          <p:cNvSpPr/>
          <p:nvPr/>
        </p:nvSpPr>
        <p:spPr>
          <a:xfrm>
            <a:off x="8851900" y="3178705"/>
            <a:ext cx="25507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E5"/>
                </a:solidFill>
                <a:latin typeface="IBM Plex Sans Thai" pitchFamily="34" charset="0"/>
                <a:ea typeface="IBM Plex Sans Thai" pitchFamily="34" charset="-122"/>
                <a:cs typeface="IBM Plex Sans Thai" pitchFamily="34" charset="-120"/>
              </a:rPr>
              <a:t>ตามเกณฑ์ L08 p.77 ภายใน 12 เดือน</a:t>
            </a:r>
            <a:endParaRPr lang="en-US" sz="1200" dirty="0"/>
          </a:p>
        </p:txBody>
      </p:sp>
      <p:sp>
        <p:nvSpPr>
          <p:cNvPr id="20" name="Text 18"/>
          <p:cNvSpPr/>
          <p:nvPr/>
        </p:nvSpPr>
        <p:spPr>
          <a:xfrm>
            <a:off x="812800" y="3859346"/>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5"/>
                </a:solidFill>
                <a:latin typeface="IBM Plex Sans Thai" pitchFamily="34" charset="0"/>
                <a:ea typeface="IBM Plex Sans Thai" pitchFamily="34" charset="-122"/>
                <a:cs typeface="IBM Plex Sans Thai" pitchFamily="34" charset="-120"/>
              </a:rPr>
              <a:t>Hierarchy of Objectives (L07 p.4): </a:t>
            </a:r>
            <a:r>
              <a:rPr lang="en-US" sz="1300" b="1" dirty="0">
                <a:solidFill>
                  <a:srgbClr val="F7F8F4"/>
                </a:solidFill>
                <a:latin typeface="IBM Plex Sans Thai" pitchFamily="34" charset="0"/>
                <a:ea typeface="IBM Plex Sans Thai" pitchFamily="34" charset="-122"/>
                <a:cs typeface="IBM Plex Sans Thai" pitchFamily="34" charset="-120"/>
              </a:rPr>
              <a:t>Business</a:t>
            </a:r>
            <a:r>
              <a:rPr lang="en-US" sz="1300" dirty="0">
                <a:solidFill>
                  <a:srgbClr val="C9D4E5"/>
                </a:solidFill>
                <a:latin typeface="IBM Plex Sans Thai" pitchFamily="34" charset="0"/>
                <a:ea typeface="IBM Plex Sans Thai" pitchFamily="34" charset="-122"/>
                <a:cs typeface="IBM Plex Sans Thai" pitchFamily="34" charset="-120"/>
              </a:rPr>
              <a:t> รายได้จาก LINE OA +30% → </a:t>
            </a:r>
            <a:r>
              <a:rPr lang="en-US" sz="1300" b="1" dirty="0">
                <a:solidFill>
                  <a:srgbClr val="F7F8F4"/>
                </a:solidFill>
                <a:latin typeface="IBM Plex Sans Thai" pitchFamily="34" charset="0"/>
                <a:ea typeface="IBM Plex Sans Thai" pitchFamily="34" charset="-122"/>
                <a:cs typeface="IBM Plex Sans Thai" pitchFamily="34" charset="-120"/>
              </a:rPr>
              <a:t>Marketing</a:t>
            </a:r>
            <a:r>
              <a:rPr lang="en-US" sz="1300" dirty="0">
                <a:solidFill>
                  <a:srgbClr val="C9D4E5"/>
                </a:solidFill>
                <a:latin typeface="IBM Plex Sans Thai" pitchFamily="34" charset="0"/>
                <a:ea typeface="IBM Plex Sans Thai" pitchFamily="34" charset="-122"/>
                <a:cs typeface="IBM Plex Sans Thai" pitchFamily="34" charset="-120"/>
              </a:rPr>
              <a:t> ซื้อซ้ำ 20→30% → </a:t>
            </a:r>
            <a:r>
              <a:rPr lang="en-US" sz="1300" b="1" dirty="0">
                <a:solidFill>
                  <a:srgbClr val="F7F8F4"/>
                </a:solidFill>
                <a:latin typeface="IBM Plex Sans Thai" pitchFamily="34" charset="0"/>
                <a:ea typeface="IBM Plex Sans Thai" pitchFamily="34" charset="-122"/>
                <a:cs typeface="IBM Plex Sans Thai" pitchFamily="34" charset="-120"/>
              </a:rPr>
              <a:t>Campaign</a:t>
            </a:r>
            <a:r>
              <a:rPr lang="en-US" sz="1300" dirty="0">
                <a:solidFill>
                  <a:srgbClr val="C9D4E5"/>
                </a:solidFill>
                <a:latin typeface="IBM Plex Sans Thai" pitchFamily="34" charset="0"/>
                <a:ea typeface="IBM Plex Sans Thai" pitchFamily="34" charset="-122"/>
                <a:cs typeface="IBM Plex Sans Thai" pitchFamily="34" charset="-120"/>
              </a:rPr>
              <a:t> เพื่อนใหม่ 20,000 คน</a:t>
            </a:r>
            <a:endParaRPr lang="en-US" sz="13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B3"/>
                </a:solidFill>
                <a:latin typeface="IBM Plex Sans Thai" pitchFamily="34" charset="0"/>
                <a:ea typeface="IBM Plex Sans Thai" pitchFamily="34" charset="-122"/>
                <a:cs typeface="IBM Plex Sans Thai" pitchFamily="34" charset="-120"/>
              </a:rPr>
              <a:t>BIS609 · Agentic AI Chatbot on LINE OA · ตัวเลขเป้าหมายเป็นสมมติฐาน</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E9BB3"/>
                </a:solidFill>
                <a:latin typeface="IBM Plex Sans Thai" pitchFamily="34" charset="0"/>
                <a:ea typeface="IBM Plex Sans Thai" pitchFamily="34" charset="-122"/>
                <a:cs typeface="IBM Plex Sans Thai" pitchFamily="34" charset="-120"/>
              </a:rPr>
              <a:t>08 / 18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S · STRATEGY · SEGMENTATION &amp; TARGETING (L07 P.23–28)</a:t>
            </a:r>
            <a:endParaRPr lang="en-US" sz="1200" dirty="0"/>
          </a:p>
        </p:txBody>
      </p:sp>
      <p:sp>
        <p:nvSpPr>
          <p:cNvPr id="3" name="Text 1"/>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Target แรก: E-commerce SME ด้าน fashion/beauty</a:t>
            </a:r>
            <a:endParaRPr lang="en-US" sz="3000" dirty="0"/>
          </a:p>
        </p:txBody>
      </p:sp>
      <p:sp>
        <p:nvSpPr>
          <p:cNvPr id="4" name="Text 2"/>
          <p:cNvSpPr/>
          <p:nvPr/>
        </p:nvSpPr>
        <p:spPr>
          <a:xfrm>
            <a:off x="812800" y="1819870"/>
            <a:ext cx="10566400" cy="434314"/>
          </a:xfrm>
          <a:prstGeom prst="roundRect">
            <a:avLst>
              <a:gd name="adj" fmla="val 17545"/>
            </a:avLst>
          </a:prstGeom>
          <a:solidFill>
            <a:srgbClr val="E3EAE1"/>
          </a:solidFill>
          <a:ln/>
        </p:spPr>
        <p:txBody>
          <a:bodyPr wrap="square" lIns="155482" tIns="79282" rIns="0" bIns="53882"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Overall Potential = Available Market × Market Share × (CLV − CAC) × Service Available</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44688"/>
          <a:ext cx="10553700" cy="1796521"/>
        </p:xfrm>
        <a:graphic>
          <a:graphicData uri="http://schemas.openxmlformats.org/drawingml/2006/table">
            <a:tbl>
              <a:tblPr/>
              <a:tblGrid>
                <a:gridCol w="3166110"/>
                <a:gridCol w="1371981"/>
                <a:gridCol w="949833"/>
                <a:gridCol w="1583055"/>
                <a:gridCol w="1160907"/>
                <a:gridCol w="2321814"/>
              </a:tblGrid>
              <a:tr h="359304">
                <a:tc>
                  <a:txBody>
                    <a:bodyPr/>
                    <a:lstStyle/>
                    <a:p>
                      <a:pP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Segment</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ตลาด (ราย)</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Share</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CLV − CAC (฿)</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ct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Service</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Potential (฿)</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304">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1. E-commerce SME (Primary)</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AABA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AABAAD"/>
                      </a:solidFill>
                      <a:prstDash val="solid"/>
                      <a:round/>
                      <a:headEnd type="none" w="med" len="med"/>
                      <a:tailEnd type="none" w="med" len="med"/>
                    </a:lnB>
                    <a:solidFill>
                      <a:srgbClr val="D4E9D9"/>
                    </a:solidFill>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200,000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AABAAD"/>
                      </a:solidFill>
                      <a:prstDash val="solid"/>
                      <a:round/>
                      <a:headEnd type="none" w="med" len="med"/>
                      <a:tailEnd type="none" w="med" len="med"/>
                    </a:lnL>
                    <a:lnR w="12700" cap="flat" cmpd="sng" algn="ctr">
                      <a:solidFill>
                        <a:srgbClr val="AABA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AABAAD"/>
                      </a:solidFill>
                      <a:prstDash val="solid"/>
                      <a:round/>
                      <a:headEnd type="none" w="med" len="med"/>
                      <a:tailEnd type="none" w="med" len="med"/>
                    </a:lnB>
                    <a:solidFill>
                      <a:srgbClr val="D4E9D9"/>
                    </a:solidFill>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2%</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AABAAD"/>
                      </a:solidFill>
                      <a:prstDash val="solid"/>
                      <a:round/>
                      <a:headEnd type="none" w="med" len="med"/>
                      <a:tailEnd type="none" w="med" len="med"/>
                    </a:lnL>
                    <a:lnR w="12700" cap="flat" cmpd="sng" algn="ctr">
                      <a:solidFill>
                        <a:srgbClr val="AABA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AABAAD"/>
                      </a:solidFill>
                      <a:prstDash val="solid"/>
                      <a:round/>
                      <a:headEnd type="none" w="med" len="med"/>
                      <a:tailEnd type="none" w="med" len="med"/>
                    </a:lnB>
                    <a:solidFill>
                      <a:srgbClr val="D4E9D9"/>
                    </a:solidFill>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30,000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AABAAD"/>
                      </a:solidFill>
                      <a:prstDash val="solid"/>
                      <a:round/>
                      <a:headEnd type="none" w="med" len="med"/>
                      <a:tailEnd type="none" w="med" len="med"/>
                    </a:lnL>
                    <a:lnR w="12700" cap="flat" cmpd="sng" algn="ctr">
                      <a:solidFill>
                        <a:srgbClr val="AABA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AABAAD"/>
                      </a:solidFill>
                      <a:prstDash val="solid"/>
                      <a:round/>
                      <a:headEnd type="none" w="med" len="med"/>
                      <a:tailEnd type="none" w="med" len="med"/>
                    </a:lnB>
                    <a:solidFill>
                      <a:srgbClr val="D4E9D9"/>
                    </a:solidFill>
                  </a:tcPr>
                </a:tc>
                <a:tc>
                  <a:txBody>
                    <a:bodyPr/>
                    <a:lstStyle/>
                    <a:p>
                      <a:pPr algn="ct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1</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AABAAD"/>
                      </a:solidFill>
                      <a:prstDash val="solid"/>
                      <a:round/>
                      <a:headEnd type="none" w="med" len="med"/>
                      <a:tailEnd type="none" w="med" len="med"/>
                    </a:lnL>
                    <a:lnR w="12700" cap="flat" cmpd="sng" algn="ctr">
                      <a:solidFill>
                        <a:srgbClr val="AABA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AABAAD"/>
                      </a:solidFill>
                      <a:prstDash val="solid"/>
                      <a:round/>
                      <a:headEnd type="none" w="med" len="med"/>
                      <a:tailEnd type="none" w="med" len="med"/>
                    </a:lnB>
                    <a:solidFill>
                      <a:srgbClr val="D4E9D9"/>
                    </a:solidFill>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120,000,000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AABAAD"/>
                      </a:solidFill>
                      <a:prstDash val="solid"/>
                      <a:round/>
                      <a:headEnd type="none" w="med" len="med"/>
                      <a:tailEnd type="none" w="med" len="med"/>
                    </a:lnL>
                    <a:lnR w="12700" cap="flat" cmpd="sng" algn="ctr">
                      <a:solidFill>
                        <a:srgbClr val="AABA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AABAAD"/>
                      </a:solidFill>
                      <a:prstDash val="solid"/>
                      <a:round/>
                      <a:headEnd type="none" w="med" len="med"/>
                      <a:tailEnd type="none" w="med" len="med"/>
                    </a:lnB>
                    <a:solidFill>
                      <a:srgbClr val="D4E9D9"/>
                    </a:solidFill>
                  </a:tcPr>
                </a:tc>
              </a:tr>
              <a:tr h="359304">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2. คลินิกความงาม (Secondary)</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AABAAD"/>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30,000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AABAAD"/>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5%</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AABAAD"/>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60,000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AABAAD"/>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1</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AABAAD"/>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90,000,000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AABAAD"/>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3. ร้านอาหาร / F&amp;B</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300,000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1%</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7,000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algn="ct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1</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21,000,000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r>
              <a:tr h="359304">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4. อสังหาฯ / ดีลเลอร์รถ</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10,000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5%</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140,000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0</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0 (ระบบยังไม่พร้อม)</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bl>
          </a:graphicData>
        </a:graphic>
      </p:graphicFrame>
      <p:sp>
        <p:nvSpPr>
          <p:cNvPr id="6" name="Text 3"/>
          <p:cNvSpPr/>
          <p:nvPr/>
        </p:nvSpPr>
        <p:spPr>
          <a:xfrm>
            <a:off x="812800" y="4419005"/>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B2C ในแชต:</a:t>
            </a:r>
            <a:r>
              <a:rPr lang="en-US" sz="1300" dirty="0">
                <a:solidFill>
                  <a:srgbClr val="4A5568"/>
                </a:solidFill>
                <a:latin typeface="IBM Plex Sans Thai" pitchFamily="34" charset="0"/>
                <a:ea typeface="IBM Plex Sans Thai" pitchFamily="34" charset="-122"/>
                <a:cs typeface="IBM Plex Sans Thai" pitchFamily="34" charset="-120"/>
              </a:rPr>
              <a:t> agent ทำ segmentation อัตโนมัติ ทั้ง Demographic, Geographic, Behavioral (RFM), Psychographic และ Need-based</a:t>
            </a:r>
            <a:endParaRPr lang="en-US" sz="13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 · ตัวเลขเป็นสมมติฐานเพื่อสาธิตสูตร</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09 / 18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S · STRATEGY · POSITIONING &amp; VALUE PROPOSITION (L07 P.30–41)</a:t>
            </a:r>
            <a:endParaRPr lang="en-US" sz="1200" dirty="0"/>
          </a:p>
        </p:txBody>
      </p:sp>
      <p:sp>
        <p:nvSpPr>
          <p:cNvPr id="3" name="Text 1"/>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วางตำแหน่งในช่องว่าง: ต้นทุนต่ำ แต่ personal สูง</a:t>
            </a:r>
            <a:endParaRPr lang="en-US" sz="3000" dirty="0"/>
          </a:p>
        </p:txBody>
      </p:sp>
      <p:sp>
        <p:nvSpPr>
          <p:cNvPr id="4" name="Text 2"/>
          <p:cNvSpPr/>
          <p:nvPr/>
        </p:nvSpPr>
        <p:spPr>
          <a:xfrm>
            <a:off x="812800" y="181987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 ต้นทุนต่อการให้บริการ · → ระดับ personalization</a:t>
            </a:r>
            <a:endParaRPr lang="en-US" sz="1200" dirty="0"/>
          </a:p>
        </p:txBody>
      </p:sp>
      <p:sp>
        <p:nvSpPr>
          <p:cNvPr id="5" name="Text 3"/>
          <p:cNvSpPr/>
          <p:nvPr/>
        </p:nvSpPr>
        <p:spPr>
          <a:xfrm>
            <a:off x="812800" y="2096691"/>
            <a:ext cx="2190750" cy="952500"/>
          </a:xfrm>
          <a:prstGeom prst="roundRect">
            <a:avLst>
              <a:gd name="adj" fmla="val 8000"/>
            </a:avLst>
          </a:prstGeom>
          <a:solidFill>
            <a:srgbClr val="E6E9EE"/>
          </a:solidFill>
          <a:ln/>
        </p:spPr>
        <p:txBody>
          <a:bodyPr wrap="square" lIns="130082" tIns="155482" rIns="73503" bIns="130082" rtlCol="0" anchor="t">
            <a:normAutofit/>
          </a:bodyPr>
          <a:lstStyle/>
          <a:p>
            <a:pPr algn="l" indent="0" marL="0">
              <a:lnSpc>
                <a:spcPts val="1620"/>
              </a:lnSpc>
              <a:buNone/>
            </a:pPr>
            <a:r>
              <a:rPr lang="en-US" sz="1200" dirty="0">
                <a:solidFill>
                  <a:srgbClr val="14213D"/>
                </a:solidFill>
                <a:latin typeface="IBM Plex Sans Thai" pitchFamily="34" charset="0"/>
                <a:ea typeface="IBM Plex Sans Thai" pitchFamily="34" charset="-122"/>
                <a:cs typeface="IBM Plex Sans Thai" pitchFamily="34" charset="-120"/>
              </a:rPr>
              <a:t>Call center ภายนอก</a:t>
            </a:r>
            <a:endParaRPr lang="en-US" sz="1200" dirty="0"/>
          </a:p>
        </p:txBody>
      </p:sp>
      <p:sp>
        <p:nvSpPr>
          <p:cNvPr id="6" name="Text 4"/>
          <p:cNvSpPr/>
          <p:nvPr/>
        </p:nvSpPr>
        <p:spPr>
          <a:xfrm>
            <a:off x="3067050" y="2096691"/>
            <a:ext cx="2190750" cy="952500"/>
          </a:xfrm>
          <a:prstGeom prst="roundRect">
            <a:avLst>
              <a:gd name="adj" fmla="val 8000"/>
            </a:avLst>
          </a:prstGeom>
          <a:solidFill>
            <a:srgbClr val="E6E9EE"/>
          </a:solidFill>
          <a:ln/>
        </p:spPr>
        <p:txBody>
          <a:bodyPr wrap="square" lIns="130082" tIns="155482" rIns="73503" bIns="130082" rtlCol="0" anchor="t">
            <a:normAutofit/>
          </a:bodyPr>
          <a:lstStyle/>
          <a:p>
            <a:pPr algn="l" indent="0" marL="0">
              <a:lnSpc>
                <a:spcPts val="1620"/>
              </a:lnSpc>
              <a:buNone/>
            </a:pPr>
            <a:r>
              <a:rPr lang="en-US" sz="1200" dirty="0">
                <a:solidFill>
                  <a:srgbClr val="14213D"/>
                </a:solidFill>
                <a:latin typeface="IBM Plex Sans Thai" pitchFamily="34" charset="0"/>
                <a:ea typeface="IBM Plex Sans Thai" pitchFamily="34" charset="-122"/>
                <a:cs typeface="IBM Plex Sans Thai" pitchFamily="34" charset="-120"/>
              </a:rPr>
              <a:t>ทีมแอดมินคนที่มีทักษะสูง</a:t>
            </a:r>
            <a:endParaRPr lang="en-US" sz="1200" dirty="0"/>
          </a:p>
        </p:txBody>
      </p:sp>
      <p:sp>
        <p:nvSpPr>
          <p:cNvPr id="7" name="Text 5"/>
          <p:cNvSpPr/>
          <p:nvPr/>
        </p:nvSpPr>
        <p:spPr>
          <a:xfrm>
            <a:off x="812800" y="3112691"/>
            <a:ext cx="2190750" cy="952500"/>
          </a:xfrm>
          <a:prstGeom prst="roundRect">
            <a:avLst>
              <a:gd name="adj" fmla="val 8000"/>
            </a:avLst>
          </a:prstGeom>
          <a:solidFill>
            <a:srgbClr val="E6E9EE"/>
          </a:solidFill>
          <a:ln/>
        </p:spPr>
        <p:txBody>
          <a:bodyPr wrap="square" lIns="130082" tIns="155482" rIns="73503" bIns="130082" rtlCol="0" anchor="t">
            <a:normAutofit/>
          </a:bodyPr>
          <a:lstStyle/>
          <a:p>
            <a:pPr algn="l" indent="0" marL="0">
              <a:lnSpc>
                <a:spcPts val="1620"/>
              </a:lnSpc>
              <a:buNone/>
            </a:pPr>
            <a:r>
              <a:rPr lang="en-US" sz="1200" dirty="0">
                <a:solidFill>
                  <a:srgbClr val="14213D"/>
                </a:solidFill>
                <a:latin typeface="IBM Plex Sans Thai" pitchFamily="34" charset="0"/>
                <a:ea typeface="IBM Plex Sans Thai" pitchFamily="34" charset="-122"/>
                <a:cs typeface="IBM Plex Sans Thai" pitchFamily="34" charset="-120"/>
              </a:rPr>
              <a:t>Rule-based bot / auto-reply</a:t>
            </a:r>
            <a:endParaRPr lang="en-US" sz="1200" dirty="0"/>
          </a:p>
        </p:txBody>
      </p:sp>
      <p:sp>
        <p:nvSpPr>
          <p:cNvPr id="8" name="Text 6"/>
          <p:cNvSpPr/>
          <p:nvPr/>
        </p:nvSpPr>
        <p:spPr>
          <a:xfrm>
            <a:off x="3067050" y="3112691"/>
            <a:ext cx="2190750" cy="952500"/>
          </a:xfrm>
          <a:prstGeom prst="roundRect">
            <a:avLst>
              <a:gd name="adj" fmla="val 8000"/>
            </a:avLst>
          </a:prstGeom>
          <a:solidFill>
            <a:srgbClr val="1F7A45"/>
          </a:solidFill>
          <a:ln/>
        </p:spPr>
        <p:txBody>
          <a:bodyPr wrap="square" lIns="130082" tIns="155482" rIns="73503" bIns="130082" rtlCol="0" anchor="t">
            <a:normAutofit/>
          </a:bodyPr>
          <a:lstStyle/>
          <a:p>
            <a:pPr algn="l" indent="0" marL="0">
              <a:lnSpc>
                <a:spcPts val="1755"/>
              </a:lnSpc>
              <a:buNone/>
            </a:pPr>
            <a:r>
              <a:rPr lang="en-US" sz="1300" b="1" dirty="0">
                <a:solidFill>
                  <a:srgbClr val="F7F8F4"/>
                </a:solidFill>
                <a:latin typeface="IBM Plex Sans Thai" pitchFamily="34" charset="0"/>
                <a:ea typeface="IBM Plex Sans Thai" pitchFamily="34" charset="-122"/>
                <a:cs typeface="IBM Plex Sans Thai" pitchFamily="34" charset="-120"/>
              </a:rPr>
              <a:t>Agentic AI บน LINE OA</a:t>
            </a:r>
            <a:endParaRPr lang="en-US" sz="1300" dirty="0"/>
          </a:p>
        </p:txBody>
      </p:sp>
      <p:sp>
        <p:nvSpPr>
          <p:cNvPr id="9" name="Shape 7"/>
          <p:cNvSpPr/>
          <p:nvPr/>
        </p:nvSpPr>
        <p:spPr>
          <a:xfrm>
            <a:off x="5588000" y="1819870"/>
            <a:ext cx="0" cy="617141"/>
          </a:xfrm>
          <a:prstGeom prst="line">
            <a:avLst/>
          </a:prstGeom>
          <a:noFill/>
          <a:ln w="50800">
            <a:solidFill>
              <a:srgbClr val="1F7A45"/>
            </a:solidFill>
            <a:prstDash val="solid"/>
          </a:ln>
        </p:spPr>
      </p:sp>
      <p:sp>
        <p:nvSpPr>
          <p:cNvPr id="10" name="Text 8"/>
          <p:cNvSpPr/>
          <p:nvPr/>
        </p:nvSpPr>
        <p:spPr>
          <a:xfrm>
            <a:off x="5791200" y="1870670"/>
            <a:ext cx="575564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213D"/>
                </a:solidFill>
                <a:latin typeface="IBM Plex Sans Thai" pitchFamily="34" charset="0"/>
                <a:ea typeface="IBM Plex Sans Thai" pitchFamily="34" charset="-122"/>
                <a:cs typeface="IBM Plex Sans Thai" pitchFamily="34" charset="-120"/>
              </a:rPr>
              <a:t>"สำหรับแบรนด์ D2C ไทยที่ขายผ่านแชต Agentic AI คือพนักงานขายดิจิทัล ที่เข้าใจภาษาไทยแบบคน จำลูกค้าทุกคนได้ และปิดการขายได้ 24 ชั่วโมง"</a:t>
            </a:r>
            <a:endParaRPr lang="en-US" sz="1400" dirty="0"/>
          </a:p>
        </p:txBody>
      </p:sp>
      <p:sp>
        <p:nvSpPr>
          <p:cNvPr id="11" name="Shape 9"/>
          <p:cNvSpPr/>
          <p:nvPr/>
        </p:nvSpPr>
        <p:spPr>
          <a:xfrm>
            <a:off x="5568950" y="2570361"/>
            <a:ext cx="2844800" cy="749234"/>
          </a:xfrm>
          <a:prstGeom prst="roundRect">
            <a:avLst>
              <a:gd name="adj" fmla="val 11018"/>
            </a:avLst>
          </a:prstGeom>
          <a:solidFill>
            <a:srgbClr val="FDFDFB"/>
          </a:solidFill>
          <a:ln w="12700">
            <a:solidFill>
              <a:srgbClr val="DDE3DA"/>
            </a:solidFill>
            <a:prstDash val="solid"/>
          </a:ln>
        </p:spPr>
      </p:sp>
      <p:sp>
        <p:nvSpPr>
          <p:cNvPr id="12" name="Text 10"/>
          <p:cNvSpPr/>
          <p:nvPr/>
        </p:nvSpPr>
        <p:spPr>
          <a:xfrm>
            <a:off x="5727700" y="2703711"/>
            <a:ext cx="260311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7A45"/>
                </a:solidFill>
                <a:latin typeface="IBM Plex Sans Thai" pitchFamily="34" charset="0"/>
                <a:ea typeface="IBM Plex Sans Thai" pitchFamily="34" charset="-122"/>
                <a:cs typeface="IBM Plex Sans Thai" pitchFamily="34" charset="-120"/>
              </a:rPr>
              <a:t>Functional</a:t>
            </a:r>
            <a:endParaRPr lang="en-US" sz="1300" dirty="0"/>
          </a:p>
        </p:txBody>
      </p:sp>
      <p:sp>
        <p:nvSpPr>
          <p:cNvPr id="13" name="Text 11"/>
          <p:cNvSpPr/>
          <p:nvPr/>
        </p:nvSpPr>
        <p:spPr>
          <a:xfrm>
            <a:off x="5727700" y="2972929"/>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Thai" pitchFamily="34" charset="0"/>
                <a:ea typeface="IBM Plex Sans Thai" pitchFamily="34" charset="-122"/>
                <a:cs typeface="IBM Plex Sans Thai" pitchFamily="34" charset="-120"/>
              </a:rPr>
              <a:t>ตอบทันที · เช็กสต็อก · จ่ายในแชต</a:t>
            </a:r>
            <a:endParaRPr lang="en-US" sz="1200" dirty="0"/>
          </a:p>
        </p:txBody>
      </p:sp>
      <p:sp>
        <p:nvSpPr>
          <p:cNvPr id="14" name="Shape 12"/>
          <p:cNvSpPr/>
          <p:nvPr/>
        </p:nvSpPr>
        <p:spPr>
          <a:xfrm>
            <a:off x="8528050" y="2570361"/>
            <a:ext cx="2844800" cy="749234"/>
          </a:xfrm>
          <a:prstGeom prst="roundRect">
            <a:avLst>
              <a:gd name="adj" fmla="val 11018"/>
            </a:avLst>
          </a:prstGeom>
          <a:solidFill>
            <a:srgbClr val="FDFDFB"/>
          </a:solidFill>
          <a:ln w="12700">
            <a:solidFill>
              <a:srgbClr val="DDE3DA"/>
            </a:solidFill>
            <a:prstDash val="solid"/>
          </a:ln>
        </p:spPr>
      </p:sp>
      <p:sp>
        <p:nvSpPr>
          <p:cNvPr id="15" name="Text 13"/>
          <p:cNvSpPr/>
          <p:nvPr/>
        </p:nvSpPr>
        <p:spPr>
          <a:xfrm>
            <a:off x="8686800" y="2703711"/>
            <a:ext cx="2603119"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A5410"/>
                </a:solidFill>
                <a:latin typeface="IBM Plex Sans Thai" pitchFamily="34" charset="0"/>
                <a:ea typeface="IBM Plex Sans Thai" pitchFamily="34" charset="-122"/>
                <a:cs typeface="IBM Plex Sans Thai" pitchFamily="34" charset="-120"/>
              </a:rPr>
              <a:t>Emotional</a:t>
            </a:r>
            <a:endParaRPr lang="en-US" sz="1300" dirty="0"/>
          </a:p>
        </p:txBody>
      </p:sp>
      <p:sp>
        <p:nvSpPr>
          <p:cNvPr id="16" name="Text 14"/>
          <p:cNvSpPr/>
          <p:nvPr/>
        </p:nvSpPr>
        <p:spPr>
          <a:xfrm>
            <a:off x="8686800" y="2972929"/>
            <a:ext cx="2603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Thai" pitchFamily="34" charset="0"/>
                <a:ea typeface="IBM Plex Sans Thai" pitchFamily="34" charset="-122"/>
                <a:cs typeface="IBM Plex Sans Thai" pitchFamily="34" charset="-120"/>
              </a:rPr>
              <a:t>"ร้านจำเราได้" · มั่นใจว่าซื้อถูก</a:t>
            </a:r>
            <a:endParaRPr lang="en-US" sz="12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10 / 18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T · TACTICS · 4PS ↔ 4CS (L07 P.68–69)</a:t>
            </a:r>
            <a:endParaRPr lang="en-US" sz="1200" dirty="0"/>
          </a:p>
        </p:txBody>
      </p:sp>
      <p:sp>
        <p:nvSpPr>
          <p:cNvPr id="3" name="Text 1"/>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บทสนทนาทำให้ 4Cs เกิดขึ้นจริงในทุกแชต</a:t>
            </a:r>
            <a:endParaRPr lang="en-US" sz="3000" dirty="0"/>
          </a:p>
        </p:txBody>
      </p:sp>
      <p:sp>
        <p:nvSpPr>
          <p:cNvPr id="4" name="Text 2"/>
          <p:cNvSpPr/>
          <p:nvPr/>
        </p:nvSpPr>
        <p:spPr>
          <a:xfrm>
            <a:off x="812800" y="1819870"/>
            <a:ext cx="1397000" cy="452107"/>
          </a:xfrm>
          <a:prstGeom prst="roundRect">
            <a:avLst>
              <a:gd name="adj" fmla="val 16854"/>
            </a:avLst>
          </a:prstGeom>
          <a:solidFill>
            <a:srgbClr val="14213D"/>
          </a:solidFill>
          <a:ln/>
        </p:spPr>
        <p:txBody>
          <a:bodyPr wrap="square" lIns="130082" tIns="79282" rIns="79282" bIns="53882"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Product</a:t>
            </a:r>
            <a:endParaRPr lang="en-US" sz="1400" dirty="0"/>
          </a:p>
        </p:txBody>
      </p:sp>
      <p:pic>
        <p:nvPicPr>
          <p:cNvPr id="5" name="Image 0" descr="arrow-right">    </p:cNvPr>
          <p:cNvPicPr>
            <a:picLocks noChangeAspect="1"/>
          </p:cNvPicPr>
          <p:nvPr/>
        </p:nvPicPr>
        <p:blipFill>
          <a:blip r:embed="rId1"/>
          <a:srcRect l="0" r="0" t="0" b="0"/>
          <a:stretch/>
        </p:blipFill>
        <p:spPr>
          <a:xfrm>
            <a:off x="2311400" y="1969691"/>
            <a:ext cx="304800" cy="152400"/>
          </a:xfrm>
          <a:prstGeom prst="rect">
            <a:avLst/>
          </a:prstGeom>
        </p:spPr>
      </p:pic>
      <p:sp>
        <p:nvSpPr>
          <p:cNvPr id="6" name="Text 3"/>
          <p:cNvSpPr/>
          <p:nvPr/>
        </p:nvSpPr>
        <p:spPr>
          <a:xfrm>
            <a:off x="2717800" y="1822388"/>
            <a:ext cx="2540000" cy="447014"/>
          </a:xfrm>
          <a:prstGeom prst="roundRect">
            <a:avLst>
              <a:gd name="adj" fmla="val 17046"/>
            </a:avLst>
          </a:prstGeom>
          <a:solidFill>
            <a:srgbClr val="D4E9D9"/>
          </a:solidFill>
          <a:ln/>
        </p:spPr>
        <p:txBody>
          <a:bodyPr wrap="square" lIns="130082" tIns="85632" rIns="63026" bIns="60232"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Consumer needs</a:t>
            </a:r>
            <a:endParaRPr lang="en-US" sz="1300" dirty="0"/>
          </a:p>
        </p:txBody>
      </p:sp>
      <p:sp>
        <p:nvSpPr>
          <p:cNvPr id="7" name="Text 4"/>
          <p:cNvSpPr/>
          <p:nvPr/>
        </p:nvSpPr>
        <p:spPr>
          <a:xfrm>
            <a:off x="5359400" y="1930338"/>
            <a:ext cx="620039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ถามก่อนแนะนำ (consultative selling) ตาม Product-Market Fit</a:t>
            </a:r>
            <a:endParaRPr lang="en-US" sz="1300" dirty="0"/>
          </a:p>
        </p:txBody>
      </p:sp>
      <p:sp>
        <p:nvSpPr>
          <p:cNvPr id="8" name="Text 5"/>
          <p:cNvSpPr/>
          <p:nvPr/>
        </p:nvSpPr>
        <p:spPr>
          <a:xfrm>
            <a:off x="812800" y="2360879"/>
            <a:ext cx="1397000" cy="452107"/>
          </a:xfrm>
          <a:prstGeom prst="roundRect">
            <a:avLst>
              <a:gd name="adj" fmla="val 16854"/>
            </a:avLst>
          </a:prstGeom>
          <a:solidFill>
            <a:srgbClr val="14213D"/>
          </a:solidFill>
          <a:ln/>
        </p:spPr>
        <p:txBody>
          <a:bodyPr wrap="square" lIns="130082" tIns="79282" rIns="79282" bIns="53882"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Price</a:t>
            </a:r>
            <a:endParaRPr lang="en-US" sz="1400" dirty="0"/>
          </a:p>
        </p:txBody>
      </p:sp>
      <p:pic>
        <p:nvPicPr>
          <p:cNvPr id="9" name="Image 1" descr="arrow-right">    </p:cNvPr>
          <p:cNvPicPr>
            <a:picLocks noChangeAspect="1"/>
          </p:cNvPicPr>
          <p:nvPr/>
        </p:nvPicPr>
        <p:blipFill>
          <a:blip r:embed="rId2"/>
          <a:srcRect l="0" r="0" t="0" b="0"/>
          <a:stretch/>
        </p:blipFill>
        <p:spPr>
          <a:xfrm>
            <a:off x="2311400" y="2510699"/>
            <a:ext cx="304800" cy="152400"/>
          </a:xfrm>
          <a:prstGeom prst="rect">
            <a:avLst/>
          </a:prstGeom>
        </p:spPr>
      </p:pic>
      <p:sp>
        <p:nvSpPr>
          <p:cNvPr id="10" name="Text 6"/>
          <p:cNvSpPr/>
          <p:nvPr/>
        </p:nvSpPr>
        <p:spPr>
          <a:xfrm>
            <a:off x="2717800" y="2363391"/>
            <a:ext cx="2540000" cy="447014"/>
          </a:xfrm>
          <a:prstGeom prst="roundRect">
            <a:avLst>
              <a:gd name="adj" fmla="val 17046"/>
            </a:avLst>
          </a:prstGeom>
          <a:solidFill>
            <a:srgbClr val="D4E9D9"/>
          </a:solidFill>
          <a:ln/>
        </p:spPr>
        <p:txBody>
          <a:bodyPr wrap="square" lIns="130082" tIns="85632" rIns="63026" bIns="60232"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Cost to consumer</a:t>
            </a:r>
            <a:endParaRPr lang="en-US" sz="1300" dirty="0"/>
          </a:p>
        </p:txBody>
      </p:sp>
      <p:sp>
        <p:nvSpPr>
          <p:cNvPr id="11" name="Text 7"/>
          <p:cNvSpPr/>
          <p:nvPr/>
        </p:nvSpPr>
        <p:spPr>
          <a:xfrm>
            <a:off x="5359400" y="2471341"/>
            <a:ext cx="620039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ลดเวลารอและความเสี่ยงซื้อผิด · แพ็กเกจ 3 ระดับ (Rule of 3)</a:t>
            </a:r>
            <a:endParaRPr lang="en-US" sz="1300" dirty="0"/>
          </a:p>
        </p:txBody>
      </p:sp>
      <p:sp>
        <p:nvSpPr>
          <p:cNvPr id="12" name="Text 8"/>
          <p:cNvSpPr/>
          <p:nvPr/>
        </p:nvSpPr>
        <p:spPr>
          <a:xfrm>
            <a:off x="812800" y="2901888"/>
            <a:ext cx="1397000" cy="452107"/>
          </a:xfrm>
          <a:prstGeom prst="roundRect">
            <a:avLst>
              <a:gd name="adj" fmla="val 16854"/>
            </a:avLst>
          </a:prstGeom>
          <a:solidFill>
            <a:srgbClr val="14213D"/>
          </a:solidFill>
          <a:ln/>
        </p:spPr>
        <p:txBody>
          <a:bodyPr wrap="square" lIns="130082" tIns="79282" rIns="79282" bIns="53882"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Place</a:t>
            </a:r>
            <a:endParaRPr lang="en-US" sz="1400" dirty="0"/>
          </a:p>
        </p:txBody>
      </p:sp>
      <p:pic>
        <p:nvPicPr>
          <p:cNvPr id="13" name="Image 2" descr="arrow-right">    </p:cNvPr>
          <p:cNvPicPr>
            <a:picLocks noChangeAspect="1"/>
          </p:cNvPicPr>
          <p:nvPr/>
        </p:nvPicPr>
        <p:blipFill>
          <a:blip r:embed="rId3"/>
          <a:srcRect l="0" r="0" t="0" b="0"/>
          <a:stretch/>
        </p:blipFill>
        <p:spPr>
          <a:xfrm>
            <a:off x="2311400" y="3051708"/>
            <a:ext cx="304800" cy="152400"/>
          </a:xfrm>
          <a:prstGeom prst="rect">
            <a:avLst/>
          </a:prstGeom>
        </p:spPr>
      </p:pic>
      <p:sp>
        <p:nvSpPr>
          <p:cNvPr id="14" name="Text 9"/>
          <p:cNvSpPr/>
          <p:nvPr/>
        </p:nvSpPr>
        <p:spPr>
          <a:xfrm>
            <a:off x="2717800" y="2904399"/>
            <a:ext cx="2540000" cy="447014"/>
          </a:xfrm>
          <a:prstGeom prst="roundRect">
            <a:avLst>
              <a:gd name="adj" fmla="val 17046"/>
            </a:avLst>
          </a:prstGeom>
          <a:solidFill>
            <a:srgbClr val="D4E9D9"/>
          </a:solidFill>
          <a:ln/>
        </p:spPr>
        <p:txBody>
          <a:bodyPr wrap="square" lIns="130082" tIns="85632" rIns="63026" bIns="60232"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Convenience</a:t>
            </a:r>
            <a:endParaRPr lang="en-US" sz="1300" dirty="0"/>
          </a:p>
        </p:txBody>
      </p:sp>
      <p:sp>
        <p:nvSpPr>
          <p:cNvPr id="15" name="Text 10"/>
          <p:cNvSpPr/>
          <p:nvPr/>
        </p:nvSpPr>
        <p:spPr>
          <a:xfrm>
            <a:off x="5359400" y="3012349"/>
            <a:ext cx="620039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ซื้อในแอปที่ใช้ทุกวัน · PromptPay QR · 24/7 · Producer → Consumer</a:t>
            </a:r>
            <a:endParaRPr lang="en-US" sz="1300" dirty="0"/>
          </a:p>
        </p:txBody>
      </p:sp>
      <p:sp>
        <p:nvSpPr>
          <p:cNvPr id="16" name="Text 11"/>
          <p:cNvSpPr/>
          <p:nvPr/>
        </p:nvSpPr>
        <p:spPr>
          <a:xfrm>
            <a:off x="812800" y="3442891"/>
            <a:ext cx="1397000" cy="452107"/>
          </a:xfrm>
          <a:prstGeom prst="roundRect">
            <a:avLst>
              <a:gd name="adj" fmla="val 16854"/>
            </a:avLst>
          </a:prstGeom>
          <a:solidFill>
            <a:srgbClr val="14213D"/>
          </a:solidFill>
          <a:ln/>
        </p:spPr>
        <p:txBody>
          <a:bodyPr wrap="square" lIns="130082" tIns="79282" rIns="79282" bIns="53882"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Promotion</a:t>
            </a:r>
            <a:endParaRPr lang="en-US" sz="1400" dirty="0"/>
          </a:p>
        </p:txBody>
      </p:sp>
      <p:pic>
        <p:nvPicPr>
          <p:cNvPr id="17" name="Image 3" descr="arrow-right">    </p:cNvPr>
          <p:cNvPicPr>
            <a:picLocks noChangeAspect="1"/>
          </p:cNvPicPr>
          <p:nvPr/>
        </p:nvPicPr>
        <p:blipFill>
          <a:blip r:embed="rId4"/>
          <a:srcRect l="0" r="0" t="0" b="0"/>
          <a:stretch/>
        </p:blipFill>
        <p:spPr>
          <a:xfrm>
            <a:off x="2311400" y="3592711"/>
            <a:ext cx="304800" cy="152400"/>
          </a:xfrm>
          <a:prstGeom prst="rect">
            <a:avLst/>
          </a:prstGeom>
        </p:spPr>
      </p:pic>
      <p:sp>
        <p:nvSpPr>
          <p:cNvPr id="18" name="Text 12"/>
          <p:cNvSpPr/>
          <p:nvPr/>
        </p:nvSpPr>
        <p:spPr>
          <a:xfrm>
            <a:off x="2717800" y="3445408"/>
            <a:ext cx="2540000" cy="447014"/>
          </a:xfrm>
          <a:prstGeom prst="roundRect">
            <a:avLst>
              <a:gd name="adj" fmla="val 17046"/>
            </a:avLst>
          </a:prstGeom>
          <a:solidFill>
            <a:srgbClr val="D4E9D9"/>
          </a:solidFill>
          <a:ln/>
        </p:spPr>
        <p:txBody>
          <a:bodyPr wrap="square" lIns="130082" tIns="85632" rIns="63026" bIns="60232"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Communication</a:t>
            </a:r>
            <a:endParaRPr lang="en-US" sz="1300" dirty="0"/>
          </a:p>
        </p:txBody>
      </p:sp>
      <p:sp>
        <p:nvSpPr>
          <p:cNvPr id="19" name="Text 13"/>
          <p:cNvSpPr/>
          <p:nvPr/>
        </p:nvSpPr>
        <p:spPr>
          <a:xfrm>
            <a:off x="5359400" y="3553358"/>
            <a:ext cx="620039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จาก broadcast เป็นบทสนทนาสองทาง · upsell / cross-sell ตามจังหวะ</a:t>
            </a:r>
            <a:endParaRPr lang="en-US" sz="1300" dirty="0"/>
          </a:p>
        </p:txBody>
      </p:sp>
      <p:sp>
        <p:nvSpPr>
          <p:cNvPr id="20" name="Text 14"/>
          <p:cNvSpPr/>
          <p:nvPr/>
        </p:nvSpPr>
        <p:spPr>
          <a:xfrm>
            <a:off x="812800" y="4072799"/>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7Ps เพิ่มเติม:</a:t>
            </a:r>
            <a:r>
              <a:rPr lang="en-US" sz="1300" dirty="0">
                <a:solidFill>
                  <a:srgbClr val="4A5568"/>
                </a:solidFill>
                <a:latin typeface="IBM Plex Sans Thai" pitchFamily="34" charset="0"/>
                <a:ea typeface="IBM Plex Sans Thai" pitchFamily="34" charset="-122"/>
                <a:cs typeface="IBM Plex Sans Thai" pitchFamily="34" charset="-120"/>
              </a:rPr>
              <a:t> People = แอดมินเป็น AI supervisor · Process = flow + handoff · Physical evidence = Rich Menu, ใบเสร็จดิจิทัล, รีวิว</a:t>
            </a:r>
            <a:endParaRPr lang="en-US" sz="1300" dirty="0"/>
          </a:p>
        </p:txBody>
      </p:sp>
      <p:sp>
        <p:nvSpPr>
          <p:cNvPr id="21"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22"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11 / 18</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T · TACTICS · AIDA FUNNEL &amp; TOOLS (L08 P.37–76)</a:t>
            </a:r>
            <a:endParaRPr lang="en-US" sz="1200" dirty="0"/>
          </a:p>
        </p:txBody>
      </p:sp>
      <p:sp>
        <p:nvSpPr>
          <p:cNvPr id="3" name="Text 1"/>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Agent ทำงานแทนเครื่องมือ AIDA หลายตัวในจุดเดียว</a:t>
            </a:r>
            <a:endParaRPr lang="en-US" sz="3000" dirty="0"/>
          </a:p>
        </p:txBody>
      </p:sp>
      <p:sp>
        <p:nvSpPr>
          <p:cNvPr id="4" name="Text 2"/>
          <p:cNvSpPr/>
          <p:nvPr/>
        </p:nvSpPr>
        <p:spPr>
          <a:xfrm>
            <a:off x="812800" y="1819870"/>
            <a:ext cx="4064000" cy="502907"/>
          </a:xfrm>
          <a:custGeom>
            <a:avLst/>
            <a:gdLst/>
            <a:ahLst/>
            <a:cxnLst/>
            <a:rect l="l" t="t" r="r" b="b"/>
            <a:pathLst>
              <a:path w="4064000" h="502907">
                <a:moveTo>
                  <a:pt x="63500" y="0"/>
                </a:moveTo>
                <a:lnTo>
                  <a:pt x="4000500" y="0"/>
                </a:lnTo>
                <a:arcTo hR="63500" wR="63500" stAng="16200000" swAng="5400000"/>
                <a:lnTo>
                  <a:pt x="4064000" y="439407"/>
                </a:lnTo>
                <a:arcTo hR="63500" wR="63500" stAng="0" swAng="5400000"/>
                <a:lnTo>
                  <a:pt x="63500" y="502907"/>
                </a:lnTo>
                <a:arcTo hR="63500" wR="63500" stAng="5400000" swAng="5400000"/>
                <a:lnTo>
                  <a:pt x="0" y="63500"/>
                </a:lnTo>
                <a:arcTo hR="63500" wR="63500" stAng="10800000" swAng="5400000"/>
                <a:close/>
              </a:path>
            </a:pathLst>
          </a:custGeom>
          <a:solidFill>
            <a:srgbClr val="14213D"/>
          </a:solidFill>
          <a:ln/>
        </p:spPr>
        <p:txBody>
          <a:bodyPr wrap="square" lIns="0" tIns="127000" rIns="0" bIns="101600" rtlCol="0" anchor="t">
            <a:normAutofit/>
          </a:bodyPr>
          <a:lstStyle/>
          <a:p>
            <a:pPr algn="ctr"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ATTENTION · Aware</a:t>
            </a:r>
            <a:endParaRPr lang="en-US" sz="1400" dirty="0"/>
          </a:p>
        </p:txBody>
      </p:sp>
      <p:sp>
        <p:nvSpPr>
          <p:cNvPr id="5" name="Text 3"/>
          <p:cNvSpPr/>
          <p:nvPr/>
        </p:nvSpPr>
        <p:spPr>
          <a:xfrm>
            <a:off x="5080000" y="1964668"/>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Thai" pitchFamily="34" charset="0"/>
                <a:ea typeface="IBM Plex Sans Thai" pitchFamily="34" charset="-122"/>
                <a:cs typeface="IBM Plex Sans Thai" pitchFamily="34" charset="-120"/>
              </a:rPr>
              <a:t>Social ads, SEO/SEM/GEO, KOL</a:t>
            </a:r>
            <a:r>
              <a:rPr lang="en-US" sz="1200" dirty="0">
                <a:solidFill>
                  <a:srgbClr val="14213D"/>
                </a:solidFill>
                <a:latin typeface="IBM Plex Sans Thai" pitchFamily="34" charset="0"/>
                <a:ea typeface="IBM Plex Sans Thai" pitchFamily="34" charset="-122"/>
                <a:cs typeface="IBM Plex Sans Thai" pitchFamily="34" charset="-120"/>
              </a:rPr>
              <a:t> → CTA "Add LINE" · agent เป็นปลายทาง</a:t>
            </a:r>
            <a:endParaRPr lang="en-US" sz="1200" dirty="0"/>
          </a:p>
        </p:txBody>
      </p:sp>
      <p:sp>
        <p:nvSpPr>
          <p:cNvPr id="6" name="Text 4"/>
          <p:cNvSpPr/>
          <p:nvPr/>
        </p:nvSpPr>
        <p:spPr>
          <a:xfrm>
            <a:off x="1066800" y="2398979"/>
            <a:ext cx="3556000" cy="502907"/>
          </a:xfrm>
          <a:custGeom>
            <a:avLst/>
            <a:gdLst/>
            <a:ahLst/>
            <a:cxnLst/>
            <a:rect l="l" t="t" r="r" b="b"/>
            <a:pathLst>
              <a:path w="3556000" h="502907">
                <a:moveTo>
                  <a:pt x="63500" y="0"/>
                </a:moveTo>
                <a:lnTo>
                  <a:pt x="3492500" y="0"/>
                </a:lnTo>
                <a:arcTo hR="63500" wR="63500" stAng="16200000" swAng="5400000"/>
                <a:lnTo>
                  <a:pt x="3556000" y="439407"/>
                </a:lnTo>
                <a:arcTo hR="63500" wR="63500" stAng="0" swAng="5400000"/>
                <a:lnTo>
                  <a:pt x="63500" y="502907"/>
                </a:lnTo>
                <a:arcTo hR="63500" wR="63500" stAng="5400000" swAng="5400000"/>
                <a:lnTo>
                  <a:pt x="0" y="63500"/>
                </a:lnTo>
                <a:arcTo hR="63500" wR="63500" stAng="10800000" swAng="5400000"/>
                <a:close/>
              </a:path>
            </a:pathLst>
          </a:custGeom>
          <a:solidFill>
            <a:srgbClr val="2B4E7E"/>
          </a:solidFill>
          <a:ln/>
        </p:spPr>
        <p:txBody>
          <a:bodyPr wrap="square" lIns="0" tIns="127000" rIns="0" bIns="101600" rtlCol="0" anchor="t">
            <a:normAutofit/>
          </a:bodyPr>
          <a:lstStyle/>
          <a:p>
            <a:pPr algn="ctr"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INTEREST · Lead</a:t>
            </a:r>
            <a:endParaRPr lang="en-US" sz="1400" dirty="0"/>
          </a:p>
        </p:txBody>
      </p:sp>
      <p:sp>
        <p:nvSpPr>
          <p:cNvPr id="7" name="Text 5"/>
          <p:cNvSpPr/>
          <p:nvPr/>
        </p:nvSpPr>
        <p:spPr>
          <a:xfrm>
            <a:off x="5080000" y="2543770"/>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Thai" pitchFamily="34" charset="0"/>
                <a:ea typeface="IBM Plex Sans Thai" pitchFamily="34" charset="-122"/>
                <a:cs typeface="IBM Plex Sans Thai" pitchFamily="34" charset="-120"/>
              </a:rPr>
              <a:t>FAQ, Product detail, Engagement</a:t>
            </a:r>
            <a:r>
              <a:rPr lang="en-US" sz="1200" dirty="0">
                <a:solidFill>
                  <a:srgbClr val="14213D"/>
                </a:solidFill>
                <a:latin typeface="IBM Plex Sans Thai" pitchFamily="34" charset="0"/>
                <a:ea typeface="IBM Plex Sans Thai" pitchFamily="34" charset="-122"/>
                <a:cs typeface="IBM Plex Sans Thai" pitchFamily="34" charset="-120"/>
              </a:rPr>
              <a:t> · ทักทายในวินาที · บันทึก lead</a:t>
            </a:r>
            <a:endParaRPr lang="en-US" sz="1200" dirty="0"/>
          </a:p>
        </p:txBody>
      </p:sp>
      <p:sp>
        <p:nvSpPr>
          <p:cNvPr id="8" name="Text 6"/>
          <p:cNvSpPr/>
          <p:nvPr/>
        </p:nvSpPr>
        <p:spPr>
          <a:xfrm>
            <a:off x="1320800" y="2978088"/>
            <a:ext cx="3048000" cy="502907"/>
          </a:xfrm>
          <a:custGeom>
            <a:avLst/>
            <a:gdLst/>
            <a:ahLst/>
            <a:cxnLst/>
            <a:rect l="l" t="t" r="r" b="b"/>
            <a:pathLst>
              <a:path w="3048000" h="502907">
                <a:moveTo>
                  <a:pt x="63500" y="0"/>
                </a:moveTo>
                <a:lnTo>
                  <a:pt x="2984500" y="0"/>
                </a:lnTo>
                <a:arcTo hR="63500" wR="63500" stAng="16200000" swAng="5400000"/>
                <a:lnTo>
                  <a:pt x="3048000" y="439407"/>
                </a:lnTo>
                <a:arcTo hR="63500" wR="63500" stAng="0" swAng="5400000"/>
                <a:lnTo>
                  <a:pt x="63500" y="502907"/>
                </a:lnTo>
                <a:arcTo hR="63500" wR="63500" stAng="5400000" swAng="5400000"/>
                <a:lnTo>
                  <a:pt x="0" y="63500"/>
                </a:lnTo>
                <a:arcTo hR="63500" wR="63500" stAng="10800000" swAng="5400000"/>
                <a:close/>
              </a:path>
            </a:pathLst>
          </a:custGeom>
          <a:solidFill>
            <a:srgbClr val="2F6E9E"/>
          </a:solidFill>
          <a:ln/>
        </p:spPr>
        <p:txBody>
          <a:bodyPr wrap="square" lIns="0" tIns="127000" rIns="0" bIns="101600" rtlCol="0" anchor="t">
            <a:normAutofit/>
          </a:bodyPr>
          <a:lstStyle/>
          <a:p>
            <a:pPr algn="ctr"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DESIRE · Prospect</a:t>
            </a:r>
            <a:endParaRPr lang="en-US" sz="1400" dirty="0"/>
          </a:p>
        </p:txBody>
      </p:sp>
      <p:sp>
        <p:nvSpPr>
          <p:cNvPr id="9" name="Text 7"/>
          <p:cNvSpPr/>
          <p:nvPr/>
        </p:nvSpPr>
        <p:spPr>
          <a:xfrm>
            <a:off x="5080000" y="3122879"/>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Thai" pitchFamily="34" charset="0"/>
                <a:ea typeface="IBM Plex Sans Thai" pitchFamily="34" charset="-122"/>
                <a:cs typeface="IBM Plex Sans Thai" pitchFamily="34" charset="-120"/>
              </a:rPr>
              <a:t>Personalized content, Reviews, Social proof</a:t>
            </a:r>
            <a:r>
              <a:rPr lang="en-US" sz="1200" dirty="0">
                <a:solidFill>
                  <a:srgbClr val="14213D"/>
                </a:solidFill>
                <a:latin typeface="IBM Plex Sans Thai" pitchFamily="34" charset="0"/>
                <a:ea typeface="IBM Plex Sans Thai" pitchFamily="34" charset="-122"/>
                <a:cs typeface="IBM Plex Sans Thai" pitchFamily="34" charset="-120"/>
              </a:rPr>
              <a:t> · lead scoring</a:t>
            </a:r>
            <a:endParaRPr lang="en-US" sz="1200" dirty="0"/>
          </a:p>
        </p:txBody>
      </p:sp>
      <p:sp>
        <p:nvSpPr>
          <p:cNvPr id="10" name="Text 8"/>
          <p:cNvSpPr/>
          <p:nvPr/>
        </p:nvSpPr>
        <p:spPr>
          <a:xfrm>
            <a:off x="1574800" y="3557191"/>
            <a:ext cx="2540000" cy="502907"/>
          </a:xfrm>
          <a:custGeom>
            <a:avLst/>
            <a:gdLst/>
            <a:ahLst/>
            <a:cxnLst/>
            <a:rect l="l" t="t" r="r" b="b"/>
            <a:pathLst>
              <a:path w="2540000" h="502907">
                <a:moveTo>
                  <a:pt x="63500" y="0"/>
                </a:moveTo>
                <a:lnTo>
                  <a:pt x="2476500" y="0"/>
                </a:lnTo>
                <a:arcTo hR="63500" wR="63500" stAng="16200000" swAng="5400000"/>
                <a:lnTo>
                  <a:pt x="2540000" y="439407"/>
                </a:lnTo>
                <a:arcTo hR="63500" wR="63500" stAng="0" swAng="5400000"/>
                <a:lnTo>
                  <a:pt x="63500" y="502907"/>
                </a:lnTo>
                <a:arcTo hR="63500" wR="63500" stAng="5400000" swAng="5400000"/>
                <a:lnTo>
                  <a:pt x="0" y="63500"/>
                </a:lnTo>
                <a:arcTo hR="63500" wR="63500" stAng="10800000" swAng="5400000"/>
                <a:close/>
              </a:path>
            </a:pathLst>
          </a:custGeom>
          <a:solidFill>
            <a:srgbClr val="1F7A45"/>
          </a:solidFill>
          <a:ln/>
        </p:spPr>
        <p:txBody>
          <a:bodyPr wrap="square" lIns="0" tIns="127000" rIns="0" bIns="101600" rtlCol="0" anchor="t">
            <a:normAutofit/>
          </a:bodyPr>
          <a:lstStyle/>
          <a:p>
            <a:pPr algn="ctr"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ACTION · Close</a:t>
            </a:r>
            <a:endParaRPr lang="en-US" sz="1400" dirty="0"/>
          </a:p>
        </p:txBody>
      </p:sp>
      <p:sp>
        <p:nvSpPr>
          <p:cNvPr id="11" name="Text 9"/>
          <p:cNvSpPr/>
          <p:nvPr/>
        </p:nvSpPr>
        <p:spPr>
          <a:xfrm>
            <a:off x="5080000" y="3701988"/>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Thai" pitchFamily="34" charset="0"/>
                <a:ea typeface="IBM Plex Sans Thai" pitchFamily="34" charset="-122"/>
                <a:cs typeface="IBM Plex Sans Thai" pitchFamily="34" charset="-120"/>
              </a:rPr>
              <a:t>Chatbot &amp; Live chat, CTA</a:t>
            </a:r>
            <a:r>
              <a:rPr lang="en-US" sz="1200" dirty="0">
                <a:solidFill>
                  <a:srgbClr val="14213D"/>
                </a:solidFill>
                <a:latin typeface="IBM Plex Sans Thai" pitchFamily="34" charset="0"/>
                <a:ea typeface="IBM Plex Sans Thai" pitchFamily="34" charset="-122"/>
                <a:cs typeface="IBM Plex Sans Thai" pitchFamily="34" charset="-120"/>
              </a:rPr>
              <a:t> · สร้าง order + PromptPay QR ในแชต</a:t>
            </a:r>
            <a:endParaRPr lang="en-US" sz="1200" dirty="0"/>
          </a:p>
        </p:txBody>
      </p:sp>
      <p:sp>
        <p:nvSpPr>
          <p:cNvPr id="12" name="Text 10"/>
          <p:cNvSpPr/>
          <p:nvPr/>
        </p:nvSpPr>
        <p:spPr>
          <a:xfrm>
            <a:off x="1828800" y="4136299"/>
            <a:ext cx="2032000" cy="502907"/>
          </a:xfrm>
          <a:custGeom>
            <a:avLst/>
            <a:gdLst/>
            <a:ahLst/>
            <a:cxnLst/>
            <a:rect l="l" t="t" r="r" b="b"/>
            <a:pathLst>
              <a:path w="2032000" h="502907">
                <a:moveTo>
                  <a:pt x="63500" y="0"/>
                </a:moveTo>
                <a:lnTo>
                  <a:pt x="1968500" y="0"/>
                </a:lnTo>
                <a:arcTo hR="63500" wR="63500" stAng="16200000" swAng="5400000"/>
                <a:lnTo>
                  <a:pt x="2032000" y="439407"/>
                </a:lnTo>
                <a:arcTo hR="63500" wR="63500" stAng="0" swAng="5400000"/>
                <a:lnTo>
                  <a:pt x="63500" y="502907"/>
                </a:lnTo>
                <a:arcTo hR="63500" wR="63500" stAng="5400000" swAng="5400000"/>
                <a:lnTo>
                  <a:pt x="0" y="63500"/>
                </a:lnTo>
                <a:arcTo hR="63500" wR="63500" stAng="10800000" swAng="5400000"/>
                <a:close/>
              </a:path>
            </a:pathLst>
          </a:custGeom>
          <a:solidFill>
            <a:srgbClr val="F2C46D"/>
          </a:solidFill>
          <a:ln/>
        </p:spPr>
        <p:txBody>
          <a:bodyPr wrap="square" lIns="0" tIns="127000" rIns="0" bIns="101600" rtlCol="0" anchor="t">
            <a:normAutofit/>
          </a:bodyPr>
          <a:lstStyle/>
          <a:p>
            <a:pPr algn="ctr"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LOYALTY</a:t>
            </a:r>
            <a:endParaRPr lang="en-US" sz="1400" dirty="0"/>
          </a:p>
        </p:txBody>
      </p:sp>
      <p:sp>
        <p:nvSpPr>
          <p:cNvPr id="13" name="Text 11"/>
          <p:cNvSpPr/>
          <p:nvPr/>
        </p:nvSpPr>
        <p:spPr>
          <a:xfrm>
            <a:off x="5080000" y="4281091"/>
            <a:ext cx="64881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Thai" pitchFamily="34" charset="0"/>
                <a:ea typeface="IBM Plex Sans Thai" pitchFamily="34" charset="-122"/>
                <a:cs typeface="IBM Plex Sans Thai" pitchFamily="34" charset="-120"/>
              </a:rPr>
              <a:t>Re-engagement, Upsell</a:t>
            </a:r>
            <a:r>
              <a:rPr lang="en-US" sz="1200" dirty="0">
                <a:solidFill>
                  <a:srgbClr val="14213D"/>
                </a:solidFill>
                <a:latin typeface="IBM Plex Sans Thai" pitchFamily="34" charset="0"/>
                <a:ea typeface="IBM Plex Sans Thai" pitchFamily="34" charset="-122"/>
                <a:cs typeface="IBM Plex Sans Thai" pitchFamily="34" charset="-120"/>
              </a:rPr>
              <a:t> · แจ้งพัสดุ · ขอรีวิว · เตือนซื้อซ้ำ</a:t>
            </a:r>
            <a:endParaRPr lang="en-US" sz="12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 · "From Attention to Action Takes Months" (L08 p.76)</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12 / 18</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C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T · TACTICS · AGENTIC CRM</a:t>
            </a:r>
            <a:endParaRPr lang="en-US" sz="1200" dirty="0"/>
          </a:p>
        </p:txBody>
      </p:sp>
      <p:sp>
        <p:nvSpPr>
          <p:cNvPr id="3" name="Text 1"/>
          <p:cNvSpPr/>
          <p:nvPr>
            <p:ph type="title"/>
          </p:nvPr>
        </p:nvSpPr>
        <p:spPr>
          <a:xfrm>
            <a:off x="812800" y="12293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Agent อ่านและเขียน CRM เองได้ จึงเกิดวงจรปิด</a:t>
            </a:r>
            <a:endParaRPr lang="en-US" sz="3000" dirty="0"/>
          </a:p>
        </p:txBody>
      </p:sp>
      <p:sp>
        <p:nvSpPr>
          <p:cNvPr id="4" name="Shape 2"/>
          <p:cNvSpPr/>
          <p:nvPr/>
        </p:nvSpPr>
        <p:spPr>
          <a:xfrm>
            <a:off x="812800" y="1870670"/>
            <a:ext cx="1788120" cy="855927"/>
          </a:xfrm>
          <a:prstGeom prst="roundRect">
            <a:avLst>
              <a:gd name="adj" fmla="val 11870"/>
            </a:avLst>
          </a:prstGeom>
          <a:solidFill>
            <a:srgbClr val="FDFDFB"/>
          </a:solidFill>
          <a:ln/>
        </p:spPr>
      </p:sp>
      <p:sp>
        <p:nvSpPr>
          <p:cNvPr id="5" name="Shape 3"/>
          <p:cNvSpPr/>
          <p:nvPr/>
        </p:nvSpPr>
        <p:spPr>
          <a:xfrm>
            <a:off x="812800" y="1870670"/>
            <a:ext cx="1788120" cy="855927"/>
          </a:xfrm>
          <a:custGeom>
            <a:avLst/>
            <a:gdLst/>
            <a:ahLst/>
            <a:cxnLst/>
            <a:rect l="l" t="t" r="r" b="b"/>
            <a:pathLst>
              <a:path w="1788120" h="855927">
                <a:moveTo>
                  <a:pt x="0" y="101600"/>
                </a:moveTo>
                <a:lnTo>
                  <a:pt x="0" y="101600"/>
                </a:lnTo>
                <a:arcTo hR="101600" wR="101600" stAng="10800000" swAng="5400000"/>
                <a:lnTo>
                  <a:pt x="1686520" y="0"/>
                </a:lnTo>
                <a:arcTo hR="101600" wR="101600" stAng="16200000" swAng="5400000"/>
                <a:lnTo>
                  <a:pt x="1788120" y="101600"/>
                </a:lnTo>
                <a:arcTo hR="63500" wR="101600" stAng="0" swAng="-5400000"/>
                <a:lnTo>
                  <a:pt x="101600" y="38100"/>
                </a:lnTo>
                <a:arcTo hR="63500" wR="101600" stAng="16200000" swAng="-5400000"/>
                <a:close/>
              </a:path>
            </a:pathLst>
          </a:custGeom>
          <a:solidFill>
            <a:srgbClr val="14213D"/>
          </a:solidFill>
          <a:ln/>
        </p:spPr>
      </p:sp>
      <p:sp>
        <p:nvSpPr>
          <p:cNvPr id="6" name="Text 4"/>
          <p:cNvSpPr/>
          <p:nvPr/>
        </p:nvSpPr>
        <p:spPr>
          <a:xfrm>
            <a:off x="965200" y="2061170"/>
            <a:ext cx="15341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1 Capture</a:t>
            </a:r>
            <a:endParaRPr lang="en-US" sz="1400" dirty="0"/>
          </a:p>
        </p:txBody>
      </p:sp>
      <p:sp>
        <p:nvSpPr>
          <p:cNvPr id="7" name="Text 5"/>
          <p:cNvSpPr/>
          <p:nvPr/>
        </p:nvSpPr>
        <p:spPr>
          <a:xfrm>
            <a:off x="965200" y="2360879"/>
            <a:ext cx="1534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แชต คลิก การซื้อ</a:t>
            </a:r>
            <a:endParaRPr lang="en-US" sz="1200" dirty="0"/>
          </a:p>
        </p:txBody>
      </p:sp>
      <p:pic>
        <p:nvPicPr>
          <p:cNvPr id="8" name="Image 0" descr="arrow-right">    </p:cNvPr>
          <p:cNvPicPr>
            <a:picLocks noChangeAspect="1"/>
          </p:cNvPicPr>
          <p:nvPr/>
        </p:nvPicPr>
        <p:blipFill>
          <a:blip r:embed="rId1"/>
          <a:srcRect l="0" r="0" t="0" b="0"/>
          <a:stretch/>
        </p:blipFill>
        <p:spPr>
          <a:xfrm>
            <a:off x="2677120" y="2235138"/>
            <a:ext cx="254000" cy="127000"/>
          </a:xfrm>
          <a:prstGeom prst="rect">
            <a:avLst/>
          </a:prstGeom>
        </p:spPr>
      </p:pic>
      <p:sp>
        <p:nvSpPr>
          <p:cNvPr id="9" name="Shape 6"/>
          <p:cNvSpPr/>
          <p:nvPr/>
        </p:nvSpPr>
        <p:spPr>
          <a:xfrm>
            <a:off x="3007320" y="1870670"/>
            <a:ext cx="1788187" cy="855927"/>
          </a:xfrm>
          <a:prstGeom prst="roundRect">
            <a:avLst>
              <a:gd name="adj" fmla="val 11870"/>
            </a:avLst>
          </a:prstGeom>
          <a:solidFill>
            <a:srgbClr val="FDFDFB"/>
          </a:solidFill>
          <a:ln/>
        </p:spPr>
      </p:sp>
      <p:sp>
        <p:nvSpPr>
          <p:cNvPr id="10" name="Shape 7"/>
          <p:cNvSpPr/>
          <p:nvPr/>
        </p:nvSpPr>
        <p:spPr>
          <a:xfrm>
            <a:off x="3007320" y="1870670"/>
            <a:ext cx="1788187" cy="855927"/>
          </a:xfrm>
          <a:custGeom>
            <a:avLst/>
            <a:gdLst/>
            <a:ahLst/>
            <a:cxnLst/>
            <a:rect l="l" t="t" r="r" b="b"/>
            <a:pathLst>
              <a:path w="1788187" h="855927">
                <a:moveTo>
                  <a:pt x="0" y="101600"/>
                </a:moveTo>
                <a:lnTo>
                  <a:pt x="0" y="101600"/>
                </a:lnTo>
                <a:arcTo hR="101600" wR="101600" stAng="10800000" swAng="5400000"/>
                <a:lnTo>
                  <a:pt x="1686587" y="0"/>
                </a:lnTo>
                <a:arcTo hR="101600" wR="101600" stAng="16200000" swAng="5400000"/>
                <a:lnTo>
                  <a:pt x="1788187" y="101600"/>
                </a:lnTo>
                <a:arcTo hR="63500" wR="101600" stAng="0" swAng="-5400000"/>
                <a:lnTo>
                  <a:pt x="101600" y="38100"/>
                </a:lnTo>
                <a:arcTo hR="63500" wR="101600" stAng="16200000" swAng="-5400000"/>
                <a:close/>
              </a:path>
            </a:pathLst>
          </a:custGeom>
          <a:solidFill>
            <a:srgbClr val="14213D"/>
          </a:solidFill>
          <a:ln/>
        </p:spPr>
      </p:sp>
      <p:sp>
        <p:nvSpPr>
          <p:cNvPr id="11" name="Text 8"/>
          <p:cNvSpPr/>
          <p:nvPr/>
        </p:nvSpPr>
        <p:spPr>
          <a:xfrm>
            <a:off x="3159720" y="2061170"/>
            <a:ext cx="153418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2 Segment</a:t>
            </a:r>
            <a:endParaRPr lang="en-US" sz="1400" dirty="0"/>
          </a:p>
        </p:txBody>
      </p:sp>
      <p:sp>
        <p:nvSpPr>
          <p:cNvPr id="12" name="Text 9"/>
          <p:cNvSpPr/>
          <p:nvPr/>
        </p:nvSpPr>
        <p:spPr>
          <a:xfrm>
            <a:off x="3159720" y="2360879"/>
            <a:ext cx="15341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profile, tag, RFM</a:t>
            </a:r>
            <a:endParaRPr lang="en-US" sz="1200" dirty="0"/>
          </a:p>
        </p:txBody>
      </p:sp>
      <p:pic>
        <p:nvPicPr>
          <p:cNvPr id="13" name="Image 1" descr="arrow-right">    </p:cNvPr>
          <p:cNvPicPr>
            <a:picLocks noChangeAspect="1"/>
          </p:cNvPicPr>
          <p:nvPr/>
        </p:nvPicPr>
        <p:blipFill>
          <a:blip r:embed="rId2"/>
          <a:srcRect l="0" r="0" t="0" b="0"/>
          <a:stretch/>
        </p:blipFill>
        <p:spPr>
          <a:xfrm>
            <a:off x="4871707" y="2235138"/>
            <a:ext cx="254000" cy="127000"/>
          </a:xfrm>
          <a:prstGeom prst="rect">
            <a:avLst/>
          </a:prstGeom>
        </p:spPr>
      </p:pic>
      <p:sp>
        <p:nvSpPr>
          <p:cNvPr id="14" name="Shape 10"/>
          <p:cNvSpPr/>
          <p:nvPr/>
        </p:nvSpPr>
        <p:spPr>
          <a:xfrm>
            <a:off x="5201907" y="1870670"/>
            <a:ext cx="1788120" cy="855927"/>
          </a:xfrm>
          <a:prstGeom prst="roundRect">
            <a:avLst>
              <a:gd name="adj" fmla="val 11870"/>
            </a:avLst>
          </a:prstGeom>
          <a:solidFill>
            <a:srgbClr val="FDFDFB"/>
          </a:solidFill>
          <a:ln/>
        </p:spPr>
      </p:sp>
      <p:sp>
        <p:nvSpPr>
          <p:cNvPr id="15" name="Shape 11"/>
          <p:cNvSpPr/>
          <p:nvPr/>
        </p:nvSpPr>
        <p:spPr>
          <a:xfrm>
            <a:off x="5201907" y="1870670"/>
            <a:ext cx="1788120" cy="855927"/>
          </a:xfrm>
          <a:custGeom>
            <a:avLst/>
            <a:gdLst/>
            <a:ahLst/>
            <a:cxnLst/>
            <a:rect l="l" t="t" r="r" b="b"/>
            <a:pathLst>
              <a:path w="1788120" h="855927">
                <a:moveTo>
                  <a:pt x="0" y="101600"/>
                </a:moveTo>
                <a:lnTo>
                  <a:pt x="0" y="101600"/>
                </a:lnTo>
                <a:arcTo hR="101600" wR="101600" stAng="10800000" swAng="5400000"/>
                <a:lnTo>
                  <a:pt x="1686520" y="0"/>
                </a:lnTo>
                <a:arcTo hR="101600" wR="101600" stAng="16200000" swAng="5400000"/>
                <a:lnTo>
                  <a:pt x="1788120" y="101600"/>
                </a:lnTo>
                <a:arcTo hR="63500" wR="101600" stAng="0" swAng="-5400000"/>
                <a:lnTo>
                  <a:pt x="101600" y="38100"/>
                </a:lnTo>
                <a:arcTo hR="63500" wR="101600" stAng="16200000" swAng="-5400000"/>
                <a:close/>
              </a:path>
            </a:pathLst>
          </a:custGeom>
          <a:solidFill>
            <a:srgbClr val="14213D"/>
          </a:solidFill>
          <a:ln/>
        </p:spPr>
      </p:sp>
      <p:sp>
        <p:nvSpPr>
          <p:cNvPr id="16" name="Text 12"/>
          <p:cNvSpPr/>
          <p:nvPr/>
        </p:nvSpPr>
        <p:spPr>
          <a:xfrm>
            <a:off x="5354307" y="2061170"/>
            <a:ext cx="15341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3 Personalize</a:t>
            </a:r>
            <a:endParaRPr lang="en-US" sz="1400" dirty="0"/>
          </a:p>
        </p:txBody>
      </p:sp>
      <p:sp>
        <p:nvSpPr>
          <p:cNvPr id="17" name="Text 13"/>
          <p:cNvSpPr/>
          <p:nvPr/>
        </p:nvSpPr>
        <p:spPr>
          <a:xfrm>
            <a:off x="5354307" y="2360879"/>
            <a:ext cx="15341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ข้อความ ข้อเสนอ</a:t>
            </a:r>
            <a:endParaRPr lang="en-US" sz="1200" dirty="0"/>
          </a:p>
        </p:txBody>
      </p:sp>
      <p:pic>
        <p:nvPicPr>
          <p:cNvPr id="18" name="Image 2" descr="arrow-right">    </p:cNvPr>
          <p:cNvPicPr>
            <a:picLocks noChangeAspect="1"/>
          </p:cNvPicPr>
          <p:nvPr/>
        </p:nvPicPr>
        <p:blipFill>
          <a:blip r:embed="rId3"/>
          <a:srcRect l="0" r="0" t="0" b="0"/>
          <a:stretch/>
        </p:blipFill>
        <p:spPr>
          <a:xfrm>
            <a:off x="7066228" y="2235138"/>
            <a:ext cx="254000" cy="127000"/>
          </a:xfrm>
          <a:prstGeom prst="rect">
            <a:avLst/>
          </a:prstGeom>
        </p:spPr>
      </p:pic>
      <p:sp>
        <p:nvSpPr>
          <p:cNvPr id="19" name="Shape 14"/>
          <p:cNvSpPr/>
          <p:nvPr/>
        </p:nvSpPr>
        <p:spPr>
          <a:xfrm>
            <a:off x="7396428" y="1870670"/>
            <a:ext cx="1788187" cy="855927"/>
          </a:xfrm>
          <a:prstGeom prst="roundRect">
            <a:avLst>
              <a:gd name="adj" fmla="val 11870"/>
            </a:avLst>
          </a:prstGeom>
          <a:solidFill>
            <a:srgbClr val="FDFDFB"/>
          </a:solidFill>
          <a:ln/>
        </p:spPr>
      </p:sp>
      <p:sp>
        <p:nvSpPr>
          <p:cNvPr id="20" name="Shape 15"/>
          <p:cNvSpPr/>
          <p:nvPr/>
        </p:nvSpPr>
        <p:spPr>
          <a:xfrm>
            <a:off x="7396428" y="1870670"/>
            <a:ext cx="1788187" cy="855927"/>
          </a:xfrm>
          <a:custGeom>
            <a:avLst/>
            <a:gdLst/>
            <a:ahLst/>
            <a:cxnLst/>
            <a:rect l="l" t="t" r="r" b="b"/>
            <a:pathLst>
              <a:path w="1788187" h="855927">
                <a:moveTo>
                  <a:pt x="0" y="101600"/>
                </a:moveTo>
                <a:lnTo>
                  <a:pt x="0" y="101600"/>
                </a:lnTo>
                <a:arcTo hR="101600" wR="101600" stAng="10800000" swAng="5400000"/>
                <a:lnTo>
                  <a:pt x="1686587" y="0"/>
                </a:lnTo>
                <a:arcTo hR="101600" wR="101600" stAng="16200000" swAng="5400000"/>
                <a:lnTo>
                  <a:pt x="1788187" y="101600"/>
                </a:lnTo>
                <a:arcTo hR="63500" wR="101600" stAng="0" swAng="-5400000"/>
                <a:lnTo>
                  <a:pt x="101600" y="38100"/>
                </a:lnTo>
                <a:arcTo hR="63500" wR="101600" stAng="16200000" swAng="-5400000"/>
                <a:close/>
              </a:path>
            </a:pathLst>
          </a:custGeom>
          <a:solidFill>
            <a:srgbClr val="1F7A45"/>
          </a:solidFill>
          <a:ln/>
        </p:spPr>
      </p:sp>
      <p:sp>
        <p:nvSpPr>
          <p:cNvPr id="21" name="Text 16"/>
          <p:cNvSpPr/>
          <p:nvPr/>
        </p:nvSpPr>
        <p:spPr>
          <a:xfrm>
            <a:off x="7548828" y="2061170"/>
            <a:ext cx="153418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4 Sell</a:t>
            </a:r>
            <a:endParaRPr lang="en-US" sz="1400" dirty="0"/>
          </a:p>
        </p:txBody>
      </p:sp>
      <p:sp>
        <p:nvSpPr>
          <p:cNvPr id="22" name="Text 17"/>
          <p:cNvSpPr/>
          <p:nvPr/>
        </p:nvSpPr>
        <p:spPr>
          <a:xfrm>
            <a:off x="7548828" y="2360879"/>
            <a:ext cx="15341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agent + narrowcast</a:t>
            </a:r>
            <a:endParaRPr lang="en-US" sz="1200" dirty="0"/>
          </a:p>
        </p:txBody>
      </p:sp>
      <p:pic>
        <p:nvPicPr>
          <p:cNvPr id="23" name="Image 3" descr="arrow-right">    </p:cNvPr>
          <p:cNvPicPr>
            <a:picLocks noChangeAspect="1"/>
          </p:cNvPicPr>
          <p:nvPr/>
        </p:nvPicPr>
        <p:blipFill>
          <a:blip r:embed="rId4"/>
          <a:srcRect l="0" r="0" t="0" b="0"/>
          <a:stretch/>
        </p:blipFill>
        <p:spPr>
          <a:xfrm>
            <a:off x="9260814" y="2235138"/>
            <a:ext cx="254000" cy="127000"/>
          </a:xfrm>
          <a:prstGeom prst="rect">
            <a:avLst/>
          </a:prstGeom>
        </p:spPr>
      </p:pic>
      <p:sp>
        <p:nvSpPr>
          <p:cNvPr id="24" name="Shape 18"/>
          <p:cNvSpPr/>
          <p:nvPr/>
        </p:nvSpPr>
        <p:spPr>
          <a:xfrm>
            <a:off x="9591014" y="1870670"/>
            <a:ext cx="1788187" cy="855927"/>
          </a:xfrm>
          <a:prstGeom prst="roundRect">
            <a:avLst>
              <a:gd name="adj" fmla="val 11870"/>
            </a:avLst>
          </a:prstGeom>
          <a:solidFill>
            <a:srgbClr val="FDFDFB"/>
          </a:solidFill>
          <a:ln/>
        </p:spPr>
      </p:sp>
      <p:sp>
        <p:nvSpPr>
          <p:cNvPr id="25" name="Shape 19"/>
          <p:cNvSpPr/>
          <p:nvPr/>
        </p:nvSpPr>
        <p:spPr>
          <a:xfrm>
            <a:off x="9591014" y="1870670"/>
            <a:ext cx="1788187" cy="855927"/>
          </a:xfrm>
          <a:custGeom>
            <a:avLst/>
            <a:gdLst/>
            <a:ahLst/>
            <a:cxnLst/>
            <a:rect l="l" t="t" r="r" b="b"/>
            <a:pathLst>
              <a:path w="1788187" h="855927">
                <a:moveTo>
                  <a:pt x="0" y="101600"/>
                </a:moveTo>
                <a:lnTo>
                  <a:pt x="0" y="101600"/>
                </a:lnTo>
                <a:arcTo hR="101600" wR="101600" stAng="10800000" swAng="5400000"/>
                <a:lnTo>
                  <a:pt x="1686587" y="0"/>
                </a:lnTo>
                <a:arcTo hR="101600" wR="101600" stAng="16200000" swAng="5400000"/>
                <a:lnTo>
                  <a:pt x="1788187" y="101600"/>
                </a:lnTo>
                <a:arcTo hR="63500" wR="101600" stAng="0" swAng="-5400000"/>
                <a:lnTo>
                  <a:pt x="101600" y="38100"/>
                </a:lnTo>
                <a:arcTo hR="63500" wR="101600" stAng="16200000" swAng="-5400000"/>
                <a:close/>
              </a:path>
            </a:pathLst>
          </a:custGeom>
          <a:solidFill>
            <a:srgbClr val="14213D"/>
          </a:solidFill>
          <a:ln/>
        </p:spPr>
      </p:sp>
      <p:sp>
        <p:nvSpPr>
          <p:cNvPr id="26" name="Text 20"/>
          <p:cNvSpPr/>
          <p:nvPr/>
        </p:nvSpPr>
        <p:spPr>
          <a:xfrm>
            <a:off x="9743414" y="2061170"/>
            <a:ext cx="153418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5 Measure</a:t>
            </a:r>
            <a:endParaRPr lang="en-US" sz="1400" dirty="0"/>
          </a:p>
        </p:txBody>
      </p:sp>
      <p:sp>
        <p:nvSpPr>
          <p:cNvPr id="27" name="Text 21"/>
          <p:cNvSpPr/>
          <p:nvPr/>
        </p:nvSpPr>
        <p:spPr>
          <a:xfrm>
            <a:off x="9743414" y="2360879"/>
            <a:ext cx="153418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KPI, A/B test</a:t>
            </a:r>
            <a:endParaRPr lang="en-US" sz="1200" dirty="0"/>
          </a:p>
        </p:txBody>
      </p:sp>
      <p:sp>
        <p:nvSpPr>
          <p:cNvPr id="28" name="Shape 22"/>
          <p:cNvSpPr/>
          <p:nvPr/>
        </p:nvSpPr>
        <p:spPr>
          <a:xfrm>
            <a:off x="812800" y="2929799"/>
            <a:ext cx="10566400" cy="1361347"/>
          </a:xfrm>
          <a:prstGeom prst="roundRect">
            <a:avLst>
              <a:gd name="adj" fmla="val 7463"/>
            </a:avLst>
          </a:prstGeom>
          <a:solidFill>
            <a:srgbClr val="FDFDFB"/>
          </a:solidFill>
          <a:ln/>
        </p:spPr>
      </p:sp>
      <p:sp>
        <p:nvSpPr>
          <p:cNvPr id="29" name="Text 23"/>
          <p:cNvSpPr/>
          <p:nvPr/>
        </p:nvSpPr>
        <p:spPr>
          <a:xfrm>
            <a:off x="1016000" y="3107599"/>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Lead pipeline (L07 p.109) ที่ agent เลื่อนสถานะเอง</a:t>
            </a:r>
            <a:endParaRPr lang="en-US" sz="1300" dirty="0"/>
          </a:p>
        </p:txBody>
      </p:sp>
      <p:sp>
        <p:nvSpPr>
          <p:cNvPr id="30" name="Text 24"/>
          <p:cNvSpPr/>
          <p:nvPr/>
        </p:nvSpPr>
        <p:spPr>
          <a:xfrm>
            <a:off x="1016000" y="3427611"/>
            <a:ext cx="723503" cy="383514"/>
          </a:xfrm>
          <a:prstGeom prst="roundRect">
            <a:avLst>
              <a:gd name="adj" fmla="val 50000"/>
            </a:avLst>
          </a:prstGeom>
          <a:solidFill>
            <a:srgbClr val="E6E9EE"/>
          </a:solidFill>
          <a:ln/>
        </p:spPr>
        <p:txBody>
          <a:bodyPr wrap="none" lIns="0" tIns="0" rIns="0" bIns="0" rtlCol="0" anchor="ctr">
            <a:normAutofit/>
          </a:bodyPr>
          <a:lstStyle/>
          <a:p>
            <a:pPr algn="ct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Lead</a:t>
            </a:r>
            <a:endParaRPr lang="en-US" sz="1300" dirty="0"/>
          </a:p>
        </p:txBody>
      </p:sp>
      <p:pic>
        <p:nvPicPr>
          <p:cNvPr id="31" name="Image 4" descr="arrow-right">    </p:cNvPr>
          <p:cNvPicPr>
            <a:picLocks noChangeAspect="1"/>
          </p:cNvPicPr>
          <p:nvPr/>
        </p:nvPicPr>
        <p:blipFill>
          <a:blip r:embed="rId5"/>
          <a:srcRect l="0" r="0" t="0" b="0"/>
          <a:stretch/>
        </p:blipFill>
        <p:spPr>
          <a:xfrm>
            <a:off x="1815703" y="3562220"/>
            <a:ext cx="228600" cy="114300"/>
          </a:xfrm>
          <a:prstGeom prst="rect">
            <a:avLst/>
          </a:prstGeom>
        </p:spPr>
      </p:pic>
      <p:sp>
        <p:nvSpPr>
          <p:cNvPr id="32" name="Text 25"/>
          <p:cNvSpPr/>
          <p:nvPr/>
        </p:nvSpPr>
        <p:spPr>
          <a:xfrm>
            <a:off x="2120503" y="3427611"/>
            <a:ext cx="1036836" cy="383514"/>
          </a:xfrm>
          <a:prstGeom prst="roundRect">
            <a:avLst>
              <a:gd name="adj" fmla="val 50000"/>
            </a:avLst>
          </a:prstGeom>
          <a:solidFill>
            <a:srgbClr val="D3DCEA"/>
          </a:solidFill>
          <a:ln/>
        </p:spPr>
        <p:txBody>
          <a:bodyPr wrap="none" lIns="0" tIns="0" rIns="0" bIns="0" rtlCol="0" anchor="ctr">
            <a:normAutofit/>
          </a:bodyPr>
          <a:lstStyle/>
          <a:p>
            <a:pPr algn="ct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Prospect</a:t>
            </a:r>
            <a:endParaRPr lang="en-US" sz="1300" dirty="0"/>
          </a:p>
        </p:txBody>
      </p:sp>
      <p:pic>
        <p:nvPicPr>
          <p:cNvPr id="33" name="Image 5" descr="arrow-right">    </p:cNvPr>
          <p:cNvPicPr>
            <a:picLocks noChangeAspect="1"/>
          </p:cNvPicPr>
          <p:nvPr/>
        </p:nvPicPr>
        <p:blipFill>
          <a:blip r:embed="rId6"/>
          <a:srcRect l="0" r="0" t="0" b="0"/>
          <a:stretch/>
        </p:blipFill>
        <p:spPr>
          <a:xfrm>
            <a:off x="3233539" y="3562220"/>
            <a:ext cx="228600" cy="114300"/>
          </a:xfrm>
          <a:prstGeom prst="rect">
            <a:avLst/>
          </a:prstGeom>
        </p:spPr>
      </p:pic>
      <p:sp>
        <p:nvSpPr>
          <p:cNvPr id="34" name="Text 26"/>
          <p:cNvSpPr/>
          <p:nvPr/>
        </p:nvSpPr>
        <p:spPr>
          <a:xfrm>
            <a:off x="3538339" y="3427611"/>
            <a:ext cx="1279525" cy="383514"/>
          </a:xfrm>
          <a:prstGeom prst="roundRect">
            <a:avLst>
              <a:gd name="adj" fmla="val 50000"/>
            </a:avLst>
          </a:prstGeom>
          <a:solidFill>
            <a:srgbClr val="BFD3E6"/>
          </a:solidFill>
          <a:ln/>
        </p:spPr>
        <p:txBody>
          <a:bodyPr wrap="none" lIns="0" tIns="0" rIns="0" bIns="0" rtlCol="0" anchor="ctr">
            <a:normAutofit/>
          </a:bodyPr>
          <a:lstStyle/>
          <a:p>
            <a:pPr algn="ct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Opportunity</a:t>
            </a:r>
            <a:endParaRPr lang="en-US" sz="1300" dirty="0"/>
          </a:p>
        </p:txBody>
      </p:sp>
      <p:pic>
        <p:nvPicPr>
          <p:cNvPr id="35" name="Image 6" descr="arrow-right">    </p:cNvPr>
          <p:cNvPicPr>
            <a:picLocks noChangeAspect="1"/>
          </p:cNvPicPr>
          <p:nvPr/>
        </p:nvPicPr>
        <p:blipFill>
          <a:blip r:embed="rId7"/>
          <a:srcRect l="0" r="0" t="0" b="0"/>
          <a:stretch/>
        </p:blipFill>
        <p:spPr>
          <a:xfrm>
            <a:off x="4894064" y="3562220"/>
            <a:ext cx="228600" cy="114300"/>
          </a:xfrm>
          <a:prstGeom prst="rect">
            <a:avLst/>
          </a:prstGeom>
        </p:spPr>
      </p:pic>
      <p:sp>
        <p:nvSpPr>
          <p:cNvPr id="36" name="Text 27"/>
          <p:cNvSpPr/>
          <p:nvPr/>
        </p:nvSpPr>
        <p:spPr>
          <a:xfrm>
            <a:off x="5198864" y="3427611"/>
            <a:ext cx="777610" cy="383514"/>
          </a:xfrm>
          <a:prstGeom prst="roundRect">
            <a:avLst>
              <a:gd name="adj" fmla="val 50000"/>
            </a:avLst>
          </a:prstGeom>
          <a:solidFill>
            <a:srgbClr val="1F7A45"/>
          </a:solidFill>
          <a:ln/>
        </p:spPr>
        <p:txBody>
          <a:bodyPr wrap="none" lIns="0" tIns="0" rIns="0" bIns="0" rtlCol="0" anchor="ctr">
            <a:normAutofit/>
          </a:bodyPr>
          <a:lstStyle/>
          <a:p>
            <a:pPr algn="ctr"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Close</a:t>
            </a:r>
            <a:endParaRPr lang="en-US" sz="1300" dirty="0"/>
          </a:p>
        </p:txBody>
      </p:sp>
      <p:sp>
        <p:nvSpPr>
          <p:cNvPr id="37" name="Text 28"/>
          <p:cNvSpPr/>
          <p:nvPr/>
        </p:nvSpPr>
        <p:spPr>
          <a:xfrm>
            <a:off x="1016000" y="3900029"/>
            <a:ext cx="1046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Tiering by CLV: ลูกค้า 20% สร้างรายได้ 80% (L07 p.26) → VIP ได้สิทธิพิเศษหรือส่งต่อให้พนักงานดูแล</a:t>
            </a:r>
            <a:endParaRPr lang="en-US" sz="1200" dirty="0"/>
          </a:p>
        </p:txBody>
      </p:sp>
      <p:sp>
        <p:nvSpPr>
          <p:cNvPr id="38"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39"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13 / 18</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T · TACTICS · CONSUMER PSYCHOLOGY (L08 P.57–65)</a:t>
            </a:r>
            <a:endParaRPr lang="en-US" sz="1200" dirty="0"/>
          </a:p>
        </p:txBody>
      </p:sp>
      <p:sp>
        <p:nvSpPr>
          <p:cNvPr id="3" name="Text 1"/>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โน้มน้าวได้ แต่ต้องมี guardrail ไม่ให้เป็น dark pattern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2570"/>
          <a:ext cx="10553700" cy="1796521"/>
        </p:xfrm>
        <a:graphic>
          <a:graphicData uri="http://schemas.openxmlformats.org/drawingml/2006/table">
            <a:tbl>
              <a:tblPr/>
              <a:tblGrid>
                <a:gridCol w="2532888"/>
                <a:gridCol w="4010406"/>
                <a:gridCol w="4010406"/>
              </a:tblGrid>
              <a:tr h="359304">
                <a:tc>
                  <a:txBody>
                    <a:bodyPr/>
                    <a:lstStyle/>
                    <a:p>
                      <a:pP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หลักการ</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5BBB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5BBB4"/>
                      </a:solidFill>
                      <a:prstDash val="solid"/>
                      <a:round/>
                      <a:headEnd type="none" w="med" len="med"/>
                      <a:tailEnd type="none" w="med" len="med"/>
                    </a:lnB>
                    <a:solidFill>
                      <a:srgbClr val="E3EAE1"/>
                    </a:solidFill>
                  </a:tcPr>
                </a:tc>
                <a:tc>
                  <a:txBody>
                    <a:bodyPr/>
                    <a:lstStyle/>
                    <a:p>
                      <a:pP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ใช้ในแชตอย่างไร</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5BBB4"/>
                      </a:solidFill>
                      <a:prstDash val="solid"/>
                      <a:round/>
                      <a:headEnd type="none" w="med" len="med"/>
                      <a:tailEnd type="none" w="med" len="med"/>
                    </a:lnL>
                    <a:lnR w="12700" cap="flat" cmpd="sng" algn="ctr">
                      <a:solidFill>
                        <a:srgbClr val="B5BBB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5BBB4"/>
                      </a:solidFill>
                      <a:prstDash val="solid"/>
                      <a:round/>
                      <a:headEnd type="none" w="med" len="med"/>
                      <a:tailEnd type="none" w="med" len="med"/>
                    </a:lnB>
                    <a:solidFill>
                      <a:srgbClr val="E3EAE1"/>
                    </a:solidFill>
                  </a:tcPr>
                </a:tc>
                <a:tc>
                  <a:txBody>
                    <a:bodyPr/>
                    <a:lstStyle/>
                    <a:p>
                      <a:pPr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Guardrail</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5BBB4"/>
                      </a:solidFill>
                      <a:prstDash val="solid"/>
                      <a:round/>
                      <a:headEnd type="none" w="med" len="med"/>
                      <a:tailEnd type="none" w="med" len="med"/>
                    </a:lnL>
                    <a:lnR w="12700" cap="flat" cmpd="sng" algn="ctr">
                      <a:solidFill>
                        <a:srgbClr val="B5BBB4"/>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5BBB4"/>
                      </a:solidFill>
                      <a:prstDash val="solid"/>
                      <a:round/>
                      <a:headEnd type="none" w="med" len="med"/>
                      <a:tailEnd type="none" w="med" len="med"/>
                    </a:lnB>
                    <a:solidFill>
                      <a:srgbClr val="E3EAE1"/>
                    </a:solidFill>
                  </a:tcPr>
                </a:tc>
              </a:tr>
              <a:tr h="359304">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Anchoring</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5BBB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ราคาปกติคู่ราคาสมาชิก LINE</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5BBB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ราคา anchor ต้องเป็นราคาจริง</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5BBB4"/>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Rule of 3 / Decoy</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"3 ตัวที่เหมาะกับคุณ"</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ทุกตัวเลือกต้องเหมาะกับลูกค้าจริง</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r>
              <a:tr h="359304">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FOMO / Scarcity</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"เหลือ 3 ชิ้นในไซซ์ของคุณ"</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ดึงจากสต็อกจริง ห้าม agent แต่งตัวเลข</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C5C6C3"/>
                      </a:solidFill>
                      <a:prstDash val="solid"/>
                      <a:round/>
                      <a:headEnd type="none" w="med" len="med"/>
                      <a:tailEnd type="none" w="med" len="med"/>
                    </a:lnR>
                    <a:lnT w="12700" cap="flat" cmpd="sng" algn="ctr">
                      <a:solidFill>
                        <a:srgbClr val="BEC1BC"/>
                      </a:solidFill>
                      <a:prstDash val="solid"/>
                      <a:round/>
                      <a:headEnd type="none" w="med" len="med"/>
                      <a:tailEnd type="none" w="med" len="med"/>
                    </a:lnT>
                    <a:lnB w="12700" cap="flat" cmpd="sng" algn="ctr">
                      <a:solidFill>
                        <a:srgbClr val="C5C6C3"/>
                      </a:solidFill>
                      <a:prstDash val="solid"/>
                      <a:round/>
                      <a:headEnd type="none" w="med" len="med"/>
                      <a:tailEnd type="none" w="med" len="med"/>
                    </a:lnB>
                  </a:tcPr>
                </a:tc>
              </a:tr>
              <a:tr h="359304">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Greed vs Fear</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C5C6C3"/>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ผสม gain + loss framing</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c>
                  <a:txBody>
                    <a:bodyPr/>
                    <a:lstStyle/>
                    <a:p>
                      <a:pPr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ไม่อ้างสรรพคุณเกินจริง (อย./สคบ.)</a:t>
                      </a:r>
                      <a:endParaRPr lang="en-US" sz="1300" dirty="0">
                        <a:latin typeface="IBM Plex Sans Thai" charset="0"/>
                        <a:ea typeface="IBM Plex Sans Thai" charset="0"/>
                        <a:cs typeface="IBM Plex Sans Thai" charset="0"/>
                      </a:endParaRPr>
                    </a:p>
                  </a:txBody>
                  <a:tcPr marL="57785" marR="57785" marT="57785" marB="57785" anchor="t">
                    <a:lnL w="12700" cap="flat" cmpd="sng" algn="ctr">
                      <a:solidFill>
                        <a:srgbClr val="BEC1BC"/>
                      </a:solidFill>
                      <a:prstDash val="solid"/>
                      <a:round/>
                      <a:headEnd type="none" w="med" len="med"/>
                      <a:tailEnd type="none" w="med" len="med"/>
                    </a:lnL>
                    <a:lnR w="12700" cap="flat" cmpd="sng" algn="ctr">
                      <a:solidFill>
                        <a:srgbClr val="BEC1BC"/>
                      </a:solidFill>
                      <a:prstDash val="solid"/>
                      <a:round/>
                      <a:headEnd type="none" w="med" len="med"/>
                      <a:tailEnd type="none" w="med" len="med"/>
                    </a:lnR>
                    <a:lnT w="12700" cap="flat" cmpd="sng" algn="ctr">
                      <a:solidFill>
                        <a:srgbClr val="C5C6C3"/>
                      </a:solidFill>
                      <a:prstDash val="solid"/>
                      <a:round/>
                      <a:headEnd type="none" w="med" len="med"/>
                      <a:tailEnd type="none" w="med" len="med"/>
                    </a:lnT>
                    <a:lnB w="12700" cap="flat" cmpd="sng" algn="ctr">
                      <a:solidFill>
                        <a:srgbClr val="BEC1BC"/>
                      </a:solidFill>
                      <a:prstDash val="solid"/>
                      <a:round/>
                      <a:headEnd type="none" w="med" len="med"/>
                      <a:tailEnd type="none" w="med" len="med"/>
                    </a:lnB>
                    <a:solidFill>
                      <a:srgbClr val="EEF2EC"/>
                    </a:solidFill>
                  </a:tcPr>
                </a:tc>
              </a:tr>
            </a:tbl>
          </a:graphicData>
        </a:graphic>
      </p:graphicFrame>
      <p:sp>
        <p:nvSpPr>
          <p:cNvPr id="5" name="Shape 2"/>
          <p:cNvSpPr/>
          <p:nvPr/>
        </p:nvSpPr>
        <p:spPr>
          <a:xfrm>
            <a:off x="838200" y="3806893"/>
            <a:ext cx="0" cy="359370"/>
          </a:xfrm>
          <a:prstGeom prst="line">
            <a:avLst/>
          </a:prstGeom>
          <a:noFill/>
          <a:ln w="50800">
            <a:solidFill>
              <a:srgbClr val="1F7A45"/>
            </a:solidFill>
            <a:prstDash val="solid"/>
          </a:ln>
        </p:spPr>
      </p:sp>
      <p:sp>
        <p:nvSpPr>
          <p:cNvPr id="6" name="Text 3"/>
          <p:cNvSpPr/>
          <p:nvPr/>
        </p:nvSpPr>
        <p:spPr>
          <a:xfrm>
            <a:off x="1041400" y="3832293"/>
            <a:ext cx="10647934"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F7A45"/>
                </a:solidFill>
                <a:latin typeface="Prompt" pitchFamily="34" charset="0"/>
                <a:ea typeface="Prompt" pitchFamily="34" charset="-122"/>
                <a:cs typeface="Prompt" pitchFamily="34" charset="-120"/>
              </a:rPr>
              <a:t>"Fear converts faster, but greed builds better customers" — L08 p.65</a:t>
            </a:r>
            <a:endParaRPr lang="en-US" sz="1800" dirty="0"/>
          </a:p>
        </p:txBody>
      </p:sp>
      <p:sp>
        <p:nvSpPr>
          <p:cNvPr id="7" name="Text 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 · บทเรียนจาก Cambridge Analytica (L07 p.16–18)</a:t>
            </a:r>
            <a:endParaRPr lang="en-US" sz="1200" dirty="0"/>
          </a:p>
        </p:txBody>
      </p:sp>
      <p:sp>
        <p:nvSpPr>
          <p:cNvPr id="8" name="Text 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14 / 18</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A · ACTIONS · L06 P.10–11, L07 P.95</a:t>
            </a:r>
            <a:endParaRPr lang="en-US" sz="1200" dirty="0"/>
          </a:p>
        </p:txBody>
      </p:sp>
      <p:sp>
        <p:nvSpPr>
          <p:cNvPr id="3" name="Text 1"/>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Roadmap 12 เดือน: เริ่มเล็ก วัดผล แล้วขยาย</a:t>
            </a:r>
            <a:endParaRPr lang="en-US" sz="3000" dirty="0"/>
          </a:p>
        </p:txBody>
      </p:sp>
      <p:sp>
        <p:nvSpPr>
          <p:cNvPr id="4" name="Shape 2"/>
          <p:cNvSpPr/>
          <p:nvPr/>
        </p:nvSpPr>
        <p:spPr>
          <a:xfrm>
            <a:off x="819150" y="1826220"/>
            <a:ext cx="2559050" cy="1307968"/>
          </a:xfrm>
          <a:prstGeom prst="roundRect">
            <a:avLst>
              <a:gd name="adj" fmla="val 7282"/>
            </a:avLst>
          </a:prstGeom>
          <a:solidFill>
            <a:srgbClr val="FDFDFB"/>
          </a:solidFill>
          <a:ln w="12700">
            <a:solidFill>
              <a:srgbClr val="DDE3DA"/>
            </a:solidFill>
            <a:prstDash val="solid"/>
          </a:ln>
        </p:spPr>
      </p:sp>
      <p:sp>
        <p:nvSpPr>
          <p:cNvPr id="5" name="Text 3"/>
          <p:cNvSpPr/>
          <p:nvPr/>
        </p:nvSpPr>
        <p:spPr>
          <a:xfrm>
            <a:off x="977900" y="1984970"/>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45"/>
                </a:solidFill>
                <a:latin typeface="IBM Plex Sans Thai" pitchFamily="34" charset="0"/>
                <a:ea typeface="IBM Plex Sans Thai" pitchFamily="34" charset="-122"/>
                <a:cs typeface="IBM Plex Sans Thai" pitchFamily="34" charset="-120"/>
              </a:rPr>
              <a:t>เดือน 1</a:t>
            </a:r>
            <a:endParaRPr lang="en-US" sz="1200" dirty="0"/>
          </a:p>
        </p:txBody>
      </p:sp>
      <p:sp>
        <p:nvSpPr>
          <p:cNvPr id="6" name="Text 4"/>
          <p:cNvSpPr/>
          <p:nvPr/>
        </p:nvSpPr>
        <p:spPr>
          <a:xfrm>
            <a:off x="977900" y="2249091"/>
            <a:ext cx="23087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Data Readiness</a:t>
            </a:r>
            <a:endParaRPr lang="en-US" sz="1400" dirty="0"/>
          </a:p>
        </p:txBody>
      </p:sp>
      <p:sp>
        <p:nvSpPr>
          <p:cNvPr id="7" name="Text 5"/>
          <p:cNvSpPr/>
          <p:nvPr/>
        </p:nvSpPr>
        <p:spPr>
          <a:xfrm>
            <a:off x="977900" y="2548799"/>
            <a:ext cx="2308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knowledge base · consent/PDPA · เลือก LLM</a:t>
            </a:r>
            <a:endParaRPr lang="en-US" sz="1200" dirty="0"/>
          </a:p>
        </p:txBody>
      </p:sp>
      <p:sp>
        <p:nvSpPr>
          <p:cNvPr id="8" name="Shape 6"/>
          <p:cNvSpPr/>
          <p:nvPr/>
        </p:nvSpPr>
        <p:spPr>
          <a:xfrm>
            <a:off x="3492500" y="1826220"/>
            <a:ext cx="2559050" cy="1307968"/>
          </a:xfrm>
          <a:prstGeom prst="roundRect">
            <a:avLst>
              <a:gd name="adj" fmla="val 7282"/>
            </a:avLst>
          </a:prstGeom>
          <a:solidFill>
            <a:srgbClr val="FDFDFB"/>
          </a:solidFill>
          <a:ln w="12700">
            <a:solidFill>
              <a:srgbClr val="DDE3DA"/>
            </a:solidFill>
            <a:prstDash val="solid"/>
          </a:ln>
        </p:spPr>
      </p:sp>
      <p:sp>
        <p:nvSpPr>
          <p:cNvPr id="9" name="Text 7"/>
          <p:cNvSpPr/>
          <p:nvPr/>
        </p:nvSpPr>
        <p:spPr>
          <a:xfrm>
            <a:off x="3651250" y="1984970"/>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45"/>
                </a:solidFill>
                <a:latin typeface="IBM Plex Sans Thai" pitchFamily="34" charset="0"/>
                <a:ea typeface="IBM Plex Sans Thai" pitchFamily="34" charset="-122"/>
                <a:cs typeface="IBM Plex Sans Thai" pitchFamily="34" charset="-120"/>
              </a:rPr>
              <a:t>เดือน 2–3</a:t>
            </a:r>
            <a:endParaRPr lang="en-US" sz="1200" dirty="0"/>
          </a:p>
        </p:txBody>
      </p:sp>
      <p:sp>
        <p:nvSpPr>
          <p:cNvPr id="10" name="Text 8"/>
          <p:cNvSpPr/>
          <p:nvPr/>
        </p:nvSpPr>
        <p:spPr>
          <a:xfrm>
            <a:off x="3651250" y="2249091"/>
            <a:ext cx="23087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Pilot (MVP)</a:t>
            </a:r>
            <a:endParaRPr lang="en-US" sz="1400" dirty="0"/>
          </a:p>
        </p:txBody>
      </p:sp>
      <p:sp>
        <p:nvSpPr>
          <p:cNvPr id="11" name="Text 9"/>
          <p:cNvSpPr/>
          <p:nvPr/>
        </p:nvSpPr>
        <p:spPr>
          <a:xfrm>
            <a:off x="3651250" y="2548799"/>
            <a:ext cx="2308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FAQ + แนะนำสินค้า กับลูกค้า 10–20% · Gate: containment ≥ 50%</a:t>
            </a:r>
            <a:endParaRPr lang="en-US" sz="1200" dirty="0"/>
          </a:p>
        </p:txBody>
      </p:sp>
      <p:sp>
        <p:nvSpPr>
          <p:cNvPr id="12" name="Shape 10"/>
          <p:cNvSpPr/>
          <p:nvPr/>
        </p:nvSpPr>
        <p:spPr>
          <a:xfrm>
            <a:off x="6165850" y="1826220"/>
            <a:ext cx="2559050" cy="1307968"/>
          </a:xfrm>
          <a:prstGeom prst="roundRect">
            <a:avLst>
              <a:gd name="adj" fmla="val 7282"/>
            </a:avLst>
          </a:prstGeom>
          <a:solidFill>
            <a:srgbClr val="FDFDFB"/>
          </a:solidFill>
          <a:ln w="12700">
            <a:solidFill>
              <a:srgbClr val="DDE3DA"/>
            </a:solidFill>
            <a:prstDash val="solid"/>
          </a:ln>
        </p:spPr>
      </p:sp>
      <p:sp>
        <p:nvSpPr>
          <p:cNvPr id="13" name="Text 11"/>
          <p:cNvSpPr/>
          <p:nvPr/>
        </p:nvSpPr>
        <p:spPr>
          <a:xfrm>
            <a:off x="6324600" y="1984970"/>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F7A45"/>
                </a:solidFill>
                <a:latin typeface="IBM Plex Sans Thai" pitchFamily="34" charset="0"/>
                <a:ea typeface="IBM Plex Sans Thai" pitchFamily="34" charset="-122"/>
                <a:cs typeface="IBM Plex Sans Thai" pitchFamily="34" charset="-120"/>
              </a:rPr>
              <a:t>เดือน 4–6</a:t>
            </a:r>
            <a:endParaRPr lang="en-US" sz="1200" dirty="0"/>
          </a:p>
        </p:txBody>
      </p:sp>
      <p:sp>
        <p:nvSpPr>
          <p:cNvPr id="14" name="Text 12"/>
          <p:cNvSpPr/>
          <p:nvPr/>
        </p:nvSpPr>
        <p:spPr>
          <a:xfrm>
            <a:off x="6324600" y="2249091"/>
            <a:ext cx="23087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Transaction + CRM</a:t>
            </a:r>
            <a:endParaRPr lang="en-US" sz="1400" dirty="0"/>
          </a:p>
        </p:txBody>
      </p:sp>
      <p:sp>
        <p:nvSpPr>
          <p:cNvPr id="15" name="Text 13"/>
          <p:cNvSpPr/>
          <p:nvPr/>
        </p:nvSpPr>
        <p:spPr>
          <a:xfrm>
            <a:off x="6324600" y="2548799"/>
            <a:ext cx="2308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order · PromptPay · lead scoring · narrowcast</a:t>
            </a:r>
            <a:endParaRPr lang="en-US" sz="1200" dirty="0"/>
          </a:p>
        </p:txBody>
      </p:sp>
      <p:sp>
        <p:nvSpPr>
          <p:cNvPr id="16" name="Shape 14"/>
          <p:cNvSpPr/>
          <p:nvPr/>
        </p:nvSpPr>
        <p:spPr>
          <a:xfrm>
            <a:off x="8832850" y="1819870"/>
            <a:ext cx="2546350" cy="1320668"/>
          </a:xfrm>
          <a:prstGeom prst="roundRect">
            <a:avLst>
              <a:gd name="adj" fmla="val 7693"/>
            </a:avLst>
          </a:prstGeom>
          <a:solidFill>
            <a:srgbClr val="1F7A45"/>
          </a:solidFill>
          <a:ln/>
        </p:spPr>
      </p:sp>
      <p:sp>
        <p:nvSpPr>
          <p:cNvPr id="17" name="Text 15"/>
          <p:cNvSpPr/>
          <p:nvPr/>
        </p:nvSpPr>
        <p:spPr>
          <a:xfrm>
            <a:off x="8985250" y="1972270"/>
            <a:ext cx="230879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EBD9"/>
                </a:solidFill>
                <a:latin typeface="IBM Plex Sans Thai" pitchFamily="34" charset="0"/>
                <a:ea typeface="IBM Plex Sans Thai" pitchFamily="34" charset="-122"/>
                <a:cs typeface="IBM Plex Sans Thai" pitchFamily="34" charset="-120"/>
              </a:rPr>
              <a:t>เดือน 7–12</a:t>
            </a:r>
            <a:endParaRPr lang="en-US" sz="1200" dirty="0"/>
          </a:p>
        </p:txBody>
      </p:sp>
      <p:sp>
        <p:nvSpPr>
          <p:cNvPr id="18" name="Text 16"/>
          <p:cNvSpPr/>
          <p:nvPr/>
        </p:nvSpPr>
        <p:spPr>
          <a:xfrm>
            <a:off x="8985250" y="2236391"/>
            <a:ext cx="23087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8F4"/>
                </a:solidFill>
                <a:latin typeface="IBM Plex Sans Thai" pitchFamily="34" charset="0"/>
                <a:ea typeface="IBM Plex Sans Thai" pitchFamily="34" charset="-122"/>
                <a:cs typeface="IBM Plex Sans Thai" pitchFamily="34" charset="-120"/>
              </a:rPr>
              <a:t>Scale &amp; Optimize</a:t>
            </a:r>
            <a:endParaRPr lang="en-US" sz="1400" dirty="0"/>
          </a:p>
        </p:txBody>
      </p:sp>
      <p:sp>
        <p:nvSpPr>
          <p:cNvPr id="19" name="Text 17"/>
          <p:cNvSpPr/>
          <p:nvPr/>
        </p:nvSpPr>
        <p:spPr>
          <a:xfrm>
            <a:off x="8985250" y="2536099"/>
            <a:ext cx="2308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F3EA"/>
                </a:solidFill>
                <a:latin typeface="IBM Plex Sans Thai" pitchFamily="34" charset="0"/>
                <a:ea typeface="IBM Plex Sans Thai" pitchFamily="34" charset="-122"/>
                <a:cs typeface="IBM Plex Sans Thai" pitchFamily="34" charset="-120"/>
              </a:rPr>
              <a:t>100% ของแชต · re-engagement · upsell อัตโนมัติ</a:t>
            </a:r>
            <a:endParaRPr lang="en-US" sz="1200" dirty="0"/>
          </a:p>
        </p:txBody>
      </p:sp>
      <p:sp>
        <p:nvSpPr>
          <p:cNvPr id="20" name="Shape 18"/>
          <p:cNvSpPr/>
          <p:nvPr/>
        </p:nvSpPr>
        <p:spPr>
          <a:xfrm>
            <a:off x="812800" y="3318340"/>
            <a:ext cx="10566400" cy="1381654"/>
          </a:xfrm>
          <a:prstGeom prst="roundRect">
            <a:avLst>
              <a:gd name="adj" fmla="val 7354"/>
            </a:avLst>
          </a:prstGeom>
          <a:solidFill>
            <a:srgbClr val="14213D"/>
          </a:solidFill>
          <a:ln/>
        </p:spPr>
      </p:sp>
      <p:sp>
        <p:nvSpPr>
          <p:cNvPr id="21" name="Text 19"/>
          <p:cNvSpPr/>
          <p:nvPr/>
        </p:nvSpPr>
        <p:spPr>
          <a:xfrm>
            <a:off x="1016000" y="3496140"/>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8F4"/>
                </a:solidFill>
                <a:latin typeface="IBM Plex Sans Thai" pitchFamily="34" charset="0"/>
                <a:ea typeface="IBM Plex Sans Thai" pitchFamily="34" charset="-122"/>
                <a:cs typeface="IBM Plex Sans Thai" pitchFamily="34" charset="-120"/>
              </a:rPr>
              <a:t>Cross-functional integration: shared objectives + linked KPIs</a:t>
            </a:r>
            <a:endParaRPr lang="en-US" sz="1300" dirty="0"/>
          </a:p>
        </p:txBody>
      </p:sp>
      <p:sp>
        <p:nvSpPr>
          <p:cNvPr id="22" name="Text 20"/>
          <p:cNvSpPr/>
          <p:nvPr/>
        </p:nvSpPr>
        <p:spPr>
          <a:xfrm>
            <a:off x="1016000" y="3816152"/>
            <a:ext cx="1808229" cy="314920"/>
          </a:xfrm>
          <a:prstGeom prst="roundRect">
            <a:avLst>
              <a:gd name="adj" fmla="val 50000"/>
            </a:avLst>
          </a:prstGeom>
          <a:solidFill>
            <a:srgbClr val="2B3A5C"/>
          </a:solidFill>
          <a:ln/>
        </p:spPr>
        <p:txBody>
          <a:bodyPr wrap="none" lIns="0" tIns="0" rIns="0" bIns="0" rtlCol="0" anchor="ctr">
            <a:normAutofit/>
          </a:bodyPr>
          <a:lstStyle/>
          <a:p>
            <a:pPr algn="ctr" indent="0" marL="0">
              <a:lnSpc>
                <a:spcPts val="1680"/>
              </a:lnSpc>
              <a:buNone/>
            </a:pPr>
            <a:r>
              <a:rPr lang="en-US" sz="1200" dirty="0">
                <a:solidFill>
                  <a:srgbClr val="F7F8F4"/>
                </a:solidFill>
                <a:latin typeface="IBM Plex Sans Thai" pitchFamily="34" charset="0"/>
                <a:ea typeface="IBM Plex Sans Thai" pitchFamily="34" charset="-122"/>
                <a:cs typeface="IBM Plex Sans Thai" pitchFamily="34" charset="-120"/>
              </a:rPr>
              <a:t>Marketing: brand voice</a:t>
            </a:r>
            <a:endParaRPr lang="en-US" sz="1200" dirty="0"/>
          </a:p>
        </p:txBody>
      </p:sp>
      <p:sp>
        <p:nvSpPr>
          <p:cNvPr id="23" name="Text 21"/>
          <p:cNvSpPr/>
          <p:nvPr/>
        </p:nvSpPr>
        <p:spPr>
          <a:xfrm>
            <a:off x="2900429" y="3816152"/>
            <a:ext cx="1607675" cy="314920"/>
          </a:xfrm>
          <a:prstGeom prst="roundRect">
            <a:avLst>
              <a:gd name="adj" fmla="val 50000"/>
            </a:avLst>
          </a:prstGeom>
          <a:solidFill>
            <a:srgbClr val="2B3A5C"/>
          </a:solidFill>
          <a:ln/>
        </p:spPr>
        <p:txBody>
          <a:bodyPr wrap="none" lIns="0" tIns="0" rIns="0" bIns="0" rtlCol="0" anchor="ctr">
            <a:normAutofit/>
          </a:bodyPr>
          <a:lstStyle/>
          <a:p>
            <a:pPr algn="ctr" indent="0" marL="0">
              <a:lnSpc>
                <a:spcPts val="1680"/>
              </a:lnSpc>
              <a:buNone/>
            </a:pPr>
            <a:r>
              <a:rPr lang="en-US" sz="1200" dirty="0">
                <a:solidFill>
                  <a:srgbClr val="F7F8F4"/>
                </a:solidFill>
                <a:latin typeface="IBM Plex Sans Thai" pitchFamily="34" charset="0"/>
                <a:ea typeface="IBM Plex Sans Thai" pitchFamily="34" charset="-122"/>
                <a:cs typeface="IBM Plex Sans Thai" pitchFamily="34" charset="-120"/>
              </a:rPr>
              <a:t>Sales: handoff rules</a:t>
            </a:r>
            <a:endParaRPr lang="en-US" sz="1200" dirty="0"/>
          </a:p>
        </p:txBody>
      </p:sp>
      <p:sp>
        <p:nvSpPr>
          <p:cNvPr id="24" name="Text 22"/>
          <p:cNvSpPr/>
          <p:nvPr/>
        </p:nvSpPr>
        <p:spPr>
          <a:xfrm>
            <a:off x="4584303" y="3816152"/>
            <a:ext cx="1648487" cy="314920"/>
          </a:xfrm>
          <a:prstGeom prst="roundRect">
            <a:avLst>
              <a:gd name="adj" fmla="val 50000"/>
            </a:avLst>
          </a:prstGeom>
          <a:solidFill>
            <a:srgbClr val="2B3A5C"/>
          </a:solidFill>
          <a:ln/>
        </p:spPr>
        <p:txBody>
          <a:bodyPr wrap="none" lIns="0" tIns="0" rIns="0" bIns="0" rtlCol="0" anchor="ctr">
            <a:normAutofit/>
          </a:bodyPr>
          <a:lstStyle/>
          <a:p>
            <a:pPr algn="ctr" indent="0" marL="0">
              <a:lnSpc>
                <a:spcPts val="1680"/>
              </a:lnSpc>
              <a:buNone/>
            </a:pPr>
            <a:r>
              <a:rPr lang="en-US" sz="1200" dirty="0">
                <a:solidFill>
                  <a:srgbClr val="F7F8F4"/>
                </a:solidFill>
                <a:latin typeface="IBM Plex Sans Thai" pitchFamily="34" charset="0"/>
                <a:ea typeface="IBM Plex Sans Thai" pitchFamily="34" charset="-122"/>
                <a:cs typeface="IBM Plex Sans Thai" pitchFamily="34" charset="-120"/>
              </a:rPr>
              <a:t>Ops: สต็อก real-time</a:t>
            </a:r>
            <a:endParaRPr lang="en-US" sz="1200" dirty="0"/>
          </a:p>
        </p:txBody>
      </p:sp>
      <p:sp>
        <p:nvSpPr>
          <p:cNvPr id="25" name="Text 23"/>
          <p:cNvSpPr/>
          <p:nvPr/>
        </p:nvSpPr>
        <p:spPr>
          <a:xfrm>
            <a:off x="6308990" y="3816152"/>
            <a:ext cx="1020167" cy="314920"/>
          </a:xfrm>
          <a:prstGeom prst="roundRect">
            <a:avLst>
              <a:gd name="adj" fmla="val 50000"/>
            </a:avLst>
          </a:prstGeom>
          <a:solidFill>
            <a:srgbClr val="2B3A5C"/>
          </a:solidFill>
          <a:ln/>
        </p:spPr>
        <p:txBody>
          <a:bodyPr wrap="none" lIns="0" tIns="0" rIns="0" bIns="0" rtlCol="0" anchor="ctr">
            <a:normAutofit/>
          </a:bodyPr>
          <a:lstStyle/>
          <a:p>
            <a:pPr algn="ctr" indent="0" marL="0">
              <a:lnSpc>
                <a:spcPts val="1680"/>
              </a:lnSpc>
              <a:buNone/>
            </a:pPr>
            <a:r>
              <a:rPr lang="en-US" sz="1200" dirty="0">
                <a:solidFill>
                  <a:srgbClr val="F7F8F4"/>
                </a:solidFill>
                <a:latin typeface="IBM Plex Sans Thai" pitchFamily="34" charset="0"/>
                <a:ea typeface="IBM Plex Sans Thai" pitchFamily="34" charset="-122"/>
                <a:cs typeface="IBM Plex Sans Thai" pitchFamily="34" charset="-120"/>
              </a:rPr>
              <a:t>IT: security</a:t>
            </a:r>
            <a:endParaRPr lang="en-US" sz="1200" dirty="0"/>
          </a:p>
        </p:txBody>
      </p:sp>
      <p:sp>
        <p:nvSpPr>
          <p:cNvPr id="26" name="Text 24"/>
          <p:cNvSpPr/>
          <p:nvPr/>
        </p:nvSpPr>
        <p:spPr>
          <a:xfrm>
            <a:off x="7405357" y="3816152"/>
            <a:ext cx="1449784" cy="314920"/>
          </a:xfrm>
          <a:prstGeom prst="roundRect">
            <a:avLst>
              <a:gd name="adj" fmla="val 50000"/>
            </a:avLst>
          </a:prstGeom>
          <a:solidFill>
            <a:srgbClr val="2B3A5C"/>
          </a:solidFill>
          <a:ln/>
        </p:spPr>
        <p:txBody>
          <a:bodyPr wrap="none" lIns="0" tIns="0" rIns="0" bIns="0" rtlCol="0" anchor="ctr">
            <a:normAutofit/>
          </a:bodyPr>
          <a:lstStyle/>
          <a:p>
            <a:pPr algn="ctr" indent="0" marL="0">
              <a:lnSpc>
                <a:spcPts val="1680"/>
              </a:lnSpc>
              <a:buNone/>
            </a:pPr>
            <a:r>
              <a:rPr lang="en-US" sz="1200" dirty="0">
                <a:solidFill>
                  <a:srgbClr val="F7F8F4"/>
                </a:solidFill>
                <a:latin typeface="IBM Plex Sans Thai" pitchFamily="34" charset="0"/>
                <a:ea typeface="IBM Plex Sans Thai" pitchFamily="34" charset="-122"/>
                <a:cs typeface="IBM Plex Sans Thai" pitchFamily="34" charset="-120"/>
              </a:rPr>
              <a:t>HR: reskill แอดมิน</a:t>
            </a:r>
            <a:endParaRPr lang="en-US" sz="1200" dirty="0"/>
          </a:p>
        </p:txBody>
      </p:sp>
      <p:sp>
        <p:nvSpPr>
          <p:cNvPr id="27" name="Text 25"/>
          <p:cNvSpPr/>
          <p:nvPr/>
        </p:nvSpPr>
        <p:spPr>
          <a:xfrm>
            <a:off x="8931342" y="3816152"/>
            <a:ext cx="1136584" cy="314920"/>
          </a:xfrm>
          <a:prstGeom prst="roundRect">
            <a:avLst>
              <a:gd name="adj" fmla="val 50000"/>
            </a:avLst>
          </a:prstGeom>
          <a:solidFill>
            <a:srgbClr val="2B3A5C"/>
          </a:solidFill>
          <a:ln/>
        </p:spPr>
        <p:txBody>
          <a:bodyPr wrap="none" lIns="0" tIns="0" rIns="0" bIns="0" rtlCol="0" anchor="ctr">
            <a:normAutofit/>
          </a:bodyPr>
          <a:lstStyle/>
          <a:p>
            <a:pPr algn="ctr" indent="0" marL="0">
              <a:lnSpc>
                <a:spcPts val="1680"/>
              </a:lnSpc>
              <a:buNone/>
            </a:pPr>
            <a:r>
              <a:rPr lang="en-US" sz="1200" dirty="0">
                <a:solidFill>
                  <a:srgbClr val="F7F8F4"/>
                </a:solidFill>
                <a:latin typeface="IBM Plex Sans Thai" pitchFamily="34" charset="0"/>
                <a:ea typeface="IBM Plex Sans Thai" pitchFamily="34" charset="-122"/>
                <a:cs typeface="IBM Plex Sans Thai" pitchFamily="34" charset="-120"/>
              </a:rPr>
              <a:t>Finance: ROI</a:t>
            </a:r>
            <a:endParaRPr lang="en-US" sz="1200" dirty="0"/>
          </a:p>
        </p:txBody>
      </p:sp>
      <p:sp>
        <p:nvSpPr>
          <p:cNvPr id="28" name="Text 26"/>
          <p:cNvSpPr/>
          <p:nvPr/>
        </p:nvSpPr>
        <p:spPr>
          <a:xfrm>
            <a:off x="1016000" y="4207272"/>
            <a:ext cx="1073613" cy="314920"/>
          </a:xfrm>
          <a:prstGeom prst="roundRect">
            <a:avLst>
              <a:gd name="adj" fmla="val 50000"/>
            </a:avLst>
          </a:prstGeom>
          <a:solidFill>
            <a:srgbClr val="2B3A5C"/>
          </a:solidFill>
          <a:ln/>
        </p:spPr>
        <p:txBody>
          <a:bodyPr wrap="none" lIns="0" tIns="0" rIns="0" bIns="0" rtlCol="0" anchor="ctr">
            <a:normAutofit/>
          </a:bodyPr>
          <a:lstStyle/>
          <a:p>
            <a:pPr algn="ctr" indent="0" marL="0">
              <a:lnSpc>
                <a:spcPts val="1680"/>
              </a:lnSpc>
              <a:buNone/>
            </a:pPr>
            <a:r>
              <a:rPr lang="en-US" sz="1200" dirty="0">
                <a:solidFill>
                  <a:srgbClr val="F7F8F4"/>
                </a:solidFill>
                <a:latin typeface="IBM Plex Sans Thai" pitchFamily="34" charset="0"/>
                <a:ea typeface="IBM Plex Sans Thai" pitchFamily="34" charset="-122"/>
                <a:cs typeface="IBM Plex Sans Thai" pitchFamily="34" charset="-120"/>
              </a:rPr>
              <a:t>Legal: PDPA</a:t>
            </a:r>
            <a:endParaRPr lang="en-US" sz="1200" dirty="0"/>
          </a:p>
        </p:txBody>
      </p:sp>
      <p:sp>
        <p:nvSpPr>
          <p:cNvPr id="29" name="Text 2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15 / 18</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C · CONTROL · CLV VS CAC (L08 P.77) · NPV/PAYBACK (L06 P.6)</a:t>
            </a:r>
            <a:endParaRPr lang="en-US" sz="1200" dirty="0"/>
          </a:p>
        </p:txBody>
      </p:sp>
      <p:sp>
        <p:nvSpPr>
          <p:cNvPr id="3" name="Text 1"/>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Agent ลด CAC และเพิ่ม CLV พร้อมกัน</a:t>
            </a:r>
            <a:endParaRPr lang="en-US" sz="3000" dirty="0"/>
          </a:p>
        </p:txBody>
      </p:sp>
      <p:sp>
        <p:nvSpPr>
          <p:cNvPr id="4" name="Shape 2"/>
          <p:cNvSpPr/>
          <p:nvPr/>
        </p:nvSpPr>
        <p:spPr>
          <a:xfrm>
            <a:off x="819150" y="1826220"/>
            <a:ext cx="3429000" cy="1943034"/>
          </a:xfrm>
          <a:prstGeom prst="roundRect">
            <a:avLst>
              <a:gd name="adj" fmla="val 5556"/>
            </a:avLst>
          </a:prstGeom>
          <a:solidFill>
            <a:srgbClr val="FDFDFB"/>
          </a:solidFill>
          <a:ln w="12700">
            <a:solidFill>
              <a:srgbClr val="DDE3DA"/>
            </a:solidFill>
            <a:prstDash val="solid"/>
          </a:ln>
        </p:spPr>
      </p:sp>
      <p:sp>
        <p:nvSpPr>
          <p:cNvPr id="5" name="Text 3"/>
          <p:cNvSpPr/>
          <p:nvPr/>
        </p:nvSpPr>
        <p:spPr>
          <a:xfrm>
            <a:off x="1028700" y="2035770"/>
            <a:ext cx="310019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Thai" pitchFamily="34" charset="0"/>
                <a:ea typeface="IBM Plex Sans Thai" pitchFamily="34" charset="-122"/>
                <a:cs typeface="IBM Plex Sans Thai" pitchFamily="34" charset="-120"/>
              </a:rPr>
              <a:t>ก่อน (แอดมินคน)</a:t>
            </a:r>
            <a:endParaRPr lang="en-US" sz="1300" dirty="0"/>
          </a:p>
        </p:txBody>
      </p:sp>
      <p:sp>
        <p:nvSpPr>
          <p:cNvPr id="6" name="Text 4"/>
          <p:cNvSpPr/>
          <p:nvPr/>
        </p:nvSpPr>
        <p:spPr>
          <a:xfrm>
            <a:off x="1028700" y="2330388"/>
            <a:ext cx="310019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4213D"/>
                </a:solidFill>
                <a:latin typeface="IBM Plex Sans Thai" pitchFamily="34" charset="0"/>
                <a:ea typeface="IBM Plex Sans Thai" pitchFamily="34" charset="-122"/>
                <a:cs typeface="IBM Plex Sans Thai" pitchFamily="34" charset="-120"/>
              </a:rPr>
              <a:t>CAC = 15 ÷ 5% = </a:t>
            </a:r>
            <a:r>
              <a:rPr lang="en-US" sz="1300" b="1" dirty="0">
                <a:solidFill>
                  <a:srgbClr val="14213D"/>
                </a:solidFill>
                <a:latin typeface="IBM Plex Sans Thai" pitchFamily="34" charset="0"/>
                <a:ea typeface="IBM Plex Sans Thai" pitchFamily="34" charset="-122"/>
                <a:cs typeface="IBM Plex Sans Thai" pitchFamily="34" charset="-120"/>
              </a:rPr>
              <a:t>300 ฿</a:t>
            </a:r>
            <a:endParaRPr lang="en-US" sz="1300" dirty="0"/>
          </a:p>
          <a:p>
            <a:pPr algn="l" indent="0" marL="0">
              <a:lnSpc>
                <a:spcPts val="1950"/>
              </a:lnSpc>
              <a:buNone/>
            </a:pPr>
            <a:r>
              <a:rPr lang="en-US" sz="1300" dirty="0">
                <a:solidFill>
                  <a:srgbClr val="14213D"/>
                </a:solidFill>
                <a:latin typeface="IBM Plex Sans Thai" pitchFamily="34" charset="0"/>
                <a:ea typeface="IBM Plex Sans Thai" pitchFamily="34" charset="-122"/>
                <a:cs typeface="IBM Plex Sans Thai" pitchFamily="34" charset="-120"/>
              </a:rPr>
              <a:t>CLV = 325 × 6 ครั้ง = </a:t>
            </a:r>
            <a:r>
              <a:rPr lang="en-US" sz="1300" b="1" dirty="0">
                <a:solidFill>
                  <a:srgbClr val="14213D"/>
                </a:solidFill>
                <a:latin typeface="IBM Plex Sans Thai" pitchFamily="34" charset="0"/>
                <a:ea typeface="IBM Plex Sans Thai" pitchFamily="34" charset="-122"/>
                <a:cs typeface="IBM Plex Sans Thai" pitchFamily="34" charset="-120"/>
              </a:rPr>
              <a:t>1,950 ฿</a:t>
            </a:r>
            <a:endParaRPr lang="en-US" sz="1300" dirty="0"/>
          </a:p>
        </p:txBody>
      </p:sp>
      <p:sp>
        <p:nvSpPr>
          <p:cNvPr id="7" name="Text 5"/>
          <p:cNvSpPr/>
          <p:nvPr/>
        </p:nvSpPr>
        <p:spPr>
          <a:xfrm>
            <a:off x="1028700" y="2889188"/>
            <a:ext cx="310019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4A5568"/>
                </a:solidFill>
                <a:latin typeface="Prompt" pitchFamily="34" charset="0"/>
                <a:ea typeface="Prompt" pitchFamily="34" charset="-122"/>
                <a:cs typeface="Prompt" pitchFamily="34" charset="-120"/>
              </a:rPr>
              <a:t>6.5×</a:t>
            </a:r>
            <a:endParaRPr lang="en-US" sz="4800" dirty="0"/>
          </a:p>
        </p:txBody>
      </p:sp>
      <p:sp>
        <p:nvSpPr>
          <p:cNvPr id="8" name="Shape 6"/>
          <p:cNvSpPr/>
          <p:nvPr/>
        </p:nvSpPr>
        <p:spPr>
          <a:xfrm>
            <a:off x="4457700" y="1819870"/>
            <a:ext cx="3416300" cy="1955734"/>
          </a:xfrm>
          <a:prstGeom prst="roundRect">
            <a:avLst>
              <a:gd name="adj" fmla="val 5844"/>
            </a:avLst>
          </a:prstGeom>
          <a:solidFill>
            <a:srgbClr val="1F7A45"/>
          </a:solidFill>
          <a:ln/>
        </p:spPr>
      </p:sp>
      <p:sp>
        <p:nvSpPr>
          <p:cNvPr id="9" name="Text 7"/>
          <p:cNvSpPr/>
          <p:nvPr/>
        </p:nvSpPr>
        <p:spPr>
          <a:xfrm>
            <a:off x="4660900" y="2023070"/>
            <a:ext cx="310019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FEBD9"/>
                </a:solidFill>
                <a:latin typeface="IBM Plex Sans Thai" pitchFamily="34" charset="0"/>
                <a:ea typeface="IBM Plex Sans Thai" pitchFamily="34" charset="-122"/>
                <a:cs typeface="IBM Plex Sans Thai" pitchFamily="34" charset="-120"/>
              </a:rPr>
              <a:t>หลัง (Agentic AI)</a:t>
            </a:r>
            <a:endParaRPr lang="en-US" sz="1300" dirty="0"/>
          </a:p>
        </p:txBody>
      </p:sp>
      <p:sp>
        <p:nvSpPr>
          <p:cNvPr id="10" name="Text 8"/>
          <p:cNvSpPr/>
          <p:nvPr/>
        </p:nvSpPr>
        <p:spPr>
          <a:xfrm>
            <a:off x="4660900" y="2317688"/>
            <a:ext cx="310019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7F8F4"/>
                </a:solidFill>
                <a:latin typeface="IBM Plex Sans Thai" pitchFamily="34" charset="0"/>
                <a:ea typeface="IBM Plex Sans Thai" pitchFamily="34" charset="-122"/>
                <a:cs typeface="IBM Plex Sans Thai" pitchFamily="34" charset="-120"/>
              </a:rPr>
              <a:t>CAC = 15 ÷ 8% = </a:t>
            </a:r>
            <a:r>
              <a:rPr lang="en-US" sz="1300" b="1" dirty="0">
                <a:solidFill>
                  <a:srgbClr val="F7F8F4"/>
                </a:solidFill>
                <a:latin typeface="IBM Plex Sans Thai" pitchFamily="34" charset="0"/>
                <a:ea typeface="IBM Plex Sans Thai" pitchFamily="34" charset="-122"/>
                <a:cs typeface="IBM Plex Sans Thai" pitchFamily="34" charset="-120"/>
              </a:rPr>
              <a:t>187.5 ฿</a:t>
            </a:r>
            <a:endParaRPr lang="en-US" sz="1300" dirty="0"/>
          </a:p>
          <a:p>
            <a:pPr algn="l" indent="0" marL="0">
              <a:lnSpc>
                <a:spcPts val="1950"/>
              </a:lnSpc>
              <a:buNone/>
            </a:pPr>
            <a:r>
              <a:rPr lang="en-US" sz="1300" dirty="0">
                <a:solidFill>
                  <a:srgbClr val="F7F8F4"/>
                </a:solidFill>
                <a:latin typeface="IBM Plex Sans Thai" pitchFamily="34" charset="0"/>
                <a:ea typeface="IBM Plex Sans Thai" pitchFamily="34" charset="-122"/>
                <a:cs typeface="IBM Plex Sans Thai" pitchFamily="34" charset="-120"/>
              </a:rPr>
              <a:t>CLV = 325 × 8 ครั้ง = </a:t>
            </a:r>
            <a:r>
              <a:rPr lang="en-US" sz="1300" b="1" dirty="0">
                <a:solidFill>
                  <a:srgbClr val="F7F8F4"/>
                </a:solidFill>
                <a:latin typeface="IBM Plex Sans Thai" pitchFamily="34" charset="0"/>
                <a:ea typeface="IBM Plex Sans Thai" pitchFamily="34" charset="-122"/>
                <a:cs typeface="IBM Plex Sans Thai" pitchFamily="34" charset="-120"/>
              </a:rPr>
              <a:t>2,600 ฿</a:t>
            </a:r>
            <a:endParaRPr lang="en-US" sz="1300" dirty="0"/>
          </a:p>
        </p:txBody>
      </p:sp>
      <p:sp>
        <p:nvSpPr>
          <p:cNvPr id="11" name="Text 9"/>
          <p:cNvSpPr/>
          <p:nvPr/>
        </p:nvSpPr>
        <p:spPr>
          <a:xfrm>
            <a:off x="4660900" y="2876488"/>
            <a:ext cx="3100197"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7F8F4"/>
                </a:solidFill>
                <a:latin typeface="Prompt" pitchFamily="34" charset="0"/>
                <a:ea typeface="Prompt" pitchFamily="34" charset="-122"/>
                <a:cs typeface="Prompt" pitchFamily="34" charset="-120"/>
              </a:rPr>
              <a:t>13.9×</a:t>
            </a:r>
            <a:endParaRPr lang="en-US" sz="4800" dirty="0"/>
          </a:p>
        </p:txBody>
      </p:sp>
      <p:sp>
        <p:nvSpPr>
          <p:cNvPr id="12" name="Text 10"/>
          <p:cNvSpPr/>
          <p:nvPr/>
        </p:nvSpPr>
        <p:spPr>
          <a:xfrm>
            <a:off x="8077200" y="2030685"/>
            <a:ext cx="3302000" cy="716227"/>
          </a:xfrm>
          <a:prstGeom prst="roundRect">
            <a:avLst>
              <a:gd name="adj" fmla="val 12412"/>
            </a:avLst>
          </a:prstGeom>
          <a:solidFill>
            <a:srgbClr val="E3EAE1"/>
          </a:solidFill>
          <a:ln/>
        </p:spPr>
        <p:txBody>
          <a:bodyPr wrap="square" lIns="126362" tIns="100962" rIns="36446" bIns="75562"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ลงทุน 600,000 ฿</a:t>
            </a:r>
            <a:endParaRPr lang="en-US" sz="1300" dirty="0"/>
          </a:p>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Payback ≈ 8.5 เดือน</a:t>
            </a:r>
            <a:endParaRPr lang="en-US" sz="1300" dirty="0"/>
          </a:p>
        </p:txBody>
      </p:sp>
      <p:sp>
        <p:nvSpPr>
          <p:cNvPr id="13" name="Text 11"/>
          <p:cNvSpPr/>
          <p:nvPr/>
        </p:nvSpPr>
        <p:spPr>
          <a:xfrm>
            <a:off x="8077200" y="2848508"/>
            <a:ext cx="3302000" cy="716227"/>
          </a:xfrm>
          <a:prstGeom prst="roundRect">
            <a:avLst>
              <a:gd name="adj" fmla="val 12412"/>
            </a:avLst>
          </a:prstGeom>
          <a:solidFill>
            <a:srgbClr val="E3EAE1"/>
          </a:solidFill>
          <a:ln/>
        </p:spPr>
        <p:txBody>
          <a:bodyPr wrap="square" lIns="126362" tIns="100962" rIns="36446" bIns="75562" rtlCol="0" anchor="t">
            <a:normAutofit/>
          </a:bodyPr>
          <a:lstStyle/>
          <a:p>
            <a:pPr algn="l" indent="0" marL="0">
              <a:lnSpc>
                <a:spcPts val="1820"/>
              </a:lnSpc>
              <a:buNone/>
            </a:pPr>
            <a:r>
              <a:rPr lang="en-US" sz="1300" dirty="0">
                <a:solidFill>
                  <a:srgbClr val="14213D"/>
                </a:solidFill>
                <a:latin typeface="IBM Plex Sans Thai" pitchFamily="34" charset="0"/>
                <a:ea typeface="IBM Plex Sans Thai" pitchFamily="34" charset="-122"/>
                <a:cs typeface="IBM Plex Sans Thai" pitchFamily="34" charset="-120"/>
              </a:rPr>
              <a:t>กระแสเงินสด 71,000 ฿/เดือน</a:t>
            </a:r>
            <a:endParaRPr lang="en-US" sz="1300" dirty="0"/>
          </a:p>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NPV 3 ปี ≈ 1.67 ล้าน ฿</a:t>
            </a:r>
            <a:endParaRPr lang="en-US" sz="1300" dirty="0"/>
          </a:p>
        </p:txBody>
      </p:sp>
      <p:sp>
        <p:nvSpPr>
          <p:cNvPr id="14" name="Text 12"/>
          <p:cNvSpPr/>
          <p:nvPr/>
        </p:nvSpPr>
        <p:spPr>
          <a:xfrm>
            <a:off x="812800" y="395340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Thai" pitchFamily="34" charset="0"/>
                <a:ea typeface="IBM Plex Sans Thai" pitchFamily="34" charset="-122"/>
                <a:cs typeface="IBM Plex Sans Thai" pitchFamily="34" charset="-120"/>
              </a:rPr>
              <a:t>KPI dashboard:</a:t>
            </a:r>
            <a:r>
              <a:rPr lang="en-US" sz="1200" dirty="0">
                <a:solidFill>
                  <a:srgbClr val="4A5568"/>
                </a:solidFill>
                <a:latin typeface="IBM Plex Sans Thai" pitchFamily="34" charset="0"/>
                <a:ea typeface="IBM Plex Sans Thai" pitchFamily="34" charset="-122"/>
                <a:cs typeface="IBM Plex Sans Thai" pitchFamily="34" charset="-120"/>
              </a:rPr>
              <a:t> response time · containment · conversion · AOV · repeat rate · CSAT · block rate · hallucination rate</a:t>
            </a:r>
            <a:endParaRPr lang="en-US" sz="1200" dirty="0"/>
          </a:p>
        </p:txBody>
      </p:sp>
      <p:sp>
        <p:nvSpPr>
          <p:cNvPr id="15" name="Text 1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ตัวเลขสมมติ: AOV 650 ฿ × margin 50% = 325 ฿ · ค่าโฆษณา 15 ฿ ต่อเพื่อนใหม่</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16 / 18</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7A45"/>
                </a:solidFill>
                <a:latin typeface="IBM Plex Sans Thai" pitchFamily="34" charset="0"/>
                <a:ea typeface="IBM Plex Sans Thai" pitchFamily="34" charset="-122"/>
                <a:cs typeface="IBM Plex Sans Thai" pitchFamily="34" charset="-120"/>
              </a:rPr>
              <a:t>ความเสี่ยงและธรรมาภิบาล · L06 P.12</a:t>
            </a:r>
            <a:endParaRPr lang="en-US" sz="1200" dirty="0"/>
          </a:p>
        </p:txBody>
      </p:sp>
      <p:sp>
        <p:nvSpPr>
          <p:cNvPr id="3" name="Text 1"/>
          <p:cNvSpPr/>
          <p:nvPr>
            <p:ph type="title"/>
          </p:nvPr>
        </p:nvSpPr>
        <p:spPr>
          <a:xfrm>
            <a:off x="812800" y="12039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4213D"/>
                </a:solidFill>
                <a:latin typeface="Prompt" pitchFamily="34" charset="0"/>
                <a:ea typeface="Prompt" pitchFamily="34" charset="-122"/>
                <a:cs typeface="Prompt" pitchFamily="34" charset="-120"/>
              </a:rPr>
              <a:t>4 ความเสี่ยงหลัก และวิธีลดความเสี่ยง</a:t>
            </a:r>
            <a:endParaRPr lang="en-US" sz="3000" dirty="0"/>
          </a:p>
        </p:txBody>
      </p:sp>
      <p:sp>
        <p:nvSpPr>
          <p:cNvPr id="4" name="Shape 2"/>
          <p:cNvSpPr/>
          <p:nvPr/>
        </p:nvSpPr>
        <p:spPr>
          <a:xfrm>
            <a:off x="819150" y="1826220"/>
            <a:ext cx="5219700" cy="1018447"/>
          </a:xfrm>
          <a:prstGeom prst="roundRect">
            <a:avLst>
              <a:gd name="adj" fmla="val 8105"/>
            </a:avLst>
          </a:prstGeom>
          <a:solidFill>
            <a:srgbClr val="FDFDFB"/>
          </a:solidFill>
          <a:ln w="12700">
            <a:solidFill>
              <a:srgbClr val="DDE3DA"/>
            </a:solidFill>
            <a:prstDash val="solid"/>
          </a:ln>
        </p:spPr>
      </p:sp>
      <p:sp>
        <p:nvSpPr>
          <p:cNvPr id="5" name="Text 3"/>
          <p:cNvSpPr/>
          <p:nvPr/>
        </p:nvSpPr>
        <p:spPr>
          <a:xfrm>
            <a:off x="1003300" y="1972270"/>
            <a:ext cx="499694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AI hallucination (สูง)</a:t>
            </a:r>
            <a:endParaRPr lang="en-US" sz="1400" dirty="0"/>
          </a:p>
        </p:txBody>
      </p:sp>
      <p:sp>
        <p:nvSpPr>
          <p:cNvPr id="6" name="Text 4"/>
          <p:cNvSpPr/>
          <p:nvPr/>
        </p:nvSpPr>
        <p:spPr>
          <a:xfrm>
            <a:off x="1003300" y="2271985"/>
            <a:ext cx="49969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ตอบจาก knowledge base (RAG) · ราคา/สต็อกดึงจากระบบจริง · confidence ต่ำให้ส่งต่อคน</a:t>
            </a:r>
            <a:endParaRPr lang="en-US" sz="1200" dirty="0"/>
          </a:p>
        </p:txBody>
      </p:sp>
      <p:sp>
        <p:nvSpPr>
          <p:cNvPr id="7" name="Shape 5"/>
          <p:cNvSpPr/>
          <p:nvPr/>
        </p:nvSpPr>
        <p:spPr>
          <a:xfrm>
            <a:off x="6153150" y="1826220"/>
            <a:ext cx="5219700" cy="1018447"/>
          </a:xfrm>
          <a:prstGeom prst="roundRect">
            <a:avLst>
              <a:gd name="adj" fmla="val 8105"/>
            </a:avLst>
          </a:prstGeom>
          <a:solidFill>
            <a:srgbClr val="FDFDFB"/>
          </a:solidFill>
          <a:ln w="12700">
            <a:solidFill>
              <a:srgbClr val="DDE3DA"/>
            </a:solidFill>
            <a:prstDash val="solid"/>
          </a:ln>
        </p:spPr>
      </p:sp>
      <p:sp>
        <p:nvSpPr>
          <p:cNvPr id="8" name="Text 6"/>
          <p:cNvSpPr/>
          <p:nvPr/>
        </p:nvSpPr>
        <p:spPr>
          <a:xfrm>
            <a:off x="6337300" y="1972270"/>
            <a:ext cx="499694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PDPA (สูง)</a:t>
            </a:r>
            <a:endParaRPr lang="en-US" sz="1400" dirty="0"/>
          </a:p>
        </p:txBody>
      </p:sp>
      <p:sp>
        <p:nvSpPr>
          <p:cNvPr id="9" name="Text 7"/>
          <p:cNvSpPr/>
          <p:nvPr/>
        </p:nvSpPr>
        <p:spPr>
          <a:xfrm>
            <a:off x="6337300" y="2271985"/>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consent ชัดเจน · privacy notice ใน Rich Menu · เก็บข้อมูลเท่าที่จำเป็น</a:t>
            </a:r>
            <a:endParaRPr lang="en-US" sz="1200" dirty="0"/>
          </a:p>
        </p:txBody>
      </p:sp>
      <p:sp>
        <p:nvSpPr>
          <p:cNvPr id="10" name="Shape 8"/>
          <p:cNvSpPr/>
          <p:nvPr/>
        </p:nvSpPr>
        <p:spPr>
          <a:xfrm>
            <a:off x="819150" y="2958976"/>
            <a:ext cx="5219700" cy="805127"/>
          </a:xfrm>
          <a:prstGeom prst="roundRect">
            <a:avLst>
              <a:gd name="adj" fmla="val 10253"/>
            </a:avLst>
          </a:prstGeom>
          <a:solidFill>
            <a:srgbClr val="FDFDFB"/>
          </a:solidFill>
          <a:ln w="12700">
            <a:solidFill>
              <a:srgbClr val="DDE3DA"/>
            </a:solidFill>
            <a:prstDash val="solid"/>
          </a:ln>
        </p:spPr>
      </p:sp>
      <p:sp>
        <p:nvSpPr>
          <p:cNvPr id="11" name="Text 9"/>
          <p:cNvSpPr/>
          <p:nvPr/>
        </p:nvSpPr>
        <p:spPr>
          <a:xfrm>
            <a:off x="1003300" y="3105026"/>
            <a:ext cx="499694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ความเชื่อมั่นลูกค้า (กลาง)</a:t>
            </a:r>
            <a:endParaRPr lang="en-US" sz="1400" dirty="0"/>
          </a:p>
        </p:txBody>
      </p:sp>
      <p:sp>
        <p:nvSpPr>
          <p:cNvPr id="12" name="Text 10"/>
          <p:cNvSpPr/>
          <p:nvPr/>
        </p:nvSpPr>
        <p:spPr>
          <a:xfrm>
            <a:off x="1003300" y="3404729"/>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บอกว่าเป็นผู้ช่วย AI · มีปุ่ม "คุยกับพนักงาน" เสมอ</a:t>
            </a:r>
            <a:endParaRPr lang="en-US" sz="1200" dirty="0"/>
          </a:p>
        </p:txBody>
      </p:sp>
      <p:sp>
        <p:nvSpPr>
          <p:cNvPr id="13" name="Shape 11"/>
          <p:cNvSpPr/>
          <p:nvPr/>
        </p:nvSpPr>
        <p:spPr>
          <a:xfrm>
            <a:off x="6153150" y="2958976"/>
            <a:ext cx="5219700" cy="805127"/>
          </a:xfrm>
          <a:prstGeom prst="roundRect">
            <a:avLst>
              <a:gd name="adj" fmla="val 10253"/>
            </a:avLst>
          </a:prstGeom>
          <a:solidFill>
            <a:srgbClr val="FDFDFB"/>
          </a:solidFill>
          <a:ln w="12700">
            <a:solidFill>
              <a:srgbClr val="DDE3DA"/>
            </a:solidFill>
            <a:prstDash val="solid"/>
          </a:ln>
        </p:spPr>
      </p:sp>
      <p:sp>
        <p:nvSpPr>
          <p:cNvPr id="14" name="Text 12"/>
          <p:cNvSpPr/>
          <p:nvPr/>
        </p:nvSpPr>
        <p:spPr>
          <a:xfrm>
            <a:off x="6337300" y="3105026"/>
            <a:ext cx="499694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Thai" pitchFamily="34" charset="0"/>
                <a:ea typeface="IBM Plex Sans Thai" pitchFamily="34" charset="-122"/>
                <a:cs typeface="IBM Plex Sans Thai" pitchFamily="34" charset="-120"/>
              </a:rPr>
              <a:t>ส่งข้อความถี่จนถูก block (กลาง)</a:t>
            </a:r>
            <a:endParaRPr lang="en-US" sz="1400" dirty="0"/>
          </a:p>
        </p:txBody>
      </p:sp>
      <p:sp>
        <p:nvSpPr>
          <p:cNvPr id="15" name="Text 13"/>
          <p:cNvSpPr/>
          <p:nvPr/>
        </p:nvSpPr>
        <p:spPr>
          <a:xfrm>
            <a:off x="6337300" y="3404729"/>
            <a:ext cx="4996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Thai" pitchFamily="34" charset="0"/>
                <a:ea typeface="IBM Plex Sans Thai" pitchFamily="34" charset="-122"/>
                <a:cs typeface="IBM Plex Sans Thai" pitchFamily="34" charset="-120"/>
              </a:rPr>
              <a:t>narrowcast ตาม segment · จำกัดความถี่ · วัด block rate</a:t>
            </a:r>
            <a:endParaRPr lang="en-US" sz="1200" dirty="0"/>
          </a:p>
        </p:txBody>
      </p:sp>
      <p:sp>
        <p:nvSpPr>
          <p:cNvPr id="16" name="Text 14"/>
          <p:cNvSpPr/>
          <p:nvPr/>
        </p:nvSpPr>
        <p:spPr>
          <a:xfrm>
            <a:off x="812800" y="3948249"/>
            <a:ext cx="10566400" cy="485114"/>
          </a:xfrm>
          <a:prstGeom prst="roundRect">
            <a:avLst>
              <a:gd name="adj" fmla="val 18326"/>
            </a:avLst>
          </a:prstGeom>
          <a:solidFill>
            <a:srgbClr val="E3EAE1"/>
          </a:solidFill>
          <a:ln/>
        </p:spPr>
        <p:txBody>
          <a:bodyPr wrap="square" lIns="151762" tIns="100962" rIns="0" bIns="75562" rtlCol="0" anchor="t">
            <a:normAutofit/>
          </a:bodyPr>
          <a:lstStyle/>
          <a:p>
            <a:pPr algn="l" indent="0" marL="0">
              <a:lnSpc>
                <a:spcPts val="1820"/>
              </a:lnSpc>
              <a:buNone/>
            </a:pPr>
            <a:r>
              <a:rPr lang="en-US" sz="1300" b="1" dirty="0">
                <a:solidFill>
                  <a:srgbClr val="14213D"/>
                </a:solidFill>
                <a:latin typeface="IBM Plex Sans Thai" pitchFamily="34" charset="0"/>
                <a:ea typeface="IBM Plex Sans Thai" pitchFamily="34" charset="-122"/>
                <a:cs typeface="IBM Plex Sans Thai" pitchFamily="34" charset="-120"/>
              </a:rPr>
              <a:t>Challenges (L06):</a:t>
            </a:r>
            <a:r>
              <a:rPr lang="en-US" sz="1300" dirty="0">
                <a:solidFill>
                  <a:srgbClr val="14213D"/>
                </a:solidFill>
                <a:latin typeface="IBM Plex Sans Thai" pitchFamily="34" charset="0"/>
                <a:ea typeface="IBM Plex Sans Thai" pitchFamily="34" charset="-122"/>
                <a:cs typeface="IBM Plex Sans Thai" pitchFamily="34" charset="-120"/>
              </a:rPr>
              <a:t> แอดมินกลัวถูกแทนที่ → สื่อสารว่าเป็นการ "ยกระดับงาน" และ reskill · incentive ไม่ตรงกัน → ใช้ shared KPI</a:t>
            </a:r>
            <a:endParaRPr lang="en-US" sz="13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Thai" pitchFamily="34" charset="0"/>
                <a:ea typeface="IBM Plex Sans Thai" pitchFamily="34" charset="-122"/>
                <a:cs typeface="IBM Plex Sans Thai" pitchFamily="34" charset="-120"/>
              </a:rPr>
              <a:t>17 / 18</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2FA866"/>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3A1"/>
                </a:solidFill>
                <a:latin typeface="IBM Plex Sans Thai" pitchFamily="34" charset="0"/>
                <a:ea typeface="IBM Plex Sans Thai" pitchFamily="34" charset="-122"/>
                <a:cs typeface="IBM Plex Sans Thai" pitchFamily="34" charset="-120"/>
              </a:rPr>
              <a:t>บทสรุปและข้อเสนอแนะ</a:t>
            </a:r>
            <a:endParaRPr lang="en-US" sz="1200" dirty="0"/>
          </a:p>
        </p:txBody>
      </p:sp>
      <p:sp>
        <p:nvSpPr>
          <p:cNvPr id="4" name="Text 2"/>
          <p:cNvSpPr/>
          <p:nvPr>
            <p:ph type="title"/>
          </p:nvPr>
        </p:nvSpPr>
        <p:spPr>
          <a:xfrm>
            <a:off x="812800" y="1229320"/>
            <a:ext cx="10883392" cy="1000654"/>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F7F8F4"/>
                </a:solidFill>
                <a:latin typeface="Prompt" pitchFamily="34" charset="0"/>
                <a:ea typeface="Prompt" pitchFamily="34" charset="-122"/>
                <a:cs typeface="Prompt" pitchFamily="34" charset="-120"/>
              </a:rPr>
              <a:t>Agentic AI บน LINE OA เปลี่ยน STP และ 4Ps เป็น "segment of one" ในทุกแชต</a:t>
            </a:r>
            <a:endParaRPr lang="en-US" sz="3200" dirty="0"/>
          </a:p>
        </p:txBody>
      </p:sp>
      <p:sp>
        <p:nvSpPr>
          <p:cNvPr id="5" name="Shape 3"/>
          <p:cNvSpPr/>
          <p:nvPr/>
        </p:nvSpPr>
        <p:spPr>
          <a:xfrm>
            <a:off x="812800" y="2417304"/>
            <a:ext cx="5283200" cy="0"/>
          </a:xfrm>
          <a:prstGeom prst="line">
            <a:avLst/>
          </a:prstGeom>
          <a:noFill/>
          <a:ln w="19050">
            <a:solidFill>
              <a:srgbClr val="2FA866"/>
            </a:solidFill>
            <a:prstDash val="solid"/>
          </a:ln>
        </p:spPr>
      </p:sp>
      <p:sp>
        <p:nvSpPr>
          <p:cNvPr id="6" name="Text 4"/>
          <p:cNvSpPr/>
          <p:nvPr/>
        </p:nvSpPr>
        <p:spPr>
          <a:xfrm>
            <a:off x="812800" y="2526312"/>
            <a:ext cx="54416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D3A1"/>
                </a:solidFill>
                <a:latin typeface="IBM Plex Sans Thai" pitchFamily="34" charset="0"/>
                <a:ea typeface="IBM Plex Sans Thai" pitchFamily="34" charset="-122"/>
                <a:cs typeface="IBM Plex Sans Thai" pitchFamily="34" charset="-120"/>
              </a:rPr>
              <a:t>1</a:t>
            </a:r>
            <a:r>
              <a:rPr lang="en-US" sz="1400" dirty="0">
                <a:solidFill>
                  <a:srgbClr val="F7F8F4"/>
                </a:solidFill>
                <a:latin typeface="IBM Plex Sans Thai" pitchFamily="34" charset="0"/>
                <a:ea typeface="IBM Plex Sans Thai" pitchFamily="34" charset="-122"/>
                <a:cs typeface="IBM Plex Sans Thai" pitchFamily="34" charset="-120"/>
              </a:rPr>
              <a:t> เริ่มที่ Market Penetration กับเพื่อน LINE OA เดิม</a:t>
            </a:r>
            <a:endParaRPr lang="en-US" sz="1400" dirty="0"/>
          </a:p>
        </p:txBody>
      </p:sp>
      <p:sp>
        <p:nvSpPr>
          <p:cNvPr id="7" name="Shape 5"/>
          <p:cNvSpPr/>
          <p:nvPr/>
        </p:nvSpPr>
        <p:spPr>
          <a:xfrm>
            <a:off x="6096000" y="2417304"/>
            <a:ext cx="5283200" cy="0"/>
          </a:xfrm>
          <a:prstGeom prst="line">
            <a:avLst/>
          </a:prstGeom>
          <a:noFill/>
          <a:ln w="19050">
            <a:solidFill>
              <a:srgbClr val="2FA866"/>
            </a:solidFill>
            <a:prstDash val="solid"/>
          </a:ln>
        </p:spPr>
      </p:sp>
      <p:sp>
        <p:nvSpPr>
          <p:cNvPr id="8" name="Text 6"/>
          <p:cNvSpPr/>
          <p:nvPr/>
        </p:nvSpPr>
        <p:spPr>
          <a:xfrm>
            <a:off x="6096000" y="2526312"/>
            <a:ext cx="54416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D3A1"/>
                </a:solidFill>
                <a:latin typeface="IBM Plex Sans Thai" pitchFamily="34" charset="0"/>
                <a:ea typeface="IBM Plex Sans Thai" pitchFamily="34" charset="-122"/>
                <a:cs typeface="IBM Plex Sans Thai" pitchFamily="34" charset="-120"/>
              </a:rPr>
              <a:t>2</a:t>
            </a:r>
            <a:r>
              <a:rPr lang="en-US" sz="1400" dirty="0">
                <a:solidFill>
                  <a:srgbClr val="F7F8F4"/>
                </a:solidFill>
                <a:latin typeface="IBM Plex Sans Thai" pitchFamily="34" charset="0"/>
                <a:ea typeface="IBM Plex Sans Thai" pitchFamily="34" charset="-122"/>
                <a:cs typeface="IBM Plex Sans Thai" pitchFamily="34" charset="-120"/>
              </a:rPr>
              <a:t> ลงทุน data readiness ก่อนเทคโนโลยี: "Data is important"</a:t>
            </a:r>
            <a:endParaRPr lang="en-US" sz="1400" dirty="0"/>
          </a:p>
        </p:txBody>
      </p:sp>
      <p:sp>
        <p:nvSpPr>
          <p:cNvPr id="9" name="Shape 7"/>
          <p:cNvSpPr/>
          <p:nvPr/>
        </p:nvSpPr>
        <p:spPr>
          <a:xfrm>
            <a:off x="812800" y="2784748"/>
            <a:ext cx="5283200" cy="0"/>
          </a:xfrm>
          <a:prstGeom prst="line">
            <a:avLst/>
          </a:prstGeom>
          <a:noFill/>
          <a:ln w="19050">
            <a:solidFill>
              <a:srgbClr val="2FA866"/>
            </a:solidFill>
            <a:prstDash val="solid"/>
          </a:ln>
        </p:spPr>
      </p:sp>
      <p:sp>
        <p:nvSpPr>
          <p:cNvPr id="10" name="Text 8"/>
          <p:cNvSpPr/>
          <p:nvPr/>
        </p:nvSpPr>
        <p:spPr>
          <a:xfrm>
            <a:off x="812800" y="2893756"/>
            <a:ext cx="54416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D3A1"/>
                </a:solidFill>
                <a:latin typeface="IBM Plex Sans Thai" pitchFamily="34" charset="0"/>
                <a:ea typeface="IBM Plex Sans Thai" pitchFamily="34" charset="-122"/>
                <a:cs typeface="IBM Plex Sans Thai" pitchFamily="34" charset="-120"/>
              </a:rPr>
              <a:t>3</a:t>
            </a:r>
            <a:r>
              <a:rPr lang="en-US" sz="1400" dirty="0">
                <a:solidFill>
                  <a:srgbClr val="F7F8F4"/>
                </a:solidFill>
                <a:latin typeface="IBM Plex Sans Thai" pitchFamily="34" charset="0"/>
                <a:ea typeface="IBM Plex Sans Thai" pitchFamily="34" charset="-122"/>
                <a:cs typeface="IBM Plex Sans Thai" pitchFamily="34" charset="-120"/>
              </a:rPr>
              <a:t> Human-in-the-loop ตั้งแต่วันแรก</a:t>
            </a:r>
            <a:endParaRPr lang="en-US" sz="1400" dirty="0"/>
          </a:p>
        </p:txBody>
      </p:sp>
      <p:sp>
        <p:nvSpPr>
          <p:cNvPr id="11" name="Shape 9"/>
          <p:cNvSpPr/>
          <p:nvPr/>
        </p:nvSpPr>
        <p:spPr>
          <a:xfrm>
            <a:off x="6096000" y="2784748"/>
            <a:ext cx="5283200" cy="0"/>
          </a:xfrm>
          <a:prstGeom prst="line">
            <a:avLst/>
          </a:prstGeom>
          <a:noFill/>
          <a:ln w="19050">
            <a:solidFill>
              <a:srgbClr val="2FA866"/>
            </a:solidFill>
            <a:prstDash val="solid"/>
          </a:ln>
        </p:spPr>
      </p:sp>
      <p:sp>
        <p:nvSpPr>
          <p:cNvPr id="12" name="Text 10"/>
          <p:cNvSpPr/>
          <p:nvPr/>
        </p:nvSpPr>
        <p:spPr>
          <a:xfrm>
            <a:off x="6096000" y="2893756"/>
            <a:ext cx="54416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D3A1"/>
                </a:solidFill>
                <a:latin typeface="IBM Plex Sans Thai" pitchFamily="34" charset="0"/>
                <a:ea typeface="IBM Plex Sans Thai" pitchFamily="34" charset="-122"/>
                <a:cs typeface="IBM Plex Sans Thai" pitchFamily="34" charset="-120"/>
              </a:rPr>
              <a:t>4</a:t>
            </a:r>
            <a:r>
              <a:rPr lang="en-US" sz="1400" dirty="0">
                <a:solidFill>
                  <a:srgbClr val="F7F8F4"/>
                </a:solidFill>
                <a:latin typeface="IBM Plex Sans Thai" pitchFamily="34" charset="0"/>
                <a:ea typeface="IBM Plex Sans Thai" pitchFamily="34" charset="-122"/>
                <a:cs typeface="IBM Plex Sans Thai" pitchFamily="34" charset="-120"/>
              </a:rPr>
              <a:t> วัดด้วย unit economics: CLV/CAC ≥ 3</a:t>
            </a:r>
            <a:endParaRPr lang="en-US" sz="1400" dirty="0"/>
          </a:p>
        </p:txBody>
      </p:sp>
      <p:sp>
        <p:nvSpPr>
          <p:cNvPr id="13" name="Shape 11"/>
          <p:cNvSpPr/>
          <p:nvPr/>
        </p:nvSpPr>
        <p:spPr>
          <a:xfrm>
            <a:off x="812800" y="3152180"/>
            <a:ext cx="5283200" cy="0"/>
          </a:xfrm>
          <a:prstGeom prst="line">
            <a:avLst/>
          </a:prstGeom>
          <a:noFill/>
          <a:ln w="19050">
            <a:solidFill>
              <a:srgbClr val="2FA866"/>
            </a:solidFill>
            <a:prstDash val="solid"/>
          </a:ln>
        </p:spPr>
      </p:sp>
      <p:sp>
        <p:nvSpPr>
          <p:cNvPr id="14" name="Text 12"/>
          <p:cNvSpPr/>
          <p:nvPr/>
        </p:nvSpPr>
        <p:spPr>
          <a:xfrm>
            <a:off x="812800" y="3261188"/>
            <a:ext cx="54416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D3A1"/>
                </a:solidFill>
                <a:latin typeface="IBM Plex Sans Thai" pitchFamily="34" charset="0"/>
                <a:ea typeface="IBM Plex Sans Thai" pitchFamily="34" charset="-122"/>
                <a:cs typeface="IBM Plex Sans Thai" pitchFamily="34" charset="-120"/>
              </a:rPr>
              <a:t>5</a:t>
            </a:r>
            <a:r>
              <a:rPr lang="en-US" sz="1400" dirty="0">
                <a:solidFill>
                  <a:srgbClr val="F7F8F4"/>
                </a:solidFill>
                <a:latin typeface="IBM Plex Sans Thai" pitchFamily="34" charset="0"/>
                <a:ea typeface="IBM Plex Sans Thai" pitchFamily="34" charset="-122"/>
                <a:cs typeface="IBM Plex Sans Thai" pitchFamily="34" charset="-120"/>
              </a:rPr>
              <a:t> ใช้ PDPA และความโปร่งใสสร้าง trust</a:t>
            </a:r>
            <a:endParaRPr lang="en-US" sz="1400" dirty="0"/>
          </a:p>
        </p:txBody>
      </p:sp>
      <p:sp>
        <p:nvSpPr>
          <p:cNvPr id="15" name="Shape 13"/>
          <p:cNvSpPr/>
          <p:nvPr/>
        </p:nvSpPr>
        <p:spPr>
          <a:xfrm>
            <a:off x="6096000" y="3152180"/>
            <a:ext cx="5283200" cy="0"/>
          </a:xfrm>
          <a:prstGeom prst="line">
            <a:avLst/>
          </a:prstGeom>
          <a:noFill/>
          <a:ln w="19050">
            <a:solidFill>
              <a:srgbClr val="2FA866"/>
            </a:solidFill>
            <a:prstDash val="solid"/>
          </a:ln>
        </p:spPr>
      </p:sp>
      <p:sp>
        <p:nvSpPr>
          <p:cNvPr id="16" name="Text 14"/>
          <p:cNvSpPr/>
          <p:nvPr/>
        </p:nvSpPr>
        <p:spPr>
          <a:xfrm>
            <a:off x="6096000" y="3261188"/>
            <a:ext cx="54416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FD3A1"/>
                </a:solidFill>
                <a:latin typeface="IBM Plex Sans Thai" pitchFamily="34" charset="0"/>
                <a:ea typeface="IBM Plex Sans Thai" pitchFamily="34" charset="-122"/>
                <a:cs typeface="IBM Plex Sans Thai" pitchFamily="34" charset="-120"/>
              </a:rPr>
              <a:t>6</a:t>
            </a:r>
            <a:r>
              <a:rPr lang="en-US" sz="1400" dirty="0">
                <a:solidFill>
                  <a:srgbClr val="F7F8F4"/>
                </a:solidFill>
                <a:latin typeface="IBM Plex Sans Thai" pitchFamily="34" charset="0"/>
                <a:ea typeface="IBM Plex Sans Thai" pitchFamily="34" charset="-122"/>
                <a:cs typeface="IBM Plex Sans Thai" pitchFamily="34" charset="-120"/>
              </a:rPr>
              <a:t> โน้มน้าวด้วยคุณค่า ไม่ใช่ความกลัว</a:t>
            </a:r>
            <a:endParaRPr lang="en-US" sz="1400" dirty="0"/>
          </a:p>
        </p:txBody>
      </p:sp>
      <p:sp>
        <p:nvSpPr>
          <p:cNvPr id="17" name="Text 15"/>
          <p:cNvSpPr/>
          <p:nvPr/>
        </p:nvSpPr>
        <p:spPr>
          <a:xfrm>
            <a:off x="812800" y="3713299"/>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46D"/>
                </a:solidFill>
                <a:latin typeface="Prompt" pitchFamily="34" charset="0"/>
                <a:ea typeface="Prompt" pitchFamily="34" charset="-122"/>
                <a:cs typeface="Prompt" pitchFamily="34" charset="-120"/>
              </a:rPr>
              <a:t>ขอบคุณครับ/ค่ะ · Q&amp;A</a:t>
            </a:r>
            <a:endParaRPr lang="en-US" sz="22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E9BB3"/>
                </a:solidFill>
                <a:latin typeface="IBM Plex Sans Thai" pitchFamily="34" charset="0"/>
                <a:ea typeface="IBM Plex Sans Thai" pitchFamily="34" charset="-122"/>
                <a:cs typeface="IBM Plex Sans Thai" pitchFamily="34" charset="-120"/>
              </a:rPr>
              <a:t>BIS609 · Agentic AI Chatbot on LINE OA</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E9BB3"/>
                </a:solidFill>
                <a:latin typeface="IBM Plex Sans Thai" pitchFamily="34" charset="0"/>
                <a:ea typeface="IBM Plex Sans Thai" pitchFamily="34" charset="-122"/>
                <a:cs typeface="IBM Plex Sans Thai" pitchFamily="34" charset="-120"/>
              </a:rPr>
              <a:t>18 / 18</a:t>
            </a:r>
            <a:endParaRPr lang="en-US" sz="1200" dirty="0"/>
          </a:p>
        </p:txBody>
      </p:sp>
    </p:spTree>
  </p:cSld>
  <p:clrMapOvr>
    <a:masterClrMapping/>
  </p:clrMapOvr>
</p:sld>
</file>

<file path=ppt/theme/theme1.xml><?xml version="1.0" encoding="utf-8"?>
<a:theme xmlns:a="http://schemas.openxmlformats.org/drawingml/2006/main" name="Agentic AI Chatbot on LINE OA">
  <a:themeElements>
    <a:clrScheme name="Agentic AI Chatbot on LINE OA">
      <a:dk1>
        <a:srgbClr val="14213D"/>
      </a:dk1>
      <a:lt1>
        <a:srgbClr val="F7F8F4"/>
      </a:lt1>
      <a:dk2>
        <a:srgbClr val="4D576B"/>
      </a:dk2>
      <a:lt2>
        <a:srgbClr val="E0E3E2"/>
      </a:lt2>
      <a:accent1>
        <a:srgbClr val="1F7A45"/>
      </a:accent1>
      <a:accent2>
        <a:srgbClr val="2B3A5C"/>
      </a:accent2>
      <a:accent3>
        <a:srgbClr val="7FD3A1"/>
      </a:accent3>
      <a:accent4>
        <a:srgbClr val="33415C"/>
      </a:accent4>
      <a:accent5>
        <a:srgbClr val="8A5410"/>
      </a:accent5>
      <a:accent6>
        <a:srgbClr val="2FA866"/>
      </a:accent6>
      <a:hlink>
        <a:srgbClr val="0563C1"/>
      </a:hlink>
      <a:folHlink>
        <a:srgbClr val="954F72"/>
      </a:folHlink>
    </a:clrScheme>
    <a:fontScheme name="Agentic AI Chatbot on LINE OA">
      <a:majorFont>
        <a:latin typeface="Promp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Tha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Chatbot on LINE OA</dc:title>
  <dc:subject/>
  <dc:creator/>
  <cp:lastModifiedBy/>
  <cp:revision>1</cp:revision>
  <dcterms:created xsi:type="dcterms:W3CDTF">2026-10-08T14:21:58Z</dcterms:created>
  <dcterms:modified xsi:type="dcterms:W3CDTF">2026-10-08T14:21:58Z</dcterms:modified>
</cp:coreProperties>
</file>